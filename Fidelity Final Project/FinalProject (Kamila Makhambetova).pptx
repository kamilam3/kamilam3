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notesMasterIdLst>
    <p:notesMasterId r:id="rId60"/>
  </p:notesMasterIdLst>
  <p:sldIdLst>
    <p:sldId id="256" r:id="rId2"/>
    <p:sldId id="306" r:id="rId3"/>
    <p:sldId id="322" r:id="rId4"/>
    <p:sldId id="324" r:id="rId5"/>
    <p:sldId id="323" r:id="rId6"/>
    <p:sldId id="258" r:id="rId7"/>
    <p:sldId id="326" r:id="rId8"/>
    <p:sldId id="327" r:id="rId9"/>
    <p:sldId id="261" r:id="rId10"/>
    <p:sldId id="328" r:id="rId11"/>
    <p:sldId id="281" r:id="rId12"/>
    <p:sldId id="262" r:id="rId13"/>
    <p:sldId id="268" r:id="rId14"/>
    <p:sldId id="269" r:id="rId15"/>
    <p:sldId id="270" r:id="rId16"/>
    <p:sldId id="271" r:id="rId17"/>
    <p:sldId id="272" r:id="rId18"/>
    <p:sldId id="273" r:id="rId19"/>
    <p:sldId id="263" r:id="rId20"/>
    <p:sldId id="274" r:id="rId21"/>
    <p:sldId id="275" r:id="rId22"/>
    <p:sldId id="309" r:id="rId23"/>
    <p:sldId id="276" r:id="rId24"/>
    <p:sldId id="277" r:id="rId25"/>
    <p:sldId id="278" r:id="rId26"/>
    <p:sldId id="282" r:id="rId27"/>
    <p:sldId id="283" r:id="rId28"/>
    <p:sldId id="287" r:id="rId29"/>
    <p:sldId id="310" r:id="rId30"/>
    <p:sldId id="279" r:id="rId31"/>
    <p:sldId id="285" r:id="rId32"/>
    <p:sldId id="311" r:id="rId33"/>
    <p:sldId id="290" r:id="rId34"/>
    <p:sldId id="296" r:id="rId35"/>
    <p:sldId id="291" r:id="rId36"/>
    <p:sldId id="292" r:id="rId37"/>
    <p:sldId id="293" r:id="rId38"/>
    <p:sldId id="297" r:id="rId39"/>
    <p:sldId id="330" r:id="rId40"/>
    <p:sldId id="299" r:id="rId41"/>
    <p:sldId id="329" r:id="rId42"/>
    <p:sldId id="301" r:id="rId43"/>
    <p:sldId id="302" r:id="rId44"/>
    <p:sldId id="304" r:id="rId45"/>
    <p:sldId id="303" r:id="rId46"/>
    <p:sldId id="335" r:id="rId47"/>
    <p:sldId id="336" r:id="rId48"/>
    <p:sldId id="325" r:id="rId49"/>
    <p:sldId id="334" r:id="rId50"/>
    <p:sldId id="333" r:id="rId51"/>
    <p:sldId id="340" r:id="rId52"/>
    <p:sldId id="341" r:id="rId53"/>
    <p:sldId id="332" r:id="rId54"/>
    <p:sldId id="317" r:id="rId55"/>
    <p:sldId id="318" r:id="rId56"/>
    <p:sldId id="331" r:id="rId57"/>
    <p:sldId id="321" r:id="rId58"/>
    <p:sldId id="305"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60"/>
    <p:restoredTop sz="94648"/>
  </p:normalViewPr>
  <p:slideViewPr>
    <p:cSldViewPr snapToGrid="0">
      <p:cViewPr varScale="1">
        <p:scale>
          <a:sx n="108" d="100"/>
          <a:sy n="108" d="100"/>
        </p:scale>
        <p:origin x="232" y="4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dirty="0"/>
              <a:t>Proportion</a:t>
            </a:r>
            <a:r>
              <a:rPr lang="en-US" sz="1600" b="1" baseline="0" dirty="0"/>
              <a:t> of Risk Level Classes</a:t>
            </a:r>
            <a:endParaRPr lang="en-US" sz="1600" b="1" dirty="0"/>
          </a:p>
        </c:rich>
      </c:tx>
      <c:layout>
        <c:manualLayout>
          <c:xMode val="edge"/>
          <c:yMode val="edge"/>
          <c:x val="0.20983466316526786"/>
          <c:y val="1.8347040324613401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976401752732982"/>
          <c:y val="0.19098554991853467"/>
          <c:w val="0.68312583614828526"/>
          <c:h val="0.67356449184100897"/>
        </c:manualLayout>
      </c:layout>
      <c:pieChart>
        <c:varyColors val="1"/>
        <c:ser>
          <c:idx val="0"/>
          <c:order val="0"/>
          <c:tx>
            <c:strRef>
              <c:f>Sheet1!$D$4</c:f>
              <c:strCache>
                <c:ptCount val="1"/>
                <c:pt idx="0">
                  <c:v>Frequency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0DD-EC48-84F6-31B3F7F964B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0DD-EC48-84F6-31B3F7F964B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0DD-EC48-84F6-31B3F7F964B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0DD-EC48-84F6-31B3F7F964B0}"/>
              </c:ext>
            </c:extLst>
          </c:dPt>
          <c:dLbls>
            <c:dLbl>
              <c:idx val="0"/>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0DD-EC48-84F6-31B3F7F964B0}"/>
                </c:ext>
              </c:extLst>
            </c:dLbl>
            <c:numFmt formatCode="General" sourceLinked="0"/>
            <c:spPr>
              <a:solidFill>
                <a:schemeClr val="accent2">
                  <a:lumMod val="60000"/>
                  <a:lumOff val="40000"/>
                </a:schemeClr>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ln>
                      <a:noFill/>
                    </a:ln>
                    <a:solidFill>
                      <a:schemeClr val="bg1"/>
                    </a:solidFill>
                    <a:latin typeface="+mn-lt"/>
                    <a:ea typeface="+mn-ea"/>
                    <a:cs typeface="+mn-cs"/>
                  </a:defRPr>
                </a:pPr>
                <a:endParaRPr lang="en-US"/>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Sheet1!$C$5:$C$8</c:f>
              <c:strCache>
                <c:ptCount val="4"/>
                <c:pt idx="0">
                  <c:v>High Risk</c:v>
                </c:pt>
                <c:pt idx="1">
                  <c:v>Medium Risk</c:v>
                </c:pt>
                <c:pt idx="2">
                  <c:v>Low Risk</c:v>
                </c:pt>
                <c:pt idx="3">
                  <c:v>Highest Risk</c:v>
                </c:pt>
              </c:strCache>
            </c:strRef>
          </c:cat>
          <c:val>
            <c:numRef>
              <c:f>Sheet1!$D$5:$D$8</c:f>
              <c:numCache>
                <c:formatCode>General</c:formatCode>
                <c:ptCount val="4"/>
                <c:pt idx="0">
                  <c:v>762</c:v>
                </c:pt>
                <c:pt idx="1">
                  <c:v>645</c:v>
                </c:pt>
                <c:pt idx="2">
                  <c:v>476</c:v>
                </c:pt>
                <c:pt idx="3">
                  <c:v>62</c:v>
                </c:pt>
              </c:numCache>
            </c:numRef>
          </c:val>
          <c:extLst>
            <c:ext xmlns:c16="http://schemas.microsoft.com/office/drawing/2014/chart" uri="{C3380CC4-5D6E-409C-BE32-E72D297353CC}">
              <c16:uniqueId val="{00000008-E0DD-EC48-84F6-31B3F7F964B0}"/>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600" b="1" dirty="0"/>
              <a:t>Proportion</a:t>
            </a:r>
            <a:r>
              <a:rPr lang="en-US" sz="1600" b="1" baseline="0" dirty="0"/>
              <a:t> of Credit Rating Classes</a:t>
            </a:r>
            <a:endParaRPr lang="en-US" sz="1600" b="1" dirty="0"/>
          </a:p>
        </c:rich>
      </c:tx>
      <c:layout>
        <c:manualLayout>
          <c:xMode val="edge"/>
          <c:yMode val="edge"/>
          <c:x val="0.15571705766151184"/>
          <c:y val="0.15337539164350453"/>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433313169922035"/>
          <c:y val="0.29727976352622781"/>
          <c:w val="0.56701777302427792"/>
          <c:h val="0.59098873958893117"/>
        </c:manualLayout>
      </c:layout>
      <c:pieChart>
        <c:varyColors val="1"/>
        <c:ser>
          <c:idx val="0"/>
          <c:order val="0"/>
          <c:tx>
            <c:strRef>
              <c:f>Sheet1!$D$10</c:f>
              <c:strCache>
                <c:ptCount val="1"/>
                <c:pt idx="0">
                  <c:v>Frequency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774-8F44-AFBE-3F4D8B3C57C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774-8F44-AFBE-3F4D8B3C57C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774-8F44-AFBE-3F4D8B3C57C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774-8F44-AFBE-3F4D8B3C57C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1774-8F44-AFBE-3F4D8B3C57CB}"/>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1774-8F44-AFBE-3F4D8B3C57CB}"/>
              </c:ext>
            </c:extLst>
          </c:dPt>
          <c:dLbls>
            <c:spPr>
              <a:solidFill>
                <a:schemeClr val="accent2">
                  <a:lumMod val="60000"/>
                  <a:lumOff val="40000"/>
                </a:schemeClr>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Sheet1!$C$11:$C$16</c:f>
              <c:strCache>
                <c:ptCount val="6"/>
                <c:pt idx="0">
                  <c:v>BBB</c:v>
                </c:pt>
                <c:pt idx="1">
                  <c:v>BB</c:v>
                </c:pt>
                <c:pt idx="2">
                  <c:v>A</c:v>
                </c:pt>
                <c:pt idx="3">
                  <c:v>B</c:v>
                </c:pt>
                <c:pt idx="4">
                  <c:v>AA</c:v>
                </c:pt>
                <c:pt idx="5">
                  <c:v>CCC</c:v>
                </c:pt>
              </c:strCache>
            </c:strRef>
          </c:cat>
          <c:val>
            <c:numRef>
              <c:f>Sheet1!$D$11:$D$16</c:f>
              <c:numCache>
                <c:formatCode>General</c:formatCode>
                <c:ptCount val="6"/>
                <c:pt idx="0">
                  <c:v>645</c:v>
                </c:pt>
                <c:pt idx="1">
                  <c:v>470</c:v>
                </c:pt>
                <c:pt idx="2">
                  <c:v>388</c:v>
                </c:pt>
                <c:pt idx="3">
                  <c:v>292</c:v>
                </c:pt>
                <c:pt idx="4">
                  <c:v>88</c:v>
                </c:pt>
                <c:pt idx="5">
                  <c:v>62</c:v>
                </c:pt>
              </c:numCache>
            </c:numRef>
          </c:val>
          <c:extLst>
            <c:ext xmlns:c16="http://schemas.microsoft.com/office/drawing/2014/chart" uri="{C3380CC4-5D6E-409C-BE32-E72D297353CC}">
              <c16:uniqueId val="{0000000C-1774-8F44-AFBE-3F4D8B3C57CB}"/>
            </c:ext>
          </c:extLst>
        </c:ser>
        <c:dLbls>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0.13431640817644089"/>
          <c:y val="0.93357085858810296"/>
          <c:w val="0.61299473413519434"/>
          <c:h val="5.8903145007512585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sz="1400" b="1" i="0" u="none" strike="noStrike" kern="1200" spc="0" baseline="0" dirty="0">
                <a:solidFill>
                  <a:sysClr val="windowText" lastClr="000000">
                    <a:lumMod val="65000"/>
                    <a:lumOff val="35000"/>
                  </a:sysClr>
                </a:solidFill>
              </a:rPr>
              <a:t>Proportion of Risk level classes</a:t>
            </a: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r>
              <a:rPr lang="en-US" sz="1400" b="1" i="0" u="none" strike="noStrike" kern="1200" spc="0" baseline="0" dirty="0">
                <a:solidFill>
                  <a:sysClr val="windowText" lastClr="000000">
                    <a:lumMod val="65000"/>
                    <a:lumOff val="35000"/>
                  </a:sysClr>
                </a:solidFill>
              </a:rPr>
              <a:t>after applying SMOTE</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manualLayout>
          <c:layoutTarget val="inner"/>
          <c:xMode val="edge"/>
          <c:yMode val="edge"/>
          <c:x val="0.19395972070416675"/>
          <c:y val="0.14827570843805574"/>
          <c:w val="0.62937922389414269"/>
          <c:h val="0.74279941428928375"/>
        </c:manualLayout>
      </c:layout>
      <c:pieChart>
        <c:varyColors val="1"/>
        <c:ser>
          <c:idx val="0"/>
          <c:order val="0"/>
          <c:tx>
            <c:strRef>
              <c:f>Sheet1!$D$25</c:f>
              <c:strCache>
                <c:ptCount val="1"/>
                <c:pt idx="0">
                  <c:v>Frequency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63E-164A-823D-17C2465D132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63E-164A-823D-17C2465D132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63E-164A-823D-17C2465D132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63E-164A-823D-17C2465D132E}"/>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Sheet1!$C$26:$C$29</c:f>
              <c:strCache>
                <c:ptCount val="4"/>
                <c:pt idx="0">
                  <c:v>High Risk</c:v>
                </c:pt>
                <c:pt idx="1">
                  <c:v>Medium Risk</c:v>
                </c:pt>
                <c:pt idx="2">
                  <c:v>Low Risk</c:v>
                </c:pt>
                <c:pt idx="3">
                  <c:v>Highest Risk</c:v>
                </c:pt>
              </c:strCache>
            </c:strRef>
          </c:cat>
          <c:val>
            <c:numRef>
              <c:f>Sheet1!$D$26:$D$29</c:f>
              <c:numCache>
                <c:formatCode>General</c:formatCode>
                <c:ptCount val="4"/>
                <c:pt idx="0">
                  <c:v>762</c:v>
                </c:pt>
                <c:pt idx="1">
                  <c:v>762</c:v>
                </c:pt>
                <c:pt idx="2">
                  <c:v>762</c:v>
                </c:pt>
                <c:pt idx="3">
                  <c:v>762</c:v>
                </c:pt>
              </c:numCache>
            </c:numRef>
          </c:val>
          <c:extLst>
            <c:ext xmlns:c16="http://schemas.microsoft.com/office/drawing/2014/chart" uri="{C3380CC4-5D6E-409C-BE32-E72D297353CC}">
              <c16:uniqueId val="{00000008-D63E-164A-823D-17C2465D132E}"/>
            </c:ext>
          </c:extLst>
        </c:ser>
        <c:dLbls>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dirty="0">
                <a:solidFill>
                  <a:sysClr val="windowText" lastClr="000000">
                    <a:lumMod val="65000"/>
                    <a:lumOff val="35000"/>
                  </a:sysClr>
                </a:solidFill>
              </a:rPr>
              <a:t>Proportion of Credit rating classes</a:t>
            </a:r>
          </a:p>
          <a:p>
            <a:pPr>
              <a:defRPr sz="1600"/>
            </a:pPr>
            <a:r>
              <a:rPr lang="en-US" sz="1400" b="1" i="0" u="none" strike="noStrike" kern="1200" spc="0" baseline="0" dirty="0">
                <a:solidFill>
                  <a:sysClr val="windowText" lastClr="000000">
                    <a:lumMod val="65000"/>
                    <a:lumOff val="35000"/>
                  </a:sysClr>
                </a:solidFill>
              </a:rPr>
              <a:t>after applying SMOTE</a:t>
            </a:r>
          </a:p>
          <a:p>
            <a:pPr>
              <a:defRPr sz="1600"/>
            </a:pPr>
            <a:endParaRPr lang="en-US" sz="1600" dirty="0"/>
          </a:p>
        </c:rich>
      </c:tx>
      <c:layout>
        <c:manualLayout>
          <c:xMode val="edge"/>
          <c:yMode val="edge"/>
          <c:x val="0.23133692316138643"/>
          <c:y val="2.4373766546495968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22256314077191"/>
          <c:y val="0.16740291076030819"/>
          <c:w val="0.70053227568887688"/>
          <c:h val="0.72863412732567368"/>
        </c:manualLayout>
      </c:layout>
      <c:pieChart>
        <c:varyColors val="1"/>
        <c:ser>
          <c:idx val="0"/>
          <c:order val="0"/>
          <c:tx>
            <c:strRef>
              <c:f>Sheet1!$D$32</c:f>
              <c:strCache>
                <c:ptCount val="1"/>
                <c:pt idx="0">
                  <c:v>Frequency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81C-714E-B5B5-2D9D6C90492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81C-714E-B5B5-2D9D6C90492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81C-714E-B5B5-2D9D6C90492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81C-714E-B5B5-2D9D6C90492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81C-714E-B5B5-2D9D6C90492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81C-714E-B5B5-2D9D6C904922}"/>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Sheet1!$C$33:$C$38</c:f>
              <c:strCache>
                <c:ptCount val="6"/>
                <c:pt idx="0">
                  <c:v>BBB</c:v>
                </c:pt>
                <c:pt idx="1">
                  <c:v>BB</c:v>
                </c:pt>
                <c:pt idx="2">
                  <c:v>A</c:v>
                </c:pt>
                <c:pt idx="3">
                  <c:v>B</c:v>
                </c:pt>
                <c:pt idx="4">
                  <c:v>AA</c:v>
                </c:pt>
                <c:pt idx="5">
                  <c:v>CCC</c:v>
                </c:pt>
              </c:strCache>
            </c:strRef>
          </c:cat>
          <c:val>
            <c:numRef>
              <c:f>Sheet1!$D$33:$D$38</c:f>
              <c:numCache>
                <c:formatCode>General</c:formatCode>
                <c:ptCount val="6"/>
                <c:pt idx="0">
                  <c:v>645</c:v>
                </c:pt>
                <c:pt idx="1">
                  <c:v>645</c:v>
                </c:pt>
                <c:pt idx="2">
                  <c:v>645</c:v>
                </c:pt>
                <c:pt idx="3">
                  <c:v>645</c:v>
                </c:pt>
                <c:pt idx="4">
                  <c:v>645</c:v>
                </c:pt>
                <c:pt idx="5">
                  <c:v>645</c:v>
                </c:pt>
              </c:numCache>
            </c:numRef>
          </c:val>
          <c:extLst>
            <c:ext xmlns:c16="http://schemas.microsoft.com/office/drawing/2014/chart" uri="{C3380CC4-5D6E-409C-BE32-E72D297353CC}">
              <c16:uniqueId val="{0000000C-781C-714E-B5B5-2D9D6C904922}"/>
            </c:ext>
          </c:extLst>
        </c:ser>
        <c:dLbls>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61598-5502-1A40-A303-E8C0EA9FDAFC}" type="datetimeFigureOut">
              <a:rPr lang="en-US" smtClean="0"/>
              <a:t>2/12/25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24DE4-A279-EB4F-B914-3ACEFEFC8FEA}" type="slidenum">
              <a:rPr lang="en-US" smtClean="0"/>
              <a:t>‹#›</a:t>
            </a:fld>
            <a:endParaRPr lang="en-US"/>
          </a:p>
        </p:txBody>
      </p:sp>
    </p:spTree>
    <p:extLst>
      <p:ext uri="{BB962C8B-B14F-4D97-AF65-F5344CB8AC3E}">
        <p14:creationId xmlns:p14="http://schemas.microsoft.com/office/powerpoint/2010/main" val="2584625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4DE4-A279-EB4F-B914-3ACEFEFC8FEA}" type="slidenum">
              <a:rPr lang="en-US" smtClean="0"/>
              <a:t>16</a:t>
            </a:fld>
            <a:endParaRPr lang="en-US"/>
          </a:p>
        </p:txBody>
      </p:sp>
    </p:spTree>
    <p:extLst>
      <p:ext uri="{BB962C8B-B14F-4D97-AF65-F5344CB8AC3E}">
        <p14:creationId xmlns:p14="http://schemas.microsoft.com/office/powerpoint/2010/main" val="158474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4DE4-A279-EB4F-B914-3ACEFEFC8FEA}" type="slidenum">
              <a:rPr lang="en-US" smtClean="0"/>
              <a:t>23</a:t>
            </a:fld>
            <a:endParaRPr lang="en-US"/>
          </a:p>
        </p:txBody>
      </p:sp>
    </p:spTree>
    <p:extLst>
      <p:ext uri="{BB962C8B-B14F-4D97-AF65-F5344CB8AC3E}">
        <p14:creationId xmlns:p14="http://schemas.microsoft.com/office/powerpoint/2010/main" val="1144465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4DE4-A279-EB4F-B914-3ACEFEFC8FEA}" type="slidenum">
              <a:rPr lang="en-US" smtClean="0"/>
              <a:t>25</a:t>
            </a:fld>
            <a:endParaRPr lang="en-US"/>
          </a:p>
        </p:txBody>
      </p:sp>
    </p:spTree>
    <p:extLst>
      <p:ext uri="{BB962C8B-B14F-4D97-AF65-F5344CB8AC3E}">
        <p14:creationId xmlns:p14="http://schemas.microsoft.com/office/powerpoint/2010/main" val="125913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4DE4-A279-EB4F-B914-3ACEFEFC8FEA}" type="slidenum">
              <a:rPr lang="en-US" smtClean="0"/>
              <a:t>26</a:t>
            </a:fld>
            <a:endParaRPr lang="en-US"/>
          </a:p>
        </p:txBody>
      </p:sp>
    </p:spTree>
    <p:extLst>
      <p:ext uri="{BB962C8B-B14F-4D97-AF65-F5344CB8AC3E}">
        <p14:creationId xmlns:p14="http://schemas.microsoft.com/office/powerpoint/2010/main" val="2671334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4DE4-A279-EB4F-B914-3ACEFEFC8FEA}" type="slidenum">
              <a:rPr lang="en-US" smtClean="0"/>
              <a:t>41</a:t>
            </a:fld>
            <a:endParaRPr lang="en-US"/>
          </a:p>
        </p:txBody>
      </p:sp>
    </p:spTree>
    <p:extLst>
      <p:ext uri="{BB962C8B-B14F-4D97-AF65-F5344CB8AC3E}">
        <p14:creationId xmlns:p14="http://schemas.microsoft.com/office/powerpoint/2010/main" val="3984121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4DE4-A279-EB4F-B914-3ACEFEFC8FEA}" type="slidenum">
              <a:rPr lang="en-US" smtClean="0"/>
              <a:t>43</a:t>
            </a:fld>
            <a:endParaRPr lang="en-US"/>
          </a:p>
        </p:txBody>
      </p:sp>
    </p:spTree>
    <p:extLst>
      <p:ext uri="{BB962C8B-B14F-4D97-AF65-F5344CB8AC3E}">
        <p14:creationId xmlns:p14="http://schemas.microsoft.com/office/powerpoint/2010/main" val="3233681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5D3A3840-103F-4845-B2EB-6789ED4D10D8}" type="datetimeFigureOut">
              <a:rPr lang="en-US" smtClean="0"/>
              <a:t>2/12/25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A9D2798E-1EBF-374E-A1BA-59CD34FD047D}" type="slidenum">
              <a:rPr lang="en-US" smtClean="0"/>
              <a:t>‹#›</a:t>
            </a:fld>
            <a:endParaRPr lang="en-US"/>
          </a:p>
        </p:txBody>
      </p:sp>
    </p:spTree>
    <p:extLst>
      <p:ext uri="{BB962C8B-B14F-4D97-AF65-F5344CB8AC3E}">
        <p14:creationId xmlns:p14="http://schemas.microsoft.com/office/powerpoint/2010/main" val="31924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3A3840-103F-4845-B2EB-6789ED4D10D8}"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2961741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D3A3840-103F-4845-B2EB-6789ED4D10D8}" type="datetimeFigureOut">
              <a:rPr lang="en-US" smtClean="0"/>
              <a:t>2/12/25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A9D2798E-1EBF-374E-A1BA-59CD34FD047D}" type="slidenum">
              <a:rPr lang="en-US" smtClean="0"/>
              <a:t>‹#›</a:t>
            </a:fld>
            <a:endParaRPr lang="en-US"/>
          </a:p>
        </p:txBody>
      </p:sp>
    </p:spTree>
    <p:extLst>
      <p:ext uri="{BB962C8B-B14F-4D97-AF65-F5344CB8AC3E}">
        <p14:creationId xmlns:p14="http://schemas.microsoft.com/office/powerpoint/2010/main" val="1245433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3A3840-103F-4845-B2EB-6789ED4D10D8}" type="datetimeFigureOut">
              <a:rPr lang="en-US" smtClean="0"/>
              <a:t>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460386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3A3840-103F-4845-B2EB-6789ED4D10D8}" type="datetimeFigureOut">
              <a:rPr lang="en-US" smtClean="0"/>
              <a:t>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194147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3A3840-103F-4845-B2EB-6789ED4D10D8}" type="datetimeFigureOut">
              <a:rPr lang="en-US" smtClean="0"/>
              <a:t>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1960436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3A3840-103F-4845-B2EB-6789ED4D10D8}" type="datetimeFigureOut">
              <a:rPr lang="en-US" smtClean="0"/>
              <a:t>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2584248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5D3A3840-103F-4845-B2EB-6789ED4D10D8}" type="datetimeFigureOut">
              <a:rPr lang="en-US" smtClean="0"/>
              <a:t>2/12/25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A9D2798E-1EBF-374E-A1BA-59CD34FD047D}" type="slidenum">
              <a:rPr lang="en-US" smtClean="0"/>
              <a:t>‹#›</a:t>
            </a:fld>
            <a:endParaRPr lang="en-US"/>
          </a:p>
        </p:txBody>
      </p:sp>
    </p:spTree>
    <p:extLst>
      <p:ext uri="{BB962C8B-B14F-4D97-AF65-F5344CB8AC3E}">
        <p14:creationId xmlns:p14="http://schemas.microsoft.com/office/powerpoint/2010/main" val="4078494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3A3840-103F-4845-B2EB-6789ED4D10D8}" type="datetimeFigureOut">
              <a:rPr lang="en-US" smtClean="0"/>
              <a:t>2/12/25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1804802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3A3840-103F-4845-B2EB-6789ED4D10D8}" type="datetimeFigureOut">
              <a:rPr lang="en-US" smtClean="0"/>
              <a:t>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D2798E-1EBF-374E-A1BA-59CD34FD047D}" type="slidenum">
              <a:rPr lang="en-US" smtClean="0"/>
              <a:t>‹#›</a:t>
            </a:fld>
            <a:endParaRPr lang="en-US"/>
          </a:p>
        </p:txBody>
      </p:sp>
    </p:spTree>
    <p:extLst>
      <p:ext uri="{BB962C8B-B14F-4D97-AF65-F5344CB8AC3E}">
        <p14:creationId xmlns:p14="http://schemas.microsoft.com/office/powerpoint/2010/main" val="4127493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5D3A3840-103F-4845-B2EB-6789ED4D10D8}" type="datetimeFigureOut">
              <a:rPr lang="en-US" smtClean="0"/>
              <a:t>2/12/25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A9D2798E-1EBF-374E-A1BA-59CD34FD047D}" type="slidenum">
              <a:rPr lang="en-US" smtClean="0"/>
              <a:t>‹#›</a:t>
            </a:fld>
            <a:endParaRPr lang="en-US"/>
          </a:p>
        </p:txBody>
      </p:sp>
    </p:spTree>
    <p:extLst>
      <p:ext uri="{BB962C8B-B14F-4D97-AF65-F5344CB8AC3E}">
        <p14:creationId xmlns:p14="http://schemas.microsoft.com/office/powerpoint/2010/main" val="1330494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5D3A3840-103F-4845-B2EB-6789ED4D10D8}" type="datetimeFigureOut">
              <a:rPr lang="en-US" smtClean="0"/>
              <a:t>2/12/25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A9D2798E-1EBF-374E-A1BA-59CD34FD047D}"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82993703"/>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investopedia.com/terms/c/creditrating.asp" TargetMode="External"/><Relationship Id="rId2" Type="http://schemas.openxmlformats.org/officeDocument/2006/relationships/hyperlink" Target="https://www.kaggle.com/datasets/agewerc/corporate-credit-rating/data" TargetMode="External"/><Relationship Id="rId1" Type="http://schemas.openxmlformats.org/officeDocument/2006/relationships/slideLayout" Target="../slideLayouts/slideLayout2.xml"/><Relationship Id="rId6" Type="http://schemas.openxmlformats.org/officeDocument/2006/relationships/hyperlink" Target="https://www.researchgate.net/publication/331386740_Credit_Rating_Forecasting_Using_Machine_Learning_Techniques" TargetMode="External"/><Relationship Id="rId5" Type="http://schemas.openxmlformats.org/officeDocument/2006/relationships/hyperlink" Target="https://www.investopedia.com/ask/answers/102814/how-long-are-credit-ratings-valid.asp" TargetMode="External"/><Relationship Id="rId4" Type="http://schemas.openxmlformats.org/officeDocument/2006/relationships/hyperlink" Target="https://www.investopedia.com/terms/c/corporate-credit-rating.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56B3-77B8-9EDA-7979-472CF3813CE8}"/>
              </a:ext>
            </a:extLst>
          </p:cNvPr>
          <p:cNvSpPr>
            <a:spLocks noGrp="1"/>
          </p:cNvSpPr>
          <p:nvPr>
            <p:ph type="ctrTitle"/>
          </p:nvPr>
        </p:nvSpPr>
        <p:spPr/>
        <p:txBody>
          <a:bodyPr>
            <a:normAutofit/>
          </a:bodyPr>
          <a:lstStyle/>
          <a:p>
            <a:r>
              <a:rPr lang="en-US" b="1" i="0" dirty="0">
                <a:solidFill>
                  <a:srgbClr val="202124"/>
                </a:solidFill>
                <a:effectLst/>
                <a:latin typeface="zeitung"/>
              </a:rPr>
              <a:t>Predicting Corporate Credit Rating</a:t>
            </a:r>
            <a:endParaRPr lang="en-US" dirty="0"/>
          </a:p>
        </p:txBody>
      </p:sp>
      <p:sp>
        <p:nvSpPr>
          <p:cNvPr id="3" name="Subtitle 2">
            <a:extLst>
              <a:ext uri="{FF2B5EF4-FFF2-40B4-BE49-F238E27FC236}">
                <a16:creationId xmlns:a16="http://schemas.microsoft.com/office/drawing/2014/main" id="{CAAC20DB-937B-83DA-B7FE-81EA9A48D210}"/>
              </a:ext>
            </a:extLst>
          </p:cNvPr>
          <p:cNvSpPr>
            <a:spLocks noGrp="1"/>
          </p:cNvSpPr>
          <p:nvPr>
            <p:ph type="subTitle" idx="1"/>
          </p:nvPr>
        </p:nvSpPr>
        <p:spPr/>
        <p:txBody>
          <a:bodyPr>
            <a:normAutofit fontScale="92500" lnSpcReduction="20000"/>
          </a:bodyPr>
          <a:lstStyle/>
          <a:p>
            <a:r>
              <a:rPr lang="en-US" dirty="0"/>
              <a:t>Kamila </a:t>
            </a:r>
            <a:r>
              <a:rPr lang="en-US" dirty="0" err="1"/>
              <a:t>Makhambetova</a:t>
            </a:r>
            <a:endParaRPr lang="en-US" dirty="0"/>
          </a:p>
          <a:p>
            <a:r>
              <a:rPr lang="en-US" dirty="0"/>
              <a:t>February 2025</a:t>
            </a:r>
          </a:p>
        </p:txBody>
      </p:sp>
    </p:spTree>
    <p:extLst>
      <p:ext uri="{BB962C8B-B14F-4D97-AF65-F5344CB8AC3E}">
        <p14:creationId xmlns:p14="http://schemas.microsoft.com/office/powerpoint/2010/main" val="1374272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ACD2-2618-2D67-B0DC-02882396DA57}"/>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C4F1913-4D8F-B6B2-9B6F-2F1A833A6D98}"/>
              </a:ext>
            </a:extLst>
          </p:cNvPr>
          <p:cNvSpPr>
            <a:spLocks noGrp="1"/>
          </p:cNvSpPr>
          <p:nvPr>
            <p:ph idx="1"/>
          </p:nvPr>
        </p:nvSpPr>
        <p:spPr>
          <a:xfrm>
            <a:off x="465578" y="1844165"/>
            <a:ext cx="11029615" cy="3678303"/>
          </a:xfrm>
        </p:spPr>
        <p:txBody>
          <a:bodyPr>
            <a:normAutofit/>
          </a:bodyPr>
          <a:lstStyle/>
          <a:p>
            <a:r>
              <a:rPr lang="en-US" sz="2000" b="1" dirty="0"/>
              <a:t>Executive Summary</a:t>
            </a:r>
          </a:p>
          <a:p>
            <a:r>
              <a:rPr lang="en-US" sz="2000" b="1" dirty="0"/>
              <a:t>Pre-processing: Exploratory Data Analysis</a:t>
            </a:r>
          </a:p>
          <a:p>
            <a:r>
              <a:rPr lang="en-US" sz="2000" b="1" dirty="0"/>
              <a:t>Modelling</a:t>
            </a:r>
          </a:p>
          <a:p>
            <a:r>
              <a:rPr lang="en-US" sz="2000" b="1" dirty="0"/>
              <a:t>Results</a:t>
            </a:r>
          </a:p>
          <a:p>
            <a:r>
              <a:rPr lang="en-US" sz="2000" b="1" dirty="0"/>
              <a:t>Enhancements</a:t>
            </a:r>
          </a:p>
        </p:txBody>
      </p:sp>
    </p:spTree>
    <p:extLst>
      <p:ext uri="{BB962C8B-B14F-4D97-AF65-F5344CB8AC3E}">
        <p14:creationId xmlns:p14="http://schemas.microsoft.com/office/powerpoint/2010/main" val="1479165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FC5D8-05BF-B974-FC43-F1ED8A48DE62}"/>
              </a:ext>
            </a:extLst>
          </p:cNvPr>
          <p:cNvSpPr>
            <a:spLocks noGrp="1"/>
          </p:cNvSpPr>
          <p:nvPr>
            <p:ph type="title"/>
          </p:nvPr>
        </p:nvSpPr>
        <p:spPr/>
        <p:txBody>
          <a:bodyPr/>
          <a:lstStyle/>
          <a:p>
            <a:r>
              <a:rPr lang="en-US" dirty="0"/>
              <a:t>Executive Summary</a:t>
            </a:r>
          </a:p>
        </p:txBody>
      </p:sp>
      <p:graphicFrame>
        <p:nvGraphicFramePr>
          <p:cNvPr id="9" name="Table 8">
            <a:extLst>
              <a:ext uri="{FF2B5EF4-FFF2-40B4-BE49-F238E27FC236}">
                <a16:creationId xmlns:a16="http://schemas.microsoft.com/office/drawing/2014/main" id="{A55D581D-65A2-D44A-EE3A-BBC900BA5FF6}"/>
              </a:ext>
            </a:extLst>
          </p:cNvPr>
          <p:cNvGraphicFramePr>
            <a:graphicFrameLocks noGrp="1"/>
          </p:cNvGraphicFramePr>
          <p:nvPr>
            <p:extLst>
              <p:ext uri="{D42A27DB-BD31-4B8C-83A1-F6EECF244321}">
                <p14:modId xmlns:p14="http://schemas.microsoft.com/office/powerpoint/2010/main" val="1345524318"/>
              </p:ext>
            </p:extLst>
          </p:nvPr>
        </p:nvGraphicFramePr>
        <p:xfrm>
          <a:off x="1068405" y="4411025"/>
          <a:ext cx="9846644" cy="2271316"/>
        </p:xfrm>
        <a:graphic>
          <a:graphicData uri="http://schemas.openxmlformats.org/drawingml/2006/table">
            <a:tbl>
              <a:tblPr firstRow="1" firstCol="1" bandRow="1">
                <a:tableStyleId>{5C22544A-7EE6-4342-B048-85BDC9FD1C3A}</a:tableStyleId>
              </a:tblPr>
              <a:tblGrid>
                <a:gridCol w="1583359">
                  <a:extLst>
                    <a:ext uri="{9D8B030D-6E8A-4147-A177-3AD203B41FA5}">
                      <a16:colId xmlns:a16="http://schemas.microsoft.com/office/drawing/2014/main" val="2195742353"/>
                    </a:ext>
                  </a:extLst>
                </a:gridCol>
                <a:gridCol w="1921915">
                  <a:extLst>
                    <a:ext uri="{9D8B030D-6E8A-4147-A177-3AD203B41FA5}">
                      <a16:colId xmlns:a16="http://schemas.microsoft.com/office/drawing/2014/main" val="2645191918"/>
                    </a:ext>
                  </a:extLst>
                </a:gridCol>
                <a:gridCol w="2220439">
                  <a:extLst>
                    <a:ext uri="{9D8B030D-6E8A-4147-A177-3AD203B41FA5}">
                      <a16:colId xmlns:a16="http://schemas.microsoft.com/office/drawing/2014/main" val="4293766776"/>
                    </a:ext>
                  </a:extLst>
                </a:gridCol>
                <a:gridCol w="1919763">
                  <a:extLst>
                    <a:ext uri="{9D8B030D-6E8A-4147-A177-3AD203B41FA5}">
                      <a16:colId xmlns:a16="http://schemas.microsoft.com/office/drawing/2014/main" val="1605548937"/>
                    </a:ext>
                  </a:extLst>
                </a:gridCol>
                <a:gridCol w="2201168">
                  <a:extLst>
                    <a:ext uri="{9D8B030D-6E8A-4147-A177-3AD203B41FA5}">
                      <a16:colId xmlns:a16="http://schemas.microsoft.com/office/drawing/2014/main" val="2816420488"/>
                    </a:ext>
                  </a:extLst>
                </a:gridCol>
              </a:tblGrid>
              <a:tr h="954212">
                <a:tc>
                  <a:txBody>
                    <a:bodyPr/>
                    <a:lstStyle/>
                    <a:p>
                      <a:pPr marL="0" marR="0" algn="ctr">
                        <a:spcBef>
                          <a:spcPts val="0"/>
                        </a:spcBef>
                        <a:spcAft>
                          <a:spcPts val="0"/>
                        </a:spcAft>
                      </a:pPr>
                      <a:r>
                        <a:rPr lang="en-US" sz="1400" kern="100" cap="all" dirty="0">
                          <a:effectLst/>
                        </a:rPr>
                        <a:t>Top 3 models (</a:t>
                      </a:r>
                      <a:r>
                        <a:rPr lang="en-US" sz="1400" kern="100" cap="all" dirty="0">
                          <a:solidFill>
                            <a:srgbClr val="FF0000"/>
                          </a:solidFill>
                          <a:effectLst/>
                        </a:rPr>
                        <a:t>on TEST SAMPLE</a:t>
                      </a:r>
                      <a:r>
                        <a:rPr lang="en-US" sz="1400" kern="100" cap="all" dirty="0">
                          <a:effectLst/>
                        </a:rPr>
                        <a: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400" kern="100" cap="all" dirty="0">
                          <a:effectLst/>
                        </a:rPr>
                        <a:t>Macro Average F1 Score for Rating (</a:t>
                      </a:r>
                      <a:r>
                        <a:rPr lang="en-US" sz="1400" kern="100" cap="all" dirty="0">
                          <a:solidFill>
                            <a:srgbClr val="FFFF00"/>
                          </a:solidFill>
                          <a:effectLst/>
                        </a:rPr>
                        <a:t>imbalanced</a:t>
                      </a:r>
                      <a:r>
                        <a:rPr lang="en-US" sz="1400" kern="100" cap="all" dirty="0">
                          <a:effectLst/>
                        </a:rPr>
                        <a: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400" kern="100" cap="all" dirty="0">
                          <a:effectLst/>
                        </a:rPr>
                        <a:t>Macro Average F1 Score for Rating (</a:t>
                      </a:r>
                      <a:r>
                        <a:rPr lang="en-US" sz="1400" kern="100" cap="all" dirty="0">
                          <a:solidFill>
                            <a:srgbClr val="FFFF00"/>
                          </a:solidFill>
                          <a:effectLst/>
                        </a:rPr>
                        <a:t>oversampling</a:t>
                      </a:r>
                      <a:r>
                        <a:rPr lang="en-US" sz="1400" kern="100" cap="all" dirty="0">
                          <a:effectLst/>
                        </a:rPr>
                        <a: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400" kern="100" cap="all" dirty="0">
                          <a:effectLst/>
                        </a:rPr>
                        <a:t>Macro Average F1 Score for Risk level (</a:t>
                      </a:r>
                      <a:r>
                        <a:rPr lang="en-US" sz="1400" kern="100" cap="all" dirty="0">
                          <a:solidFill>
                            <a:srgbClr val="FFFF00"/>
                          </a:solidFill>
                          <a:effectLst/>
                        </a:rPr>
                        <a:t>imbalanced</a:t>
                      </a:r>
                      <a:r>
                        <a:rPr lang="en-US" sz="1400" kern="100" cap="all" dirty="0">
                          <a:effectLst/>
                        </a:rPr>
                        <a: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400" kern="100" cap="all" dirty="0">
                          <a:effectLst/>
                        </a:rPr>
                        <a:t>Macro Average F1 Score for Risk level</a:t>
                      </a:r>
                      <a:endParaRPr lang="en-US" sz="1400" kern="100" dirty="0">
                        <a:effectLst/>
                      </a:endParaRPr>
                    </a:p>
                    <a:p>
                      <a:pPr marL="0" marR="0" algn="ctr">
                        <a:spcBef>
                          <a:spcPts val="0"/>
                        </a:spcBef>
                        <a:spcAft>
                          <a:spcPts val="0"/>
                        </a:spcAft>
                      </a:pPr>
                      <a:r>
                        <a:rPr lang="en-US" sz="1400" kern="100" cap="all" dirty="0">
                          <a:effectLst/>
                        </a:rPr>
                        <a:t>(</a:t>
                      </a:r>
                      <a:r>
                        <a:rPr lang="en-US" sz="1400" kern="100" cap="all" dirty="0">
                          <a:solidFill>
                            <a:srgbClr val="FFFF00"/>
                          </a:solidFill>
                          <a:effectLst/>
                        </a:rPr>
                        <a:t>oversampling</a:t>
                      </a:r>
                      <a:r>
                        <a:rPr lang="en-US" sz="1400" kern="100" cap="all" dirty="0">
                          <a:effectLst/>
                        </a:rPr>
                        <a: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7787737"/>
                  </a:ext>
                </a:extLst>
              </a:tr>
              <a:tr h="318019">
                <a:tc>
                  <a:txBody>
                    <a:bodyPr/>
                    <a:lstStyle/>
                    <a:p>
                      <a:pPr marL="0" marR="0" algn="ctr">
                        <a:spcBef>
                          <a:spcPts val="0"/>
                        </a:spcBef>
                        <a:spcAft>
                          <a:spcPts val="0"/>
                        </a:spcAft>
                      </a:pPr>
                      <a:r>
                        <a:rPr lang="en-US" sz="1400" kern="100" cap="all" dirty="0">
                          <a:effectLst/>
                        </a:rPr>
                        <a:t>KNN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0.52</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a:effectLst/>
                        </a:rPr>
                        <a:t>0.81</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a:effectLst/>
                        </a:rPr>
                        <a:t>0.55</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0.77</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7747879"/>
                  </a:ext>
                </a:extLst>
              </a:tr>
              <a:tr h="461134">
                <a:tc>
                  <a:txBody>
                    <a:bodyPr/>
                    <a:lstStyle/>
                    <a:p>
                      <a:pPr marL="0" marR="0" algn="ctr">
                        <a:spcBef>
                          <a:spcPts val="0"/>
                        </a:spcBef>
                        <a:spcAft>
                          <a:spcPts val="0"/>
                        </a:spcAft>
                      </a:pPr>
                      <a:r>
                        <a:rPr lang="en-US" sz="1400" kern="100" cap="all" dirty="0">
                          <a:effectLst/>
                        </a:rPr>
                        <a:t>Random Forest</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0.49</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0.78</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a:effectLst/>
                        </a:rPr>
                        <a:t>0.59</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0.73</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5570216"/>
                  </a:ext>
                </a:extLst>
              </a:tr>
              <a:tr h="537951">
                <a:tc>
                  <a:txBody>
                    <a:bodyPr/>
                    <a:lstStyle/>
                    <a:p>
                      <a:pPr marL="0" marR="0" algn="ctr">
                        <a:spcBef>
                          <a:spcPts val="0"/>
                        </a:spcBef>
                        <a:spcAft>
                          <a:spcPts val="0"/>
                        </a:spcAft>
                      </a:pPr>
                      <a:r>
                        <a:rPr lang="en-US" sz="1400" kern="100" cap="all" dirty="0">
                          <a:effectLst/>
                        </a:rPr>
                        <a:t>Gradient Boosting</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a:effectLst/>
                        </a:rPr>
                        <a:t>0.46</a:t>
                      </a:r>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0.76</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0.53</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kern="100" dirty="0">
                          <a:effectLst/>
                        </a:rPr>
                        <a:t>0.75</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0037983"/>
                  </a:ext>
                </a:extLst>
              </a:tr>
            </a:tbl>
          </a:graphicData>
        </a:graphic>
      </p:graphicFrame>
      <p:sp>
        <p:nvSpPr>
          <p:cNvPr id="4" name="TextBox 3">
            <a:extLst>
              <a:ext uri="{FF2B5EF4-FFF2-40B4-BE49-F238E27FC236}">
                <a16:creationId xmlns:a16="http://schemas.microsoft.com/office/drawing/2014/main" id="{729E3A18-04E2-92E4-8F3C-A048008D51EF}"/>
              </a:ext>
            </a:extLst>
          </p:cNvPr>
          <p:cNvSpPr txBox="1"/>
          <p:nvPr/>
        </p:nvSpPr>
        <p:spPr>
          <a:xfrm>
            <a:off x="462013" y="2008004"/>
            <a:ext cx="11251932" cy="95410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000" b="1" dirty="0"/>
              <a:t>Goal</a:t>
            </a:r>
            <a:endParaRPr lang="en-US" sz="2000" dirty="0"/>
          </a:p>
          <a:p>
            <a:pPr marL="285750" indent="-285750">
              <a:buFont typeface="Arial" panose="020B0604020202020204" pitchFamily="34" charset="0"/>
              <a:buChar char="•"/>
            </a:pPr>
            <a:r>
              <a:rPr lang="en-US" dirty="0">
                <a:solidFill>
                  <a:schemeClr val="tx1"/>
                </a:solidFill>
              </a:rPr>
              <a:t>To develop a classification model to predict credit ratings/risk levels of US companies based on a set of financial indicators.</a:t>
            </a:r>
            <a:endParaRPr lang="en-US" sz="1000" b="1" dirty="0"/>
          </a:p>
        </p:txBody>
      </p:sp>
      <p:sp>
        <p:nvSpPr>
          <p:cNvPr id="7" name="TextBox 6">
            <a:extLst>
              <a:ext uri="{FF2B5EF4-FFF2-40B4-BE49-F238E27FC236}">
                <a16:creationId xmlns:a16="http://schemas.microsoft.com/office/drawing/2014/main" id="{34946FB0-0BDC-9956-DBAD-E6541BCCAFC1}"/>
              </a:ext>
            </a:extLst>
          </p:cNvPr>
          <p:cNvSpPr txBox="1"/>
          <p:nvPr/>
        </p:nvSpPr>
        <p:spPr>
          <a:xfrm>
            <a:off x="462013" y="3039507"/>
            <a:ext cx="11251932" cy="123110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000" b="1" dirty="0"/>
              <a:t>Output</a:t>
            </a:r>
            <a:r>
              <a:rPr lang="en-US" sz="2000" dirty="0"/>
              <a:t>:</a:t>
            </a:r>
          </a:p>
          <a:p>
            <a:pPr marL="342900" indent="-342900">
              <a:buFont typeface="Arial" panose="020B0604020202020204" pitchFamily="34" charset="0"/>
              <a:buChar char="•"/>
            </a:pPr>
            <a:r>
              <a:rPr lang="en-US" dirty="0"/>
              <a:t>The top 3 highest performing models for assessing risk level/credit rating after parameter tuning and feature selection are </a:t>
            </a:r>
            <a:r>
              <a:rPr lang="en-US" b="1" dirty="0"/>
              <a:t>KNN, RF, GB.</a:t>
            </a:r>
          </a:p>
          <a:p>
            <a:pPr marL="342900" indent="-342900">
              <a:buFont typeface="Arial" panose="020B0604020202020204" pitchFamily="34" charset="0"/>
              <a:buChar char="•"/>
            </a:pPr>
            <a:r>
              <a:rPr lang="en-US" dirty="0"/>
              <a:t>Oversampling significantly improved Macro Average F1 Score of models</a:t>
            </a:r>
          </a:p>
        </p:txBody>
      </p:sp>
    </p:spTree>
    <p:extLst>
      <p:ext uri="{BB962C8B-B14F-4D97-AF65-F5344CB8AC3E}">
        <p14:creationId xmlns:p14="http://schemas.microsoft.com/office/powerpoint/2010/main" val="2142245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7A304-8AFE-45F6-7C97-8FE05EE7FAAD}"/>
              </a:ext>
            </a:extLst>
          </p:cNvPr>
          <p:cNvSpPr>
            <a:spLocks noGrp="1"/>
          </p:cNvSpPr>
          <p:nvPr>
            <p:ph type="title"/>
          </p:nvPr>
        </p:nvSpPr>
        <p:spPr>
          <a:xfrm>
            <a:off x="581192" y="702156"/>
            <a:ext cx="11029616" cy="846726"/>
          </a:xfrm>
        </p:spPr>
        <p:txBody>
          <a:bodyPr/>
          <a:lstStyle/>
          <a:p>
            <a:r>
              <a:rPr lang="en-US" dirty="0"/>
              <a:t>Dataset </a:t>
            </a:r>
          </a:p>
        </p:txBody>
      </p:sp>
      <p:sp>
        <p:nvSpPr>
          <p:cNvPr id="3" name="Content Placeholder 2">
            <a:extLst>
              <a:ext uri="{FF2B5EF4-FFF2-40B4-BE49-F238E27FC236}">
                <a16:creationId xmlns:a16="http://schemas.microsoft.com/office/drawing/2014/main" id="{614257C1-F5C6-0395-F302-D44E0F6CFD15}"/>
              </a:ext>
            </a:extLst>
          </p:cNvPr>
          <p:cNvSpPr>
            <a:spLocks noGrp="1"/>
          </p:cNvSpPr>
          <p:nvPr>
            <p:ph idx="1"/>
          </p:nvPr>
        </p:nvSpPr>
        <p:spPr>
          <a:xfrm>
            <a:off x="315684" y="2864550"/>
            <a:ext cx="2524345" cy="3862137"/>
          </a:xfrm>
        </p:spPr>
        <p:txBody>
          <a:bodyPr>
            <a:normAutofit/>
          </a:bodyPr>
          <a:lstStyle/>
          <a:p>
            <a:pPr marL="0" indent="0" algn="l" fontAlgn="base">
              <a:buNone/>
            </a:pPr>
            <a:endParaRPr lang="en-US" b="1" i="0" dirty="0">
              <a:solidFill>
                <a:srgbClr val="202124"/>
              </a:solidFill>
              <a:effectLst/>
              <a:latin typeface="Inter"/>
            </a:endParaRPr>
          </a:p>
          <a:p>
            <a:pPr algn="l" fontAlgn="base"/>
            <a:r>
              <a:rPr lang="en-US" dirty="0"/>
              <a:t>Credit ratings of US large corporations (traded on NYSE or Nasdaq) issued by major agencies </a:t>
            </a:r>
          </a:p>
          <a:p>
            <a:pPr algn="l" fontAlgn="base"/>
            <a:r>
              <a:rPr lang="en-US" dirty="0"/>
              <a:t>Number of observations: 2029</a:t>
            </a:r>
          </a:p>
          <a:p>
            <a:pPr algn="l" fontAlgn="base"/>
            <a:r>
              <a:rPr lang="en-US" dirty="0"/>
              <a:t>Time Period: 2005-2016</a:t>
            </a:r>
          </a:p>
          <a:p>
            <a:pPr marL="0" indent="0" fontAlgn="base">
              <a:buNone/>
            </a:pPr>
            <a:endParaRPr lang="en-US" i="1" dirty="0">
              <a:solidFill>
                <a:srgbClr val="3C4043"/>
              </a:solidFill>
              <a:latin typeface="inherit"/>
            </a:endParaRPr>
          </a:p>
          <a:p>
            <a:pPr marL="0" indent="0" fontAlgn="base">
              <a:buNone/>
            </a:pPr>
            <a:endParaRPr lang="en-US" b="0" i="1" dirty="0">
              <a:solidFill>
                <a:srgbClr val="3C4043"/>
              </a:solidFill>
              <a:effectLst/>
              <a:latin typeface="inherit"/>
            </a:endParaRPr>
          </a:p>
          <a:p>
            <a:pPr algn="l" fontAlgn="base"/>
            <a:endParaRPr lang="en-US" b="0" i="0" dirty="0">
              <a:solidFill>
                <a:srgbClr val="3C4043"/>
              </a:solidFill>
              <a:effectLst/>
              <a:latin typeface="Inter"/>
            </a:endParaRPr>
          </a:p>
          <a:p>
            <a:pPr marL="0" indent="0" algn="l" fontAlgn="base">
              <a:buNone/>
            </a:pPr>
            <a:endParaRPr lang="en-US" b="0" i="0" dirty="0">
              <a:solidFill>
                <a:srgbClr val="3C4043"/>
              </a:solidFill>
              <a:effectLst/>
              <a:latin typeface="Inter"/>
            </a:endParaRPr>
          </a:p>
          <a:p>
            <a:pPr marL="0" indent="0">
              <a:buNone/>
            </a:pPr>
            <a:endParaRPr lang="en-US" dirty="0"/>
          </a:p>
        </p:txBody>
      </p:sp>
      <p:graphicFrame>
        <p:nvGraphicFramePr>
          <p:cNvPr id="5" name="Table 4">
            <a:extLst>
              <a:ext uri="{FF2B5EF4-FFF2-40B4-BE49-F238E27FC236}">
                <a16:creationId xmlns:a16="http://schemas.microsoft.com/office/drawing/2014/main" id="{C9EE2BF6-A010-29A6-170E-F754C54641C0}"/>
              </a:ext>
            </a:extLst>
          </p:cNvPr>
          <p:cNvGraphicFramePr>
            <a:graphicFrameLocks noGrp="1"/>
          </p:cNvGraphicFramePr>
          <p:nvPr>
            <p:extLst>
              <p:ext uri="{D42A27DB-BD31-4B8C-83A1-F6EECF244321}">
                <p14:modId xmlns:p14="http://schemas.microsoft.com/office/powerpoint/2010/main" val="1304329654"/>
              </p:ext>
            </p:extLst>
          </p:nvPr>
        </p:nvGraphicFramePr>
        <p:xfrm>
          <a:off x="2945081" y="1861476"/>
          <a:ext cx="8826293" cy="4865211"/>
        </p:xfrm>
        <a:graphic>
          <a:graphicData uri="http://schemas.openxmlformats.org/drawingml/2006/table">
            <a:tbl>
              <a:tblPr firstRow="1" firstCol="1" bandRow="1">
                <a:tableStyleId>{5C22544A-7EE6-4342-B048-85BDC9FD1C3A}</a:tableStyleId>
              </a:tblPr>
              <a:tblGrid>
                <a:gridCol w="1105924">
                  <a:extLst>
                    <a:ext uri="{9D8B030D-6E8A-4147-A177-3AD203B41FA5}">
                      <a16:colId xmlns:a16="http://schemas.microsoft.com/office/drawing/2014/main" val="904459455"/>
                    </a:ext>
                  </a:extLst>
                </a:gridCol>
                <a:gridCol w="1208464">
                  <a:extLst>
                    <a:ext uri="{9D8B030D-6E8A-4147-A177-3AD203B41FA5}">
                      <a16:colId xmlns:a16="http://schemas.microsoft.com/office/drawing/2014/main" val="622417607"/>
                    </a:ext>
                  </a:extLst>
                </a:gridCol>
                <a:gridCol w="1362968">
                  <a:extLst>
                    <a:ext uri="{9D8B030D-6E8A-4147-A177-3AD203B41FA5}">
                      <a16:colId xmlns:a16="http://schemas.microsoft.com/office/drawing/2014/main" val="2730901410"/>
                    </a:ext>
                  </a:extLst>
                </a:gridCol>
                <a:gridCol w="990653">
                  <a:extLst>
                    <a:ext uri="{9D8B030D-6E8A-4147-A177-3AD203B41FA5}">
                      <a16:colId xmlns:a16="http://schemas.microsoft.com/office/drawing/2014/main" val="3526940050"/>
                    </a:ext>
                  </a:extLst>
                </a:gridCol>
                <a:gridCol w="1177539">
                  <a:extLst>
                    <a:ext uri="{9D8B030D-6E8A-4147-A177-3AD203B41FA5}">
                      <a16:colId xmlns:a16="http://schemas.microsoft.com/office/drawing/2014/main" val="793982663"/>
                    </a:ext>
                  </a:extLst>
                </a:gridCol>
                <a:gridCol w="1240890">
                  <a:extLst>
                    <a:ext uri="{9D8B030D-6E8A-4147-A177-3AD203B41FA5}">
                      <a16:colId xmlns:a16="http://schemas.microsoft.com/office/drawing/2014/main" val="1695234187"/>
                    </a:ext>
                  </a:extLst>
                </a:gridCol>
                <a:gridCol w="848501">
                  <a:extLst>
                    <a:ext uri="{9D8B030D-6E8A-4147-A177-3AD203B41FA5}">
                      <a16:colId xmlns:a16="http://schemas.microsoft.com/office/drawing/2014/main" val="1104562542"/>
                    </a:ext>
                  </a:extLst>
                </a:gridCol>
                <a:gridCol w="891354">
                  <a:extLst>
                    <a:ext uri="{9D8B030D-6E8A-4147-A177-3AD203B41FA5}">
                      <a16:colId xmlns:a16="http://schemas.microsoft.com/office/drawing/2014/main" val="3674074528"/>
                    </a:ext>
                  </a:extLst>
                </a:gridCol>
              </a:tblGrid>
              <a:tr h="53411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kern="100" dirty="0">
                          <a:effectLst/>
                        </a:rPr>
                        <a:t>Dependent Variable</a:t>
                      </a: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nchor="ctr"/>
                </a:tc>
                <a:tc gridSpan="7">
                  <a:txBody>
                    <a:bodyPr/>
                    <a:lstStyle/>
                    <a:p>
                      <a:pPr marL="0" marR="0" algn="ctr">
                        <a:spcBef>
                          <a:spcPts val="0"/>
                        </a:spcBef>
                        <a:spcAft>
                          <a:spcPts val="0"/>
                        </a:spcAft>
                      </a:pPr>
                      <a:r>
                        <a:rPr lang="en-US" sz="1600" kern="100" dirty="0">
                          <a:effectLst/>
                        </a:rPr>
                        <a:t>Independent Variables / Predictors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8188729"/>
                  </a:ext>
                </a:extLst>
              </a:tr>
              <a:tr h="692338">
                <a:tc rowSpan="10">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kern="100" dirty="0">
                          <a:solidFill>
                            <a:schemeClr val="tx1"/>
                          </a:solidFill>
                          <a:effectLst/>
                        </a:rPr>
                        <a:t>Rating</a:t>
                      </a:r>
                      <a:endParaRPr lang="en-US" sz="1200" kern="100" dirty="0">
                        <a:effectLst/>
                      </a:endParaRPr>
                    </a:p>
                  </a:txBody>
                  <a:tcPr marL="55066" marR="55066" marT="0" marB="0" anchor="ctr">
                    <a:solidFill>
                      <a:srgbClr val="FFFF00"/>
                    </a:solidFill>
                  </a:tcPr>
                </a:tc>
                <a:tc>
                  <a:txBody>
                    <a:bodyPr/>
                    <a:lstStyle/>
                    <a:p>
                      <a:pPr marL="0" marR="0" algn="ctr">
                        <a:spcBef>
                          <a:spcPts val="0"/>
                        </a:spcBef>
                        <a:spcAft>
                          <a:spcPts val="0"/>
                        </a:spcAft>
                      </a:pPr>
                      <a:r>
                        <a:rPr lang="en-US" sz="1200" b="1" kern="100" dirty="0">
                          <a:effectLst/>
                        </a:rPr>
                        <a:t>Liquidity Measurement  Ratios (4)</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tc>
                  <a:txBody>
                    <a:bodyPr/>
                    <a:lstStyle/>
                    <a:p>
                      <a:pPr marL="0" marR="0" algn="ctr">
                        <a:spcBef>
                          <a:spcPts val="0"/>
                        </a:spcBef>
                        <a:spcAft>
                          <a:spcPts val="0"/>
                        </a:spcAft>
                      </a:pPr>
                      <a:r>
                        <a:rPr lang="en-US" sz="1200" b="1" kern="100" dirty="0">
                          <a:effectLst/>
                        </a:rPr>
                        <a:t>Profitability Indicator Ratios (9)</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tc>
                  <a:txBody>
                    <a:bodyPr/>
                    <a:lstStyle/>
                    <a:p>
                      <a:pPr marL="0" marR="0" algn="ctr">
                        <a:spcBef>
                          <a:spcPts val="0"/>
                        </a:spcBef>
                        <a:spcAft>
                          <a:spcPts val="0"/>
                        </a:spcAft>
                      </a:pPr>
                      <a:r>
                        <a:rPr lang="en-US" sz="1200" b="1" kern="100" dirty="0">
                          <a:effectLst/>
                        </a:rPr>
                        <a:t>Debt Ratios</a:t>
                      </a:r>
                    </a:p>
                    <a:p>
                      <a:pPr marL="0" marR="0" algn="ctr">
                        <a:spcBef>
                          <a:spcPts val="0"/>
                        </a:spcBef>
                        <a:spcAft>
                          <a:spcPts val="0"/>
                        </a:spcAft>
                      </a:pPr>
                      <a:r>
                        <a:rPr lang="en-US" sz="1200" b="1" kern="100" dirty="0">
                          <a:effectLst/>
                        </a:rPr>
                        <a:t>(3)</a:t>
                      </a:r>
                    </a:p>
                    <a:p>
                      <a:pPr marL="0" marR="0" algn="ctr">
                        <a:spcBef>
                          <a:spcPts val="0"/>
                        </a:spcBef>
                        <a:spcAft>
                          <a:spcPts val="0"/>
                        </a:spcAft>
                      </a:pPr>
                      <a:r>
                        <a:rPr lang="en-US" sz="1200" b="1" kern="100" dirty="0">
                          <a:effectLst/>
                        </a:rPr>
                        <a:t> </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tc>
                  <a:txBody>
                    <a:bodyPr/>
                    <a:lstStyle/>
                    <a:p>
                      <a:pPr marL="0" marR="0" algn="ctr">
                        <a:spcBef>
                          <a:spcPts val="0"/>
                        </a:spcBef>
                        <a:spcAft>
                          <a:spcPts val="0"/>
                        </a:spcAft>
                      </a:pPr>
                      <a:r>
                        <a:rPr lang="en-US" sz="1200" b="1" kern="100" dirty="0">
                          <a:effectLst/>
                        </a:rPr>
                        <a:t>Operating Performance Ratios (3)</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tc>
                  <a:txBody>
                    <a:bodyPr/>
                    <a:lstStyle/>
                    <a:p>
                      <a:pPr marL="0" marR="0" algn="ctr">
                        <a:spcBef>
                          <a:spcPts val="0"/>
                        </a:spcBef>
                        <a:spcAft>
                          <a:spcPts val="0"/>
                        </a:spcAft>
                      </a:pPr>
                      <a:r>
                        <a:rPr lang="en-US" sz="1200" b="1" kern="100" dirty="0">
                          <a:effectLst/>
                        </a:rPr>
                        <a:t>Cash Flow Indicator Ratios (5)</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tc>
                  <a:txBody>
                    <a:bodyPr/>
                    <a:lstStyle/>
                    <a:p>
                      <a:pPr marL="0" marR="0" algn="ctr">
                        <a:spcBef>
                          <a:spcPts val="0"/>
                        </a:spcBef>
                        <a:spcAft>
                          <a:spcPts val="0"/>
                        </a:spcAft>
                      </a:pPr>
                      <a:r>
                        <a:rPr lang="en-US" sz="1200" b="1" kern="100" dirty="0">
                          <a:effectLst/>
                        </a:rPr>
                        <a:t>Valuation Ratios (1)</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tc>
                  <a:txBody>
                    <a:bodyPr/>
                    <a:lstStyle/>
                    <a:p>
                      <a:pPr marL="0" marR="0" algn="ctr">
                        <a:spcBef>
                          <a:spcPts val="0"/>
                        </a:spcBef>
                        <a:spcAft>
                          <a:spcPts val="0"/>
                        </a:spcAft>
                      </a:pPr>
                      <a:r>
                        <a:rPr lang="en-US" sz="1200" b="1" kern="100" dirty="0">
                          <a:effectLst/>
                        </a:rPr>
                        <a:t>Other Variables</a:t>
                      </a:r>
                    </a:p>
                    <a:p>
                      <a:pPr marL="0" marR="0" algn="ctr">
                        <a:spcBef>
                          <a:spcPts val="0"/>
                        </a:spcBef>
                        <a:spcAft>
                          <a:spcPts val="0"/>
                        </a:spcAft>
                      </a:pPr>
                      <a:r>
                        <a:rPr lang="en-US" sz="1200" b="1" kern="100" dirty="0">
                          <a:effectLst/>
                        </a:rPr>
                        <a:t>(5)</a:t>
                      </a:r>
                      <a:endParaRPr lang="en-US" sz="12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solidFill>
                      <a:srgbClr val="FFC000"/>
                    </a:solidFill>
                  </a:tcPr>
                </a:tc>
                <a:extLst>
                  <a:ext uri="{0D108BD9-81ED-4DB2-BD59-A6C34878D82A}">
                    <a16:rowId xmlns:a16="http://schemas.microsoft.com/office/drawing/2014/main" val="2654464420"/>
                  </a:ext>
                </a:extLst>
              </a:tr>
              <a:tr h="519253">
                <a:tc vMerge="1">
                  <a:txBody>
                    <a:bodyPr/>
                    <a:lstStyle/>
                    <a:p>
                      <a:pPr marL="0" marR="0" algn="ctr">
                        <a:spcBef>
                          <a:spcPts val="0"/>
                        </a:spcBef>
                        <a:spcAft>
                          <a:spcPts val="0"/>
                        </a:spcAft>
                      </a:pP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Current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Gross Profit Margin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Debt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Asset Turnover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Operating Cash Flow Per Share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Enterprise Value Multiple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Name</a:t>
                      </a:r>
                    </a:p>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691483096"/>
                  </a:ext>
                </a:extLst>
              </a:tr>
              <a:tr h="519253">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Quick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Operating Profit Margin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Debt Equity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Fixed Asset Turnover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Free Cash Flow Per Share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Symbol </a:t>
                      </a:r>
                    </a:p>
                    <a:p>
                      <a:pPr marL="0" marR="0" algn="ctr">
                        <a:spcBef>
                          <a:spcPts val="0"/>
                        </a:spcBef>
                        <a:spcAft>
                          <a:spcPts val="0"/>
                        </a:spcAft>
                      </a:pPr>
                      <a:r>
                        <a:rPr lang="en-US" sz="1200" kern="100" dirty="0">
                          <a:effectLst/>
                        </a:rPr>
                        <a:t>(for trading)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2788341257"/>
                  </a:ext>
                </a:extLst>
              </a:tr>
              <a:tr h="519253">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Cash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Pretax Profit Margin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Company Equity Multiplier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Payables Turnover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Cash Per Share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Agency Name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3790383057"/>
                  </a:ext>
                </a:extLst>
              </a:tr>
              <a:tr h="424795">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Days Of Sales Outstanding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Net Profit Margin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Operating Cash Flow Sales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Date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854423283"/>
                  </a:ext>
                </a:extLst>
              </a:tr>
              <a:tr h="556349">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Effective Tax Rate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Free Cash Flow Operating Cash Flow Ratio</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Sector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10897077"/>
                  </a:ext>
                </a:extLst>
              </a:tr>
              <a:tr h="191906">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Return On Assets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2580795977"/>
                  </a:ext>
                </a:extLst>
              </a:tr>
              <a:tr h="200220">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Return On Equity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1046355687"/>
                  </a:ext>
                </a:extLst>
              </a:tr>
              <a:tr h="346169">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Return On Capital Employed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2392574012"/>
                  </a:ext>
                </a:extLst>
              </a:tr>
              <a:tr h="283198">
                <a:tc vMerge="1">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Ebit Per Revenue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a:effectLst/>
                        </a:rPr>
                        <a:t> </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tc>
                  <a:txBody>
                    <a:bodyPr/>
                    <a:lstStyle/>
                    <a:p>
                      <a:pPr marL="0" marR="0" algn="ctr">
                        <a:spcBef>
                          <a:spcPts val="0"/>
                        </a:spcBef>
                        <a:spcAft>
                          <a:spcPts val="0"/>
                        </a:spcAft>
                      </a:pPr>
                      <a:r>
                        <a:rPr lang="en-US" sz="1200" kern="100" dirty="0">
                          <a:effectLst/>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5066" marR="55066" marT="0" marB="0"/>
                </a:tc>
                <a:extLst>
                  <a:ext uri="{0D108BD9-81ED-4DB2-BD59-A6C34878D82A}">
                    <a16:rowId xmlns:a16="http://schemas.microsoft.com/office/drawing/2014/main" val="1597756863"/>
                  </a:ext>
                </a:extLst>
              </a:tr>
            </a:tbl>
          </a:graphicData>
        </a:graphic>
      </p:graphicFrame>
      <p:sp>
        <p:nvSpPr>
          <p:cNvPr id="6" name="TextBox 5">
            <a:extLst>
              <a:ext uri="{FF2B5EF4-FFF2-40B4-BE49-F238E27FC236}">
                <a16:creationId xmlns:a16="http://schemas.microsoft.com/office/drawing/2014/main" id="{7232B889-12FD-B6B8-C31B-5359465A69D1}"/>
              </a:ext>
            </a:extLst>
          </p:cNvPr>
          <p:cNvSpPr txBox="1"/>
          <p:nvPr/>
        </p:nvSpPr>
        <p:spPr>
          <a:xfrm>
            <a:off x="315684" y="6155844"/>
            <a:ext cx="2676424" cy="646331"/>
          </a:xfrm>
          <a:prstGeom prst="rect">
            <a:avLst/>
          </a:prstGeom>
          <a:noFill/>
        </p:spPr>
        <p:txBody>
          <a:bodyPr wrap="square">
            <a:spAutoFit/>
          </a:bodyPr>
          <a:lstStyle/>
          <a:p>
            <a:pPr marL="0" indent="0" fontAlgn="base">
              <a:buNone/>
            </a:pPr>
            <a:r>
              <a:rPr lang="en-US" sz="1200" b="0" i="1" u="sng" dirty="0">
                <a:solidFill>
                  <a:srgbClr val="3C4043"/>
                </a:solidFill>
                <a:effectLst/>
                <a:latin typeface="inherit"/>
              </a:rPr>
              <a:t>Source:</a:t>
            </a:r>
            <a:r>
              <a:rPr lang="en-US" sz="1200" b="0" i="1" dirty="0">
                <a:solidFill>
                  <a:srgbClr val="3C4043"/>
                </a:solidFill>
                <a:effectLst/>
                <a:latin typeface="inherit"/>
              </a:rPr>
              <a:t> https://</a:t>
            </a:r>
            <a:r>
              <a:rPr lang="en-US" sz="1200" b="0" i="1" dirty="0" err="1">
                <a:solidFill>
                  <a:srgbClr val="3C4043"/>
                </a:solidFill>
                <a:effectLst/>
                <a:latin typeface="inherit"/>
              </a:rPr>
              <a:t>www.kaggle.com</a:t>
            </a:r>
            <a:r>
              <a:rPr lang="en-US" sz="1200" b="0" i="1" dirty="0">
                <a:solidFill>
                  <a:srgbClr val="3C4043"/>
                </a:solidFill>
                <a:effectLst/>
                <a:latin typeface="inherit"/>
              </a:rPr>
              <a:t>/datasets/</a:t>
            </a:r>
            <a:r>
              <a:rPr lang="en-US" sz="1200" b="0" i="1" dirty="0" err="1">
                <a:solidFill>
                  <a:srgbClr val="3C4043"/>
                </a:solidFill>
                <a:effectLst/>
                <a:latin typeface="inherit"/>
              </a:rPr>
              <a:t>agewerc</a:t>
            </a:r>
            <a:r>
              <a:rPr lang="en-US" sz="1200" b="0" i="1" dirty="0">
                <a:solidFill>
                  <a:srgbClr val="3C4043"/>
                </a:solidFill>
                <a:effectLst/>
                <a:latin typeface="inherit"/>
              </a:rPr>
              <a:t>/corporate-credit-rating/data</a:t>
            </a:r>
          </a:p>
        </p:txBody>
      </p:sp>
    </p:spTree>
    <p:extLst>
      <p:ext uri="{BB962C8B-B14F-4D97-AF65-F5344CB8AC3E}">
        <p14:creationId xmlns:p14="http://schemas.microsoft.com/office/powerpoint/2010/main" val="1508053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9D25C-97E8-89CD-C849-12F7D60632C6}"/>
              </a:ext>
            </a:extLst>
          </p:cNvPr>
          <p:cNvSpPr>
            <a:spLocks noGrp="1"/>
          </p:cNvSpPr>
          <p:nvPr>
            <p:ph type="title"/>
          </p:nvPr>
        </p:nvSpPr>
        <p:spPr/>
        <p:txBody>
          <a:bodyPr/>
          <a:lstStyle/>
          <a:p>
            <a:r>
              <a:rPr lang="en-US" dirty="0"/>
              <a:t>MODEL DEVELOPMENT PROCESS</a:t>
            </a:r>
          </a:p>
        </p:txBody>
      </p:sp>
      <p:sp>
        <p:nvSpPr>
          <p:cNvPr id="4" name="Rectangle 3">
            <a:extLst>
              <a:ext uri="{FF2B5EF4-FFF2-40B4-BE49-F238E27FC236}">
                <a16:creationId xmlns:a16="http://schemas.microsoft.com/office/drawing/2014/main" id="{BC0294AA-CE26-9B01-9BA4-C13F4E333038}"/>
              </a:ext>
            </a:extLst>
          </p:cNvPr>
          <p:cNvSpPr/>
          <p:nvPr/>
        </p:nvSpPr>
        <p:spPr>
          <a:xfrm>
            <a:off x="451944" y="2099127"/>
            <a:ext cx="1981069" cy="560796"/>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Preprocessing/EDA</a:t>
            </a:r>
          </a:p>
        </p:txBody>
      </p:sp>
      <p:sp>
        <p:nvSpPr>
          <p:cNvPr id="5" name="Rectangle 4">
            <a:extLst>
              <a:ext uri="{FF2B5EF4-FFF2-40B4-BE49-F238E27FC236}">
                <a16:creationId xmlns:a16="http://schemas.microsoft.com/office/drawing/2014/main" id="{F611353E-A092-9422-36BE-5E78DABBA8B6}"/>
              </a:ext>
            </a:extLst>
          </p:cNvPr>
          <p:cNvSpPr/>
          <p:nvPr/>
        </p:nvSpPr>
        <p:spPr>
          <a:xfrm>
            <a:off x="2846373" y="2103357"/>
            <a:ext cx="6594287" cy="560796"/>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Modelling</a:t>
            </a:r>
          </a:p>
        </p:txBody>
      </p:sp>
      <p:sp>
        <p:nvSpPr>
          <p:cNvPr id="6" name="Rectangle 5">
            <a:extLst>
              <a:ext uri="{FF2B5EF4-FFF2-40B4-BE49-F238E27FC236}">
                <a16:creationId xmlns:a16="http://schemas.microsoft.com/office/drawing/2014/main" id="{C3AEEDED-98C5-DA43-9338-1C5C07E2ADF7}"/>
              </a:ext>
            </a:extLst>
          </p:cNvPr>
          <p:cNvSpPr/>
          <p:nvPr/>
        </p:nvSpPr>
        <p:spPr>
          <a:xfrm>
            <a:off x="9989126" y="2099127"/>
            <a:ext cx="1729908" cy="560796"/>
          </a:xfrm>
          <a:prstGeom prst="rect">
            <a:avLst/>
          </a:prstGeom>
          <a:solidFill>
            <a:schemeClr val="tx1"/>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Assessment of Results</a:t>
            </a:r>
          </a:p>
        </p:txBody>
      </p:sp>
      <p:sp>
        <p:nvSpPr>
          <p:cNvPr id="7" name="Right Arrow 6">
            <a:extLst>
              <a:ext uri="{FF2B5EF4-FFF2-40B4-BE49-F238E27FC236}">
                <a16:creationId xmlns:a16="http://schemas.microsoft.com/office/drawing/2014/main" id="{0E1B2F4E-3C3E-BCF7-807F-74A970E78AC0}"/>
              </a:ext>
            </a:extLst>
          </p:cNvPr>
          <p:cNvSpPr/>
          <p:nvPr/>
        </p:nvSpPr>
        <p:spPr>
          <a:xfrm>
            <a:off x="9645675" y="2301876"/>
            <a:ext cx="210214" cy="171863"/>
          </a:xfrm>
          <a:prstGeom prst="rightArrow">
            <a:avLst/>
          </a:prstGeom>
          <a:solidFill>
            <a:schemeClr val="accent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8D24D4CE-A1FF-FA5D-BB89-AC2504303E88}"/>
              </a:ext>
            </a:extLst>
          </p:cNvPr>
          <p:cNvSpPr/>
          <p:nvPr/>
        </p:nvSpPr>
        <p:spPr>
          <a:xfrm>
            <a:off x="2566250" y="2293593"/>
            <a:ext cx="210214" cy="171863"/>
          </a:xfrm>
          <a:prstGeom prst="rightArrow">
            <a:avLst/>
          </a:prstGeom>
          <a:solidFill>
            <a:schemeClr val="accent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F2CEC58-F571-80C0-03D3-B501D1F8CDAF}"/>
              </a:ext>
            </a:extLst>
          </p:cNvPr>
          <p:cNvSpPr/>
          <p:nvPr/>
        </p:nvSpPr>
        <p:spPr>
          <a:xfrm>
            <a:off x="2846375" y="3241866"/>
            <a:ext cx="2692222" cy="41414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Logistic Regression</a:t>
            </a:r>
          </a:p>
        </p:txBody>
      </p:sp>
      <p:sp>
        <p:nvSpPr>
          <p:cNvPr id="12" name="Right Brace 11">
            <a:extLst>
              <a:ext uri="{FF2B5EF4-FFF2-40B4-BE49-F238E27FC236}">
                <a16:creationId xmlns:a16="http://schemas.microsoft.com/office/drawing/2014/main" id="{8564A353-E049-2850-661F-A8461EC8BC83}"/>
              </a:ext>
            </a:extLst>
          </p:cNvPr>
          <p:cNvSpPr/>
          <p:nvPr/>
        </p:nvSpPr>
        <p:spPr>
          <a:xfrm>
            <a:off x="5528156" y="3135031"/>
            <a:ext cx="567944" cy="339573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ectangle 12">
            <a:extLst>
              <a:ext uri="{FF2B5EF4-FFF2-40B4-BE49-F238E27FC236}">
                <a16:creationId xmlns:a16="http://schemas.microsoft.com/office/drawing/2014/main" id="{ABCE576D-FB9A-F503-CDF0-9D87501638D2}"/>
              </a:ext>
            </a:extLst>
          </p:cNvPr>
          <p:cNvSpPr/>
          <p:nvPr/>
        </p:nvSpPr>
        <p:spPr>
          <a:xfrm>
            <a:off x="2846374" y="3917111"/>
            <a:ext cx="2692222" cy="41414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KNN</a:t>
            </a:r>
          </a:p>
        </p:txBody>
      </p:sp>
      <p:sp>
        <p:nvSpPr>
          <p:cNvPr id="14" name="Rectangle 13">
            <a:extLst>
              <a:ext uri="{FF2B5EF4-FFF2-40B4-BE49-F238E27FC236}">
                <a16:creationId xmlns:a16="http://schemas.microsoft.com/office/drawing/2014/main" id="{07EFBE7A-C71F-8D55-E070-5EBC01FBA4C9}"/>
              </a:ext>
            </a:extLst>
          </p:cNvPr>
          <p:cNvSpPr/>
          <p:nvPr/>
        </p:nvSpPr>
        <p:spPr>
          <a:xfrm>
            <a:off x="2846373" y="4583089"/>
            <a:ext cx="2692222" cy="41414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LDA</a:t>
            </a:r>
          </a:p>
        </p:txBody>
      </p:sp>
      <p:sp>
        <p:nvSpPr>
          <p:cNvPr id="15" name="Rectangle 14">
            <a:extLst>
              <a:ext uri="{FF2B5EF4-FFF2-40B4-BE49-F238E27FC236}">
                <a16:creationId xmlns:a16="http://schemas.microsoft.com/office/drawing/2014/main" id="{6BE6BCA9-BB85-1935-6F8D-16A6212720C1}"/>
              </a:ext>
            </a:extLst>
          </p:cNvPr>
          <p:cNvSpPr/>
          <p:nvPr/>
        </p:nvSpPr>
        <p:spPr>
          <a:xfrm>
            <a:off x="2846373" y="5268501"/>
            <a:ext cx="2692222" cy="41414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Gradient Boosting</a:t>
            </a:r>
          </a:p>
        </p:txBody>
      </p:sp>
      <p:sp>
        <p:nvSpPr>
          <p:cNvPr id="16" name="Rectangle 15">
            <a:extLst>
              <a:ext uri="{FF2B5EF4-FFF2-40B4-BE49-F238E27FC236}">
                <a16:creationId xmlns:a16="http://schemas.microsoft.com/office/drawing/2014/main" id="{273798E6-BF43-5E01-FFFD-94E795D08E7C}"/>
              </a:ext>
            </a:extLst>
          </p:cNvPr>
          <p:cNvSpPr/>
          <p:nvPr/>
        </p:nvSpPr>
        <p:spPr>
          <a:xfrm>
            <a:off x="2846373" y="5924312"/>
            <a:ext cx="2692222" cy="41414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Random Forest</a:t>
            </a:r>
          </a:p>
        </p:txBody>
      </p:sp>
      <p:sp>
        <p:nvSpPr>
          <p:cNvPr id="17" name="Rectangle 16">
            <a:extLst>
              <a:ext uri="{FF2B5EF4-FFF2-40B4-BE49-F238E27FC236}">
                <a16:creationId xmlns:a16="http://schemas.microsoft.com/office/drawing/2014/main" id="{185AA520-C542-8A29-620D-09079697E654}"/>
              </a:ext>
            </a:extLst>
          </p:cNvPr>
          <p:cNvSpPr/>
          <p:nvPr/>
        </p:nvSpPr>
        <p:spPr>
          <a:xfrm>
            <a:off x="451944" y="3119361"/>
            <a:ext cx="1981069" cy="485075"/>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Missing Values/Outliers</a:t>
            </a:r>
          </a:p>
        </p:txBody>
      </p:sp>
      <p:sp>
        <p:nvSpPr>
          <p:cNvPr id="18" name="Rectangle 17">
            <a:extLst>
              <a:ext uri="{FF2B5EF4-FFF2-40B4-BE49-F238E27FC236}">
                <a16:creationId xmlns:a16="http://schemas.microsoft.com/office/drawing/2014/main" id="{10A6AEED-8599-D209-360F-264E5C510020}"/>
              </a:ext>
            </a:extLst>
          </p:cNvPr>
          <p:cNvSpPr/>
          <p:nvPr/>
        </p:nvSpPr>
        <p:spPr>
          <a:xfrm>
            <a:off x="451944" y="4234303"/>
            <a:ext cx="1970203" cy="385906"/>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Collinearity</a:t>
            </a:r>
          </a:p>
        </p:txBody>
      </p:sp>
      <p:sp>
        <p:nvSpPr>
          <p:cNvPr id="20" name="Rectangle 19">
            <a:extLst>
              <a:ext uri="{FF2B5EF4-FFF2-40B4-BE49-F238E27FC236}">
                <a16:creationId xmlns:a16="http://schemas.microsoft.com/office/drawing/2014/main" id="{34EC3F92-F17B-AD93-139F-2148E62F8C64}"/>
              </a:ext>
            </a:extLst>
          </p:cNvPr>
          <p:cNvSpPr/>
          <p:nvPr/>
        </p:nvSpPr>
        <p:spPr>
          <a:xfrm>
            <a:off x="441078" y="3769292"/>
            <a:ext cx="1981069" cy="29664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Transformations</a:t>
            </a:r>
          </a:p>
        </p:txBody>
      </p:sp>
      <p:sp>
        <p:nvSpPr>
          <p:cNvPr id="21" name="Rectangle 20">
            <a:extLst>
              <a:ext uri="{FF2B5EF4-FFF2-40B4-BE49-F238E27FC236}">
                <a16:creationId xmlns:a16="http://schemas.microsoft.com/office/drawing/2014/main" id="{10691715-0523-4C77-20A2-76BADDBED74A}"/>
              </a:ext>
            </a:extLst>
          </p:cNvPr>
          <p:cNvSpPr/>
          <p:nvPr/>
        </p:nvSpPr>
        <p:spPr>
          <a:xfrm>
            <a:off x="2837554" y="2769330"/>
            <a:ext cx="3132685" cy="280320"/>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Feature Selection/Model Fitting</a:t>
            </a:r>
          </a:p>
        </p:txBody>
      </p:sp>
      <p:sp>
        <p:nvSpPr>
          <p:cNvPr id="22" name="Rectangle 21">
            <a:extLst>
              <a:ext uri="{FF2B5EF4-FFF2-40B4-BE49-F238E27FC236}">
                <a16:creationId xmlns:a16="http://schemas.microsoft.com/office/drawing/2014/main" id="{178D71FE-A431-20F4-C6F2-A58731E153EA}"/>
              </a:ext>
            </a:extLst>
          </p:cNvPr>
          <p:cNvSpPr/>
          <p:nvPr/>
        </p:nvSpPr>
        <p:spPr>
          <a:xfrm>
            <a:off x="5970239" y="2779265"/>
            <a:ext cx="1875071" cy="266948"/>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Parameter Tuning</a:t>
            </a:r>
          </a:p>
        </p:txBody>
      </p:sp>
      <p:sp>
        <p:nvSpPr>
          <p:cNvPr id="23" name="Rectangle 22">
            <a:extLst>
              <a:ext uri="{FF2B5EF4-FFF2-40B4-BE49-F238E27FC236}">
                <a16:creationId xmlns:a16="http://schemas.microsoft.com/office/drawing/2014/main" id="{AD35EA37-8388-DACA-8A1E-DAD422D79843}"/>
              </a:ext>
            </a:extLst>
          </p:cNvPr>
          <p:cNvSpPr/>
          <p:nvPr/>
        </p:nvSpPr>
        <p:spPr>
          <a:xfrm>
            <a:off x="10061863" y="4148642"/>
            <a:ext cx="1520658" cy="436902"/>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Best Model</a:t>
            </a:r>
          </a:p>
        </p:txBody>
      </p:sp>
      <p:sp>
        <p:nvSpPr>
          <p:cNvPr id="24" name="Rectangle 23">
            <a:extLst>
              <a:ext uri="{FF2B5EF4-FFF2-40B4-BE49-F238E27FC236}">
                <a16:creationId xmlns:a16="http://schemas.microsoft.com/office/drawing/2014/main" id="{52BD83F5-2C1B-E52A-A88C-97A18A30A054}"/>
              </a:ext>
            </a:extLst>
          </p:cNvPr>
          <p:cNvSpPr/>
          <p:nvPr/>
        </p:nvSpPr>
        <p:spPr>
          <a:xfrm>
            <a:off x="10082645" y="4985478"/>
            <a:ext cx="1520658" cy="468313"/>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Enhancements</a:t>
            </a:r>
          </a:p>
        </p:txBody>
      </p:sp>
      <p:cxnSp>
        <p:nvCxnSpPr>
          <p:cNvPr id="26" name="Straight Connector 25">
            <a:extLst>
              <a:ext uri="{FF2B5EF4-FFF2-40B4-BE49-F238E27FC236}">
                <a16:creationId xmlns:a16="http://schemas.microsoft.com/office/drawing/2014/main" id="{17DB9606-7745-B337-2F4F-06199C4C9566}"/>
              </a:ext>
            </a:extLst>
          </p:cNvPr>
          <p:cNvCxnSpPr>
            <a:cxnSpLocks/>
          </p:cNvCxnSpPr>
          <p:nvPr/>
        </p:nvCxnSpPr>
        <p:spPr>
          <a:xfrm>
            <a:off x="451944" y="2762428"/>
            <a:ext cx="11267090"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86E66E9-5EF0-1B2C-E777-ECEC18EFDE85}"/>
              </a:ext>
            </a:extLst>
          </p:cNvPr>
          <p:cNvSpPr/>
          <p:nvPr/>
        </p:nvSpPr>
        <p:spPr>
          <a:xfrm>
            <a:off x="7918220" y="2762427"/>
            <a:ext cx="1522439" cy="289126"/>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Oversampling</a:t>
            </a:r>
          </a:p>
        </p:txBody>
      </p:sp>
      <p:sp>
        <p:nvSpPr>
          <p:cNvPr id="9" name="Rectangle 8">
            <a:extLst>
              <a:ext uri="{FF2B5EF4-FFF2-40B4-BE49-F238E27FC236}">
                <a16:creationId xmlns:a16="http://schemas.microsoft.com/office/drawing/2014/main" id="{36C06E40-C57C-3265-430F-02CB8D42C9FA}"/>
              </a:ext>
            </a:extLst>
          </p:cNvPr>
          <p:cNvSpPr/>
          <p:nvPr/>
        </p:nvSpPr>
        <p:spPr>
          <a:xfrm>
            <a:off x="8083403" y="4486515"/>
            <a:ext cx="1271043" cy="560795"/>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SMOTE</a:t>
            </a:r>
          </a:p>
        </p:txBody>
      </p:sp>
      <p:sp>
        <p:nvSpPr>
          <p:cNvPr id="10" name="Rectangle 9">
            <a:extLst>
              <a:ext uri="{FF2B5EF4-FFF2-40B4-BE49-F238E27FC236}">
                <a16:creationId xmlns:a16="http://schemas.microsoft.com/office/drawing/2014/main" id="{AB9FD9D6-083A-D5A5-5D9F-03FFEFA9B57B}"/>
              </a:ext>
            </a:extLst>
          </p:cNvPr>
          <p:cNvSpPr/>
          <p:nvPr/>
        </p:nvSpPr>
        <p:spPr>
          <a:xfrm>
            <a:off x="6293407" y="4486514"/>
            <a:ext cx="1271043" cy="560795"/>
          </a:xfrm>
          <a:prstGeom prst="rect">
            <a:avLst/>
          </a:prstGeom>
          <a:solidFill>
            <a:schemeClr val="accent1">
              <a:lumMod val="90000"/>
              <a:lumOff val="1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Grid Search</a:t>
            </a:r>
          </a:p>
        </p:txBody>
      </p:sp>
    </p:spTree>
    <p:extLst>
      <p:ext uri="{BB962C8B-B14F-4D97-AF65-F5344CB8AC3E}">
        <p14:creationId xmlns:p14="http://schemas.microsoft.com/office/powerpoint/2010/main" val="3073994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999D3-46FE-F1B6-E65C-0E8673120C52}"/>
              </a:ext>
            </a:extLst>
          </p:cNvPr>
          <p:cNvSpPr>
            <a:spLocks noGrp="1"/>
          </p:cNvSpPr>
          <p:nvPr>
            <p:ph type="title"/>
          </p:nvPr>
        </p:nvSpPr>
        <p:spPr/>
        <p:txBody>
          <a:bodyPr/>
          <a:lstStyle/>
          <a:p>
            <a:r>
              <a:rPr lang="en-US" dirty="0"/>
              <a:t>Exploratory DATA Analysis (Sector,  Agency name AND  Company name)</a:t>
            </a:r>
          </a:p>
        </p:txBody>
      </p:sp>
      <p:pic>
        <p:nvPicPr>
          <p:cNvPr id="5" name="Content Placeholder 4">
            <a:extLst>
              <a:ext uri="{FF2B5EF4-FFF2-40B4-BE49-F238E27FC236}">
                <a16:creationId xmlns:a16="http://schemas.microsoft.com/office/drawing/2014/main" id="{F98B2D63-98C3-EE7B-BBF1-4F4800A9096A}"/>
              </a:ext>
            </a:extLst>
          </p:cNvPr>
          <p:cNvPicPr>
            <a:picLocks noGrp="1" noChangeAspect="1"/>
          </p:cNvPicPr>
          <p:nvPr>
            <p:ph idx="1"/>
          </p:nvPr>
        </p:nvPicPr>
        <p:blipFill rotWithShape="1">
          <a:blip r:embed="rId2"/>
          <a:srcRect r="6617"/>
          <a:stretch/>
        </p:blipFill>
        <p:spPr>
          <a:xfrm>
            <a:off x="95244" y="1981028"/>
            <a:ext cx="4305309" cy="3161017"/>
          </a:xfrm>
        </p:spPr>
      </p:pic>
      <p:pic>
        <p:nvPicPr>
          <p:cNvPr id="7" name="Picture 6">
            <a:extLst>
              <a:ext uri="{FF2B5EF4-FFF2-40B4-BE49-F238E27FC236}">
                <a16:creationId xmlns:a16="http://schemas.microsoft.com/office/drawing/2014/main" id="{4D670785-7456-5292-EC79-535BF8D6DAD7}"/>
              </a:ext>
            </a:extLst>
          </p:cNvPr>
          <p:cNvPicPr>
            <a:picLocks noChangeAspect="1"/>
          </p:cNvPicPr>
          <p:nvPr/>
        </p:nvPicPr>
        <p:blipFill rotWithShape="1">
          <a:blip r:embed="rId3"/>
          <a:srcRect l="5199" t="2839" r="9961" b="5483"/>
          <a:stretch/>
        </p:blipFill>
        <p:spPr>
          <a:xfrm>
            <a:off x="4460815" y="1891290"/>
            <a:ext cx="5066524" cy="3527849"/>
          </a:xfrm>
          <a:prstGeom prst="rect">
            <a:avLst/>
          </a:prstGeom>
        </p:spPr>
      </p:pic>
      <p:pic>
        <p:nvPicPr>
          <p:cNvPr id="14" name="Picture 13">
            <a:extLst>
              <a:ext uri="{FF2B5EF4-FFF2-40B4-BE49-F238E27FC236}">
                <a16:creationId xmlns:a16="http://schemas.microsoft.com/office/drawing/2014/main" id="{99426847-1757-53AD-90DF-9D5DE0BF1700}"/>
              </a:ext>
            </a:extLst>
          </p:cNvPr>
          <p:cNvPicPr>
            <a:picLocks noChangeAspect="1"/>
          </p:cNvPicPr>
          <p:nvPr/>
        </p:nvPicPr>
        <p:blipFill rotWithShape="1">
          <a:blip r:embed="rId4"/>
          <a:srcRect t="-1105" r="11228" b="1105"/>
          <a:stretch/>
        </p:blipFill>
        <p:spPr>
          <a:xfrm>
            <a:off x="9826592" y="2112748"/>
            <a:ext cx="2023207" cy="1689100"/>
          </a:xfrm>
          <a:prstGeom prst="rect">
            <a:avLst/>
          </a:prstGeom>
        </p:spPr>
      </p:pic>
      <p:sp>
        <p:nvSpPr>
          <p:cNvPr id="3" name="Content Placeholder 2">
            <a:extLst>
              <a:ext uri="{FF2B5EF4-FFF2-40B4-BE49-F238E27FC236}">
                <a16:creationId xmlns:a16="http://schemas.microsoft.com/office/drawing/2014/main" id="{88823EC3-F60D-18BF-9C0F-A19B0A81F588}"/>
              </a:ext>
            </a:extLst>
          </p:cNvPr>
          <p:cNvSpPr txBox="1">
            <a:spLocks/>
          </p:cNvSpPr>
          <p:nvPr/>
        </p:nvSpPr>
        <p:spPr>
          <a:xfrm>
            <a:off x="995552" y="5168900"/>
            <a:ext cx="3763060" cy="16891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5 Rating Agencies: Standard &amp; Poor’s, Egan-Jones, Moody’s, Fitch, DBRS</a:t>
            </a:r>
          </a:p>
        </p:txBody>
      </p:sp>
      <p:sp>
        <p:nvSpPr>
          <p:cNvPr id="4" name="Content Placeholder 2">
            <a:extLst>
              <a:ext uri="{FF2B5EF4-FFF2-40B4-BE49-F238E27FC236}">
                <a16:creationId xmlns:a16="http://schemas.microsoft.com/office/drawing/2014/main" id="{BB720278-6962-C780-C235-F24F20FD7BA2}"/>
              </a:ext>
            </a:extLst>
          </p:cNvPr>
          <p:cNvSpPr txBox="1">
            <a:spLocks/>
          </p:cNvSpPr>
          <p:nvPr/>
        </p:nvSpPr>
        <p:spPr>
          <a:xfrm>
            <a:off x="5339686" y="5168900"/>
            <a:ext cx="3763060" cy="16891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12 Sectors:  Energy (most common), …, Finance (least common)</a:t>
            </a:r>
          </a:p>
        </p:txBody>
      </p:sp>
      <p:sp>
        <p:nvSpPr>
          <p:cNvPr id="6" name="Content Placeholder 2">
            <a:extLst>
              <a:ext uri="{FF2B5EF4-FFF2-40B4-BE49-F238E27FC236}">
                <a16:creationId xmlns:a16="http://schemas.microsoft.com/office/drawing/2014/main" id="{41D373A6-A48E-A48A-046B-9CA9776AA84D}"/>
              </a:ext>
            </a:extLst>
          </p:cNvPr>
          <p:cNvSpPr txBox="1">
            <a:spLocks/>
          </p:cNvSpPr>
          <p:nvPr/>
        </p:nvSpPr>
        <p:spPr>
          <a:xfrm>
            <a:off x="9683820" y="4906302"/>
            <a:ext cx="3763060" cy="16891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593 US companies</a:t>
            </a:r>
          </a:p>
        </p:txBody>
      </p:sp>
    </p:spTree>
    <p:extLst>
      <p:ext uri="{BB962C8B-B14F-4D97-AF65-F5344CB8AC3E}">
        <p14:creationId xmlns:p14="http://schemas.microsoft.com/office/powerpoint/2010/main" val="2394093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D52B9-01CB-2B42-47FF-D44AA0D2CED9}"/>
              </a:ext>
            </a:extLst>
          </p:cNvPr>
          <p:cNvSpPr>
            <a:spLocks noGrp="1"/>
          </p:cNvSpPr>
          <p:nvPr>
            <p:ph type="title"/>
          </p:nvPr>
        </p:nvSpPr>
        <p:spPr/>
        <p:txBody>
          <a:bodyPr/>
          <a:lstStyle/>
          <a:p>
            <a:r>
              <a:rPr lang="en-US" dirty="0"/>
              <a:t>Exploratory DATA Analysis (Rating)</a:t>
            </a:r>
          </a:p>
        </p:txBody>
      </p:sp>
      <p:pic>
        <p:nvPicPr>
          <p:cNvPr id="4" name="Content Placeholder 3">
            <a:extLst>
              <a:ext uri="{FF2B5EF4-FFF2-40B4-BE49-F238E27FC236}">
                <a16:creationId xmlns:a16="http://schemas.microsoft.com/office/drawing/2014/main" id="{27CDCB0F-2841-86A0-AFD6-9EA0D4FD95FF}"/>
              </a:ext>
            </a:extLst>
          </p:cNvPr>
          <p:cNvPicPr>
            <a:picLocks noGrp="1" noChangeAspect="1"/>
          </p:cNvPicPr>
          <p:nvPr>
            <p:ph idx="1"/>
          </p:nvPr>
        </p:nvPicPr>
        <p:blipFill rotWithShape="1">
          <a:blip r:embed="rId2"/>
          <a:srcRect l="3748" t="-538" r="14202" b="5363"/>
          <a:stretch/>
        </p:blipFill>
        <p:spPr>
          <a:xfrm>
            <a:off x="363875" y="1980442"/>
            <a:ext cx="5460263" cy="3493208"/>
          </a:xfrm>
          <a:prstGeom prst="rect">
            <a:avLst/>
          </a:prstGeom>
        </p:spPr>
      </p:pic>
      <p:pic>
        <p:nvPicPr>
          <p:cNvPr id="10" name="Picture 9">
            <a:extLst>
              <a:ext uri="{FF2B5EF4-FFF2-40B4-BE49-F238E27FC236}">
                <a16:creationId xmlns:a16="http://schemas.microsoft.com/office/drawing/2014/main" id="{FF2EF43C-79A1-7195-05EC-43B78CD16CE0}"/>
              </a:ext>
            </a:extLst>
          </p:cNvPr>
          <p:cNvPicPr>
            <a:picLocks noChangeAspect="1"/>
          </p:cNvPicPr>
          <p:nvPr/>
        </p:nvPicPr>
        <p:blipFill rotWithShape="1">
          <a:blip r:embed="rId3"/>
          <a:srcRect l="3666" r="1225"/>
          <a:stretch/>
        </p:blipFill>
        <p:spPr>
          <a:xfrm>
            <a:off x="6096000" y="1857677"/>
            <a:ext cx="5210861" cy="3311224"/>
          </a:xfrm>
          <a:prstGeom prst="rect">
            <a:avLst/>
          </a:prstGeom>
        </p:spPr>
      </p:pic>
      <p:sp>
        <p:nvSpPr>
          <p:cNvPr id="3" name="Content Placeholder 2">
            <a:extLst>
              <a:ext uri="{FF2B5EF4-FFF2-40B4-BE49-F238E27FC236}">
                <a16:creationId xmlns:a16="http://schemas.microsoft.com/office/drawing/2014/main" id="{044A8BF6-1E6C-3BC2-E212-FAC624AB25DD}"/>
              </a:ext>
            </a:extLst>
          </p:cNvPr>
          <p:cNvSpPr txBox="1">
            <a:spLocks/>
          </p:cNvSpPr>
          <p:nvPr/>
        </p:nvSpPr>
        <p:spPr>
          <a:xfrm>
            <a:off x="885139" y="5168900"/>
            <a:ext cx="4822642" cy="16891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10 Credit Rating types:  AAA, AA, A, BBB, BB, B, CCC, CC, C, D. </a:t>
            </a:r>
          </a:p>
        </p:txBody>
      </p:sp>
      <p:sp>
        <p:nvSpPr>
          <p:cNvPr id="5" name="Content Placeholder 2">
            <a:extLst>
              <a:ext uri="{FF2B5EF4-FFF2-40B4-BE49-F238E27FC236}">
                <a16:creationId xmlns:a16="http://schemas.microsoft.com/office/drawing/2014/main" id="{BB77CD4B-8E02-E29D-C1B6-B043CF62AEEF}"/>
              </a:ext>
            </a:extLst>
          </p:cNvPr>
          <p:cNvSpPr txBox="1">
            <a:spLocks/>
          </p:cNvSpPr>
          <p:nvPr/>
        </p:nvSpPr>
        <p:spPr>
          <a:xfrm>
            <a:off x="6096000" y="5168900"/>
            <a:ext cx="5107806" cy="16891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Every company in the dataset was rated by one rating agency per specific date. </a:t>
            </a:r>
          </a:p>
        </p:txBody>
      </p:sp>
    </p:spTree>
    <p:extLst>
      <p:ext uri="{BB962C8B-B14F-4D97-AF65-F5344CB8AC3E}">
        <p14:creationId xmlns:p14="http://schemas.microsoft.com/office/powerpoint/2010/main" val="721423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E227D-E3F2-E685-1C67-5F3C5A674A36}"/>
              </a:ext>
            </a:extLst>
          </p:cNvPr>
          <p:cNvSpPr>
            <a:spLocks noGrp="1"/>
          </p:cNvSpPr>
          <p:nvPr>
            <p:ph type="title"/>
          </p:nvPr>
        </p:nvSpPr>
        <p:spPr/>
        <p:txBody>
          <a:bodyPr/>
          <a:lstStyle/>
          <a:p>
            <a:r>
              <a:rPr lang="en-US" dirty="0"/>
              <a:t>Exploratory DATA Analysis (date)</a:t>
            </a:r>
          </a:p>
        </p:txBody>
      </p:sp>
      <p:pic>
        <p:nvPicPr>
          <p:cNvPr id="5" name="Picture 4">
            <a:extLst>
              <a:ext uri="{FF2B5EF4-FFF2-40B4-BE49-F238E27FC236}">
                <a16:creationId xmlns:a16="http://schemas.microsoft.com/office/drawing/2014/main" id="{F48EBD6B-EBE5-0C0C-FAD5-8E11B86BE500}"/>
              </a:ext>
            </a:extLst>
          </p:cNvPr>
          <p:cNvPicPr>
            <a:picLocks noChangeAspect="1"/>
          </p:cNvPicPr>
          <p:nvPr/>
        </p:nvPicPr>
        <p:blipFill>
          <a:blip r:embed="rId2"/>
          <a:stretch>
            <a:fillRect/>
          </a:stretch>
        </p:blipFill>
        <p:spPr>
          <a:xfrm>
            <a:off x="1696598" y="1988702"/>
            <a:ext cx="7447401" cy="4740767"/>
          </a:xfrm>
          <a:prstGeom prst="rect">
            <a:avLst/>
          </a:prstGeom>
        </p:spPr>
      </p:pic>
    </p:spTree>
    <p:extLst>
      <p:ext uri="{BB962C8B-B14F-4D97-AF65-F5344CB8AC3E}">
        <p14:creationId xmlns:p14="http://schemas.microsoft.com/office/powerpoint/2010/main" val="2426148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47C28-1EA1-339A-4179-66E44FC6482E}"/>
              </a:ext>
            </a:extLst>
          </p:cNvPr>
          <p:cNvSpPr>
            <a:spLocks noGrp="1"/>
          </p:cNvSpPr>
          <p:nvPr>
            <p:ph type="title"/>
          </p:nvPr>
        </p:nvSpPr>
        <p:spPr/>
        <p:txBody>
          <a:bodyPr/>
          <a:lstStyle/>
          <a:p>
            <a:r>
              <a:rPr lang="en-US" dirty="0"/>
              <a:t>Exploratory DATA Analysis (time dependency)</a:t>
            </a:r>
          </a:p>
        </p:txBody>
      </p:sp>
      <p:pic>
        <p:nvPicPr>
          <p:cNvPr id="5" name="Picture 4">
            <a:extLst>
              <a:ext uri="{FF2B5EF4-FFF2-40B4-BE49-F238E27FC236}">
                <a16:creationId xmlns:a16="http://schemas.microsoft.com/office/drawing/2014/main" id="{C7DC28E0-73EC-7FC2-E1E4-D26B79204A79}"/>
              </a:ext>
            </a:extLst>
          </p:cNvPr>
          <p:cNvPicPr>
            <a:picLocks noChangeAspect="1"/>
          </p:cNvPicPr>
          <p:nvPr/>
        </p:nvPicPr>
        <p:blipFill>
          <a:blip r:embed="rId2"/>
          <a:stretch>
            <a:fillRect/>
          </a:stretch>
        </p:blipFill>
        <p:spPr>
          <a:xfrm>
            <a:off x="5739789" y="1863807"/>
            <a:ext cx="6168193" cy="4292037"/>
          </a:xfrm>
          <a:prstGeom prst="rect">
            <a:avLst/>
          </a:prstGeom>
        </p:spPr>
      </p:pic>
      <p:pic>
        <p:nvPicPr>
          <p:cNvPr id="4" name="Picture 3" descr="A screenshot of a graph&#10;&#10;Description automatically generated">
            <a:extLst>
              <a:ext uri="{FF2B5EF4-FFF2-40B4-BE49-F238E27FC236}">
                <a16:creationId xmlns:a16="http://schemas.microsoft.com/office/drawing/2014/main" id="{C81AF658-57E6-65C1-31D0-F45E120057EE}"/>
              </a:ext>
            </a:extLst>
          </p:cNvPr>
          <p:cNvPicPr>
            <a:picLocks noChangeAspect="1"/>
          </p:cNvPicPr>
          <p:nvPr/>
        </p:nvPicPr>
        <p:blipFill>
          <a:blip r:embed="rId3"/>
          <a:stretch>
            <a:fillRect/>
          </a:stretch>
        </p:blipFill>
        <p:spPr>
          <a:xfrm>
            <a:off x="484207" y="1863807"/>
            <a:ext cx="5600422" cy="4246049"/>
          </a:xfrm>
          <a:prstGeom prst="rect">
            <a:avLst/>
          </a:prstGeom>
        </p:spPr>
      </p:pic>
    </p:spTree>
    <p:extLst>
      <p:ext uri="{BB962C8B-B14F-4D97-AF65-F5344CB8AC3E}">
        <p14:creationId xmlns:p14="http://schemas.microsoft.com/office/powerpoint/2010/main" val="13660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1EDB1-D97D-3EB6-94B7-6E1C9183EB09}"/>
              </a:ext>
            </a:extLst>
          </p:cNvPr>
          <p:cNvSpPr>
            <a:spLocks noGrp="1"/>
          </p:cNvSpPr>
          <p:nvPr>
            <p:ph type="title"/>
          </p:nvPr>
        </p:nvSpPr>
        <p:spPr/>
        <p:txBody>
          <a:bodyPr/>
          <a:lstStyle/>
          <a:p>
            <a:r>
              <a:rPr lang="en-US" dirty="0"/>
              <a:t>Exploratory DATA Analysis (time dependency)</a:t>
            </a:r>
          </a:p>
        </p:txBody>
      </p:sp>
      <p:pic>
        <p:nvPicPr>
          <p:cNvPr id="7" name="Picture 6">
            <a:extLst>
              <a:ext uri="{FF2B5EF4-FFF2-40B4-BE49-F238E27FC236}">
                <a16:creationId xmlns:a16="http://schemas.microsoft.com/office/drawing/2014/main" id="{B9D29F58-3997-0467-A092-087A62919F37}"/>
              </a:ext>
            </a:extLst>
          </p:cNvPr>
          <p:cNvPicPr>
            <a:picLocks noChangeAspect="1"/>
          </p:cNvPicPr>
          <p:nvPr/>
        </p:nvPicPr>
        <p:blipFill rotWithShape="1">
          <a:blip r:embed="rId2"/>
          <a:srcRect l="2271" t="6816" r="5191"/>
          <a:stretch/>
        </p:blipFill>
        <p:spPr>
          <a:xfrm>
            <a:off x="6968657" y="1883940"/>
            <a:ext cx="4642151" cy="3678238"/>
          </a:xfrm>
          <a:prstGeom prst="rect">
            <a:avLst/>
          </a:prstGeom>
        </p:spPr>
      </p:pic>
      <p:pic>
        <p:nvPicPr>
          <p:cNvPr id="6" name="Picture 5" descr="A graph with numbers and a number of dates&#10;&#10;Description automatically generated with medium confidence">
            <a:extLst>
              <a:ext uri="{FF2B5EF4-FFF2-40B4-BE49-F238E27FC236}">
                <a16:creationId xmlns:a16="http://schemas.microsoft.com/office/drawing/2014/main" id="{44086945-539A-BD8B-EB15-A54E750AC9F5}"/>
              </a:ext>
            </a:extLst>
          </p:cNvPr>
          <p:cNvPicPr>
            <a:picLocks noChangeAspect="1"/>
          </p:cNvPicPr>
          <p:nvPr/>
        </p:nvPicPr>
        <p:blipFill>
          <a:blip r:embed="rId3"/>
          <a:stretch>
            <a:fillRect/>
          </a:stretch>
        </p:blipFill>
        <p:spPr>
          <a:xfrm>
            <a:off x="524162" y="1883940"/>
            <a:ext cx="6387465" cy="3590270"/>
          </a:xfrm>
          <a:prstGeom prst="rect">
            <a:avLst/>
          </a:prstGeom>
        </p:spPr>
      </p:pic>
      <p:sp>
        <p:nvSpPr>
          <p:cNvPr id="11" name="Content Placeholder 2">
            <a:extLst>
              <a:ext uri="{FF2B5EF4-FFF2-40B4-BE49-F238E27FC236}">
                <a16:creationId xmlns:a16="http://schemas.microsoft.com/office/drawing/2014/main" id="{F9A6B12F-79F6-DDF8-9246-ED35F9D81BF0}"/>
              </a:ext>
            </a:extLst>
          </p:cNvPr>
          <p:cNvSpPr>
            <a:spLocks noGrp="1"/>
          </p:cNvSpPr>
          <p:nvPr>
            <p:ph idx="1"/>
          </p:nvPr>
        </p:nvSpPr>
        <p:spPr>
          <a:xfrm>
            <a:off x="685100" y="5440469"/>
            <a:ext cx="6387465" cy="1013801"/>
          </a:xfrm>
        </p:spPr>
        <p:txBody>
          <a:bodyPr/>
          <a:lstStyle/>
          <a:p>
            <a:r>
              <a:rPr lang="en-US" dirty="0"/>
              <a:t>Average Rating Occurrence during 2005 - 2016 period : 3.42</a:t>
            </a:r>
          </a:p>
        </p:txBody>
      </p:sp>
      <p:sp>
        <p:nvSpPr>
          <p:cNvPr id="12" name="Content Placeholder 2">
            <a:extLst>
              <a:ext uri="{FF2B5EF4-FFF2-40B4-BE49-F238E27FC236}">
                <a16:creationId xmlns:a16="http://schemas.microsoft.com/office/drawing/2014/main" id="{A3C65A85-CFAC-0283-7856-A0CCDD7723AE}"/>
              </a:ext>
            </a:extLst>
          </p:cNvPr>
          <p:cNvSpPr txBox="1">
            <a:spLocks/>
          </p:cNvSpPr>
          <p:nvPr/>
        </p:nvSpPr>
        <p:spPr>
          <a:xfrm>
            <a:off x="6942800" y="5562178"/>
            <a:ext cx="4642151" cy="101380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Not enough data for proper time series analysis</a:t>
            </a:r>
          </a:p>
        </p:txBody>
      </p:sp>
    </p:spTree>
    <p:extLst>
      <p:ext uri="{BB962C8B-B14F-4D97-AF65-F5344CB8AC3E}">
        <p14:creationId xmlns:p14="http://schemas.microsoft.com/office/powerpoint/2010/main" val="1094756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5300-FC37-0896-9977-EF3E39FA1652}"/>
              </a:ext>
            </a:extLst>
          </p:cNvPr>
          <p:cNvSpPr>
            <a:spLocks noGrp="1"/>
          </p:cNvSpPr>
          <p:nvPr>
            <p:ph type="title"/>
          </p:nvPr>
        </p:nvSpPr>
        <p:spPr/>
        <p:txBody>
          <a:bodyPr/>
          <a:lstStyle/>
          <a:p>
            <a:r>
              <a:rPr lang="en-US" dirty="0"/>
              <a:t>Exploratory DATA Analysis (Encoding)</a:t>
            </a:r>
          </a:p>
        </p:txBody>
      </p:sp>
      <p:sp>
        <p:nvSpPr>
          <p:cNvPr id="3" name="Content Placeholder 2">
            <a:extLst>
              <a:ext uri="{FF2B5EF4-FFF2-40B4-BE49-F238E27FC236}">
                <a16:creationId xmlns:a16="http://schemas.microsoft.com/office/drawing/2014/main" id="{7CC5F61F-99C1-48B1-91EF-10BA1FE1FEFF}"/>
              </a:ext>
            </a:extLst>
          </p:cNvPr>
          <p:cNvSpPr>
            <a:spLocks noGrp="1"/>
          </p:cNvSpPr>
          <p:nvPr>
            <p:ph idx="1"/>
          </p:nvPr>
        </p:nvSpPr>
        <p:spPr>
          <a:xfrm>
            <a:off x="442763" y="1827758"/>
            <a:ext cx="3339965" cy="3678303"/>
          </a:xfrm>
        </p:spPr>
        <p:txBody>
          <a:bodyPr/>
          <a:lstStyle/>
          <a:p>
            <a:r>
              <a:rPr lang="en-US" dirty="0"/>
              <a:t>Create new column </a:t>
            </a:r>
            <a:r>
              <a:rPr lang="en-US" dirty="0" err="1"/>
              <a:t>Risk_level</a:t>
            </a:r>
            <a:endParaRPr lang="en-US" dirty="0"/>
          </a:p>
          <a:p>
            <a:r>
              <a:rPr lang="en-US" dirty="0"/>
              <a:t>Encode </a:t>
            </a:r>
            <a:r>
              <a:rPr lang="en-US" dirty="0" err="1"/>
              <a:t>Risk_level</a:t>
            </a:r>
            <a:r>
              <a:rPr lang="en-US" dirty="0"/>
              <a:t> and Rating columns and create new columns </a:t>
            </a:r>
            <a:r>
              <a:rPr lang="en-US" dirty="0" err="1"/>
              <a:t>Risk_level_encoding</a:t>
            </a:r>
            <a:r>
              <a:rPr lang="en-US" dirty="0"/>
              <a:t> and </a:t>
            </a:r>
            <a:r>
              <a:rPr lang="en-US" dirty="0" err="1"/>
              <a:t>Rating_encoding</a:t>
            </a:r>
            <a:endParaRPr lang="en-US" dirty="0"/>
          </a:p>
        </p:txBody>
      </p:sp>
      <p:pic>
        <p:nvPicPr>
          <p:cNvPr id="4" name="Picture 3">
            <a:extLst>
              <a:ext uri="{FF2B5EF4-FFF2-40B4-BE49-F238E27FC236}">
                <a16:creationId xmlns:a16="http://schemas.microsoft.com/office/drawing/2014/main" id="{3BBF83CB-ED6E-58AB-4654-065679E19640}"/>
              </a:ext>
            </a:extLst>
          </p:cNvPr>
          <p:cNvPicPr>
            <a:picLocks noChangeAspect="1"/>
          </p:cNvPicPr>
          <p:nvPr/>
        </p:nvPicPr>
        <p:blipFill rotWithShape="1">
          <a:blip r:embed="rId2"/>
          <a:srcRect l="4917" t="4811" r="8478" b="3034"/>
          <a:stretch/>
        </p:blipFill>
        <p:spPr>
          <a:xfrm>
            <a:off x="3869269" y="2550893"/>
            <a:ext cx="4540005" cy="3224265"/>
          </a:xfrm>
          <a:prstGeom prst="rect">
            <a:avLst/>
          </a:prstGeom>
        </p:spPr>
      </p:pic>
      <p:graphicFrame>
        <p:nvGraphicFramePr>
          <p:cNvPr id="5" name="Table 4">
            <a:extLst>
              <a:ext uri="{FF2B5EF4-FFF2-40B4-BE49-F238E27FC236}">
                <a16:creationId xmlns:a16="http://schemas.microsoft.com/office/drawing/2014/main" id="{3001ABA8-74A6-7875-13FC-DE7CF7B13908}"/>
              </a:ext>
            </a:extLst>
          </p:cNvPr>
          <p:cNvGraphicFramePr>
            <a:graphicFrameLocks noGrp="1"/>
          </p:cNvGraphicFramePr>
          <p:nvPr>
            <p:extLst>
              <p:ext uri="{D42A27DB-BD31-4B8C-83A1-F6EECF244321}">
                <p14:modId xmlns:p14="http://schemas.microsoft.com/office/powerpoint/2010/main" val="2395383342"/>
              </p:ext>
            </p:extLst>
          </p:nvPr>
        </p:nvGraphicFramePr>
        <p:xfrm>
          <a:off x="9409262" y="1992825"/>
          <a:ext cx="2339975" cy="1815577"/>
        </p:xfrm>
        <a:graphic>
          <a:graphicData uri="http://schemas.openxmlformats.org/drawingml/2006/table">
            <a:tbl>
              <a:tblPr firstRow="1" firstCol="1" bandRow="1">
                <a:tableStyleId>{5C22544A-7EE6-4342-B048-85BDC9FD1C3A}</a:tableStyleId>
              </a:tblPr>
              <a:tblGrid>
                <a:gridCol w="1227363">
                  <a:extLst>
                    <a:ext uri="{9D8B030D-6E8A-4147-A177-3AD203B41FA5}">
                      <a16:colId xmlns:a16="http://schemas.microsoft.com/office/drawing/2014/main" val="3054677601"/>
                    </a:ext>
                  </a:extLst>
                </a:gridCol>
                <a:gridCol w="1112612">
                  <a:extLst>
                    <a:ext uri="{9D8B030D-6E8A-4147-A177-3AD203B41FA5}">
                      <a16:colId xmlns:a16="http://schemas.microsoft.com/office/drawing/2014/main" val="3972357510"/>
                    </a:ext>
                  </a:extLst>
                </a:gridCol>
              </a:tblGrid>
              <a:tr h="453895">
                <a:tc>
                  <a:txBody>
                    <a:bodyPr/>
                    <a:lstStyle/>
                    <a:p>
                      <a:pPr marL="0" marR="0" algn="ctr">
                        <a:spcBef>
                          <a:spcPts val="0"/>
                        </a:spcBef>
                        <a:spcAft>
                          <a:spcPts val="0"/>
                        </a:spcAft>
                      </a:pPr>
                      <a:r>
                        <a:rPr lang="en-US" sz="1300" kern="100">
                          <a:effectLst/>
                        </a:rPr>
                        <a:t>Risk level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300" kern="100">
                          <a:effectLst/>
                        </a:rPr>
                        <a:t>Risk level encoded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5468510"/>
                  </a:ext>
                </a:extLst>
              </a:tr>
              <a:tr h="226947">
                <a:tc>
                  <a:txBody>
                    <a:bodyPr/>
                    <a:lstStyle/>
                    <a:p>
                      <a:pPr marL="0" marR="0" algn="ctr">
                        <a:spcBef>
                          <a:spcPts val="0"/>
                        </a:spcBef>
                        <a:spcAft>
                          <a:spcPts val="0"/>
                        </a:spcAft>
                      </a:pPr>
                      <a:r>
                        <a:rPr lang="en-US" sz="1300" kern="100">
                          <a:effectLst/>
                        </a:rPr>
                        <a:t>Lowest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4577700"/>
                  </a:ext>
                </a:extLst>
              </a:tr>
              <a:tr h="226947">
                <a:tc>
                  <a:txBody>
                    <a:bodyPr/>
                    <a:lstStyle/>
                    <a:p>
                      <a:pPr marL="0" marR="0" algn="ctr">
                        <a:spcBef>
                          <a:spcPts val="0"/>
                        </a:spcBef>
                        <a:spcAft>
                          <a:spcPts val="0"/>
                        </a:spcAft>
                      </a:pPr>
                      <a:r>
                        <a:rPr lang="en-US" sz="1300" kern="100">
                          <a:effectLst/>
                        </a:rPr>
                        <a:t>Low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0607120"/>
                  </a:ext>
                </a:extLst>
              </a:tr>
              <a:tr h="226947">
                <a:tc>
                  <a:txBody>
                    <a:bodyPr/>
                    <a:lstStyle/>
                    <a:p>
                      <a:pPr marL="0" marR="0" algn="ctr">
                        <a:spcBef>
                          <a:spcPts val="0"/>
                        </a:spcBef>
                        <a:spcAft>
                          <a:spcPts val="0"/>
                        </a:spcAft>
                      </a:pPr>
                      <a:r>
                        <a:rPr lang="en-US" sz="1300" kern="100">
                          <a:effectLst/>
                        </a:rPr>
                        <a:t>Medium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1469230"/>
                  </a:ext>
                </a:extLst>
              </a:tr>
              <a:tr h="226947">
                <a:tc>
                  <a:txBody>
                    <a:bodyPr/>
                    <a:lstStyle/>
                    <a:p>
                      <a:pPr marL="0" marR="0" algn="ctr">
                        <a:spcBef>
                          <a:spcPts val="0"/>
                        </a:spcBef>
                        <a:spcAft>
                          <a:spcPts val="0"/>
                        </a:spcAft>
                      </a:pPr>
                      <a:r>
                        <a:rPr lang="en-US" sz="1300" kern="100">
                          <a:effectLst/>
                        </a:rPr>
                        <a:t>High Risk</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3973356"/>
                  </a:ext>
                </a:extLst>
              </a:tr>
              <a:tr h="226947">
                <a:tc>
                  <a:txBody>
                    <a:bodyPr/>
                    <a:lstStyle/>
                    <a:p>
                      <a:pPr marL="0" marR="0" algn="ctr">
                        <a:spcBef>
                          <a:spcPts val="0"/>
                        </a:spcBef>
                        <a:spcAft>
                          <a:spcPts val="0"/>
                        </a:spcAft>
                      </a:pPr>
                      <a:r>
                        <a:rPr lang="en-US" sz="1300" kern="100" dirty="0">
                          <a:effectLst/>
                        </a:rPr>
                        <a:t>Highest Risk</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dirty="0">
                          <a:effectLst/>
                        </a:rPr>
                        <a:t>4</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7802828"/>
                  </a:ext>
                </a:extLst>
              </a:tr>
              <a:tr h="226947">
                <a:tc>
                  <a:txBody>
                    <a:bodyPr/>
                    <a:lstStyle/>
                    <a:p>
                      <a:pPr marL="0" marR="0" algn="ctr">
                        <a:spcBef>
                          <a:spcPts val="0"/>
                        </a:spcBef>
                        <a:spcAft>
                          <a:spcPts val="0"/>
                        </a:spcAft>
                      </a:pPr>
                      <a:r>
                        <a:rPr lang="en-US" sz="1300" kern="100" dirty="0">
                          <a:effectLst/>
                        </a:rPr>
                        <a:t>In Default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dirty="0">
                          <a:effectLst/>
                        </a:rPr>
                        <a:t>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2313651"/>
                  </a:ext>
                </a:extLst>
              </a:tr>
            </a:tbl>
          </a:graphicData>
        </a:graphic>
      </p:graphicFrame>
      <p:graphicFrame>
        <p:nvGraphicFramePr>
          <p:cNvPr id="6" name="Table 5">
            <a:extLst>
              <a:ext uri="{FF2B5EF4-FFF2-40B4-BE49-F238E27FC236}">
                <a16:creationId xmlns:a16="http://schemas.microsoft.com/office/drawing/2014/main" id="{D6066241-DB92-BCF3-751F-348EECE10834}"/>
              </a:ext>
            </a:extLst>
          </p:cNvPr>
          <p:cNvGraphicFramePr>
            <a:graphicFrameLocks noGrp="1"/>
          </p:cNvGraphicFramePr>
          <p:nvPr>
            <p:extLst>
              <p:ext uri="{D42A27DB-BD31-4B8C-83A1-F6EECF244321}">
                <p14:modId xmlns:p14="http://schemas.microsoft.com/office/powerpoint/2010/main" val="2747604138"/>
              </p:ext>
            </p:extLst>
          </p:nvPr>
        </p:nvGraphicFramePr>
        <p:xfrm>
          <a:off x="9409263" y="4070925"/>
          <a:ext cx="2339974" cy="2629153"/>
        </p:xfrm>
        <a:graphic>
          <a:graphicData uri="http://schemas.openxmlformats.org/drawingml/2006/table">
            <a:tbl>
              <a:tblPr firstRow="1" firstCol="1" bandRow="1">
                <a:tableStyleId>{5C22544A-7EE6-4342-B048-85BDC9FD1C3A}</a:tableStyleId>
              </a:tblPr>
              <a:tblGrid>
                <a:gridCol w="861584">
                  <a:extLst>
                    <a:ext uri="{9D8B030D-6E8A-4147-A177-3AD203B41FA5}">
                      <a16:colId xmlns:a16="http://schemas.microsoft.com/office/drawing/2014/main" val="1320561293"/>
                    </a:ext>
                  </a:extLst>
                </a:gridCol>
                <a:gridCol w="1478390">
                  <a:extLst>
                    <a:ext uri="{9D8B030D-6E8A-4147-A177-3AD203B41FA5}">
                      <a16:colId xmlns:a16="http://schemas.microsoft.com/office/drawing/2014/main" val="1301767577"/>
                    </a:ext>
                  </a:extLst>
                </a:gridCol>
              </a:tblGrid>
              <a:tr h="438193">
                <a:tc>
                  <a:txBody>
                    <a:bodyPr/>
                    <a:lstStyle/>
                    <a:p>
                      <a:pPr marL="0" marR="0" algn="ctr">
                        <a:spcBef>
                          <a:spcPts val="0"/>
                        </a:spcBef>
                        <a:spcAft>
                          <a:spcPts val="0"/>
                        </a:spcAft>
                      </a:pPr>
                      <a:r>
                        <a:rPr lang="en-US" sz="1300" kern="100" dirty="0">
                          <a:effectLst/>
                        </a:rPr>
                        <a:t>Rating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300" kern="100">
                          <a:effectLst/>
                        </a:rPr>
                        <a:t>Rating encoded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7450198"/>
                  </a:ext>
                </a:extLst>
              </a:tr>
              <a:tr h="219096">
                <a:tc>
                  <a:txBody>
                    <a:bodyPr/>
                    <a:lstStyle/>
                    <a:p>
                      <a:pPr marL="0" marR="0" algn="ctr">
                        <a:spcBef>
                          <a:spcPts val="0"/>
                        </a:spcBef>
                        <a:spcAft>
                          <a:spcPts val="0"/>
                        </a:spcAft>
                      </a:pPr>
                      <a:r>
                        <a:rPr lang="en-US" sz="1300" kern="100">
                          <a:effectLst/>
                        </a:rPr>
                        <a:t>AAA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3773634"/>
                  </a:ext>
                </a:extLst>
              </a:tr>
              <a:tr h="219096">
                <a:tc>
                  <a:txBody>
                    <a:bodyPr/>
                    <a:lstStyle/>
                    <a:p>
                      <a:pPr marL="0" marR="0" algn="ctr">
                        <a:spcBef>
                          <a:spcPts val="0"/>
                        </a:spcBef>
                        <a:spcAft>
                          <a:spcPts val="0"/>
                        </a:spcAft>
                      </a:pPr>
                      <a:r>
                        <a:rPr lang="en-US" sz="1300" kern="100">
                          <a:effectLst/>
                        </a:rPr>
                        <a:t>AA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dirty="0">
                          <a:effectLst/>
                        </a:rPr>
                        <a:t>8</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7461212"/>
                  </a:ext>
                </a:extLst>
              </a:tr>
              <a:tr h="219096">
                <a:tc>
                  <a:txBody>
                    <a:bodyPr/>
                    <a:lstStyle/>
                    <a:p>
                      <a:pPr marL="0" marR="0" algn="ctr">
                        <a:spcBef>
                          <a:spcPts val="0"/>
                        </a:spcBef>
                        <a:spcAft>
                          <a:spcPts val="0"/>
                        </a:spcAft>
                      </a:pPr>
                      <a:r>
                        <a:rPr lang="en-US" sz="1300" kern="100">
                          <a:effectLst/>
                        </a:rPr>
                        <a:t>A</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1950387"/>
                  </a:ext>
                </a:extLst>
              </a:tr>
              <a:tr h="219096">
                <a:tc>
                  <a:txBody>
                    <a:bodyPr/>
                    <a:lstStyle/>
                    <a:p>
                      <a:pPr marL="0" marR="0" algn="ctr">
                        <a:spcBef>
                          <a:spcPts val="0"/>
                        </a:spcBef>
                        <a:spcAft>
                          <a:spcPts val="0"/>
                        </a:spcAft>
                      </a:pPr>
                      <a:r>
                        <a:rPr lang="en-US" sz="1300" kern="100">
                          <a:effectLst/>
                        </a:rPr>
                        <a:t>BBB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05015225"/>
                  </a:ext>
                </a:extLst>
              </a:tr>
              <a:tr h="219096">
                <a:tc>
                  <a:txBody>
                    <a:bodyPr/>
                    <a:lstStyle/>
                    <a:p>
                      <a:pPr marL="0" marR="0" algn="ctr">
                        <a:spcBef>
                          <a:spcPts val="0"/>
                        </a:spcBef>
                        <a:spcAft>
                          <a:spcPts val="0"/>
                        </a:spcAft>
                      </a:pPr>
                      <a:r>
                        <a:rPr lang="en-US" sz="1300" kern="100">
                          <a:effectLst/>
                        </a:rPr>
                        <a:t>BB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9400661"/>
                  </a:ext>
                </a:extLst>
              </a:tr>
              <a:tr h="219096">
                <a:tc>
                  <a:txBody>
                    <a:bodyPr/>
                    <a:lstStyle/>
                    <a:p>
                      <a:pPr marL="0" marR="0" algn="ctr">
                        <a:spcBef>
                          <a:spcPts val="0"/>
                        </a:spcBef>
                        <a:spcAft>
                          <a:spcPts val="0"/>
                        </a:spcAft>
                      </a:pPr>
                      <a:r>
                        <a:rPr lang="en-US" sz="1300" kern="100">
                          <a:effectLst/>
                        </a:rPr>
                        <a:t>B</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5982160"/>
                  </a:ext>
                </a:extLst>
              </a:tr>
              <a:tr h="219096">
                <a:tc>
                  <a:txBody>
                    <a:bodyPr/>
                    <a:lstStyle/>
                    <a:p>
                      <a:pPr marL="0" marR="0" algn="ctr">
                        <a:spcBef>
                          <a:spcPts val="0"/>
                        </a:spcBef>
                        <a:spcAft>
                          <a:spcPts val="0"/>
                        </a:spcAft>
                      </a:pPr>
                      <a:r>
                        <a:rPr lang="en-US" sz="1300" kern="100">
                          <a:effectLst/>
                        </a:rPr>
                        <a:t>CCC</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8617684"/>
                  </a:ext>
                </a:extLst>
              </a:tr>
              <a:tr h="219096">
                <a:tc>
                  <a:txBody>
                    <a:bodyPr/>
                    <a:lstStyle/>
                    <a:p>
                      <a:pPr marL="0" marR="0" algn="ctr">
                        <a:spcBef>
                          <a:spcPts val="0"/>
                        </a:spcBef>
                        <a:spcAft>
                          <a:spcPts val="0"/>
                        </a:spcAft>
                      </a:pPr>
                      <a:r>
                        <a:rPr lang="en-US" sz="1300" kern="100">
                          <a:effectLst/>
                        </a:rPr>
                        <a:t>CC</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8466966"/>
                  </a:ext>
                </a:extLst>
              </a:tr>
              <a:tr h="219096">
                <a:tc>
                  <a:txBody>
                    <a:bodyPr/>
                    <a:lstStyle/>
                    <a:p>
                      <a:pPr marL="0" marR="0" algn="ctr">
                        <a:spcBef>
                          <a:spcPts val="0"/>
                        </a:spcBef>
                        <a:spcAft>
                          <a:spcPts val="0"/>
                        </a:spcAft>
                      </a:pPr>
                      <a:r>
                        <a:rPr lang="en-US" sz="1300" kern="100">
                          <a:effectLst/>
                        </a:rPr>
                        <a:t>C</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1779351"/>
                  </a:ext>
                </a:extLst>
              </a:tr>
              <a:tr h="219096">
                <a:tc>
                  <a:txBody>
                    <a:bodyPr/>
                    <a:lstStyle/>
                    <a:p>
                      <a:pPr marL="0" marR="0" algn="ctr">
                        <a:spcBef>
                          <a:spcPts val="0"/>
                        </a:spcBef>
                        <a:spcAft>
                          <a:spcPts val="0"/>
                        </a:spcAft>
                      </a:pPr>
                      <a:r>
                        <a:rPr lang="en-US" sz="1300" kern="100">
                          <a:effectLst/>
                        </a:rPr>
                        <a:t>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kern="100" dirty="0">
                          <a:effectLst/>
                        </a:rPr>
                        <a:t>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4510880"/>
                  </a:ext>
                </a:extLst>
              </a:tr>
            </a:tbl>
          </a:graphicData>
        </a:graphic>
      </p:graphicFrame>
      <p:sp>
        <p:nvSpPr>
          <p:cNvPr id="8" name="TextBox 7">
            <a:extLst>
              <a:ext uri="{FF2B5EF4-FFF2-40B4-BE49-F238E27FC236}">
                <a16:creationId xmlns:a16="http://schemas.microsoft.com/office/drawing/2014/main" id="{6A38F498-55B8-4AD4-6B65-B3F7FDB7B6A1}"/>
              </a:ext>
            </a:extLst>
          </p:cNvPr>
          <p:cNvSpPr txBox="1"/>
          <p:nvPr/>
        </p:nvSpPr>
        <p:spPr>
          <a:xfrm>
            <a:off x="442763" y="6423079"/>
            <a:ext cx="4540005" cy="276999"/>
          </a:xfrm>
          <a:prstGeom prst="rect">
            <a:avLst/>
          </a:prstGeom>
          <a:noFill/>
        </p:spPr>
        <p:txBody>
          <a:bodyPr wrap="square">
            <a:spAutoFit/>
          </a:bodyPr>
          <a:lstStyle/>
          <a:p>
            <a:r>
              <a:rPr lang="en-US" sz="1200" i="1" dirty="0"/>
              <a:t>Source: https://</a:t>
            </a:r>
            <a:r>
              <a:rPr lang="en-US" sz="1200" i="1" dirty="0" err="1"/>
              <a:t>www.investopedia.com</a:t>
            </a:r>
            <a:r>
              <a:rPr lang="en-US" sz="1200" i="1" dirty="0"/>
              <a:t>/terms/c/corporate-credit-</a:t>
            </a:r>
            <a:r>
              <a:rPr lang="en-US" sz="1200" i="1" dirty="0" err="1"/>
              <a:t>rating.asp</a:t>
            </a:r>
            <a:endParaRPr lang="en-US" sz="1200" i="1" dirty="0"/>
          </a:p>
        </p:txBody>
      </p:sp>
    </p:spTree>
    <p:extLst>
      <p:ext uri="{BB962C8B-B14F-4D97-AF65-F5344CB8AC3E}">
        <p14:creationId xmlns:p14="http://schemas.microsoft.com/office/powerpoint/2010/main" val="1329992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BD8E-67A3-A073-952D-A0697C0F49DC}"/>
              </a:ext>
            </a:extLst>
          </p:cNvPr>
          <p:cNvSpPr>
            <a:spLocks noGrp="1"/>
          </p:cNvSpPr>
          <p:nvPr>
            <p:ph type="title"/>
          </p:nvPr>
        </p:nvSpPr>
        <p:spPr/>
        <p:txBody>
          <a:bodyPr/>
          <a:lstStyle/>
          <a:p>
            <a:r>
              <a:rPr lang="en-US" dirty="0"/>
              <a:t>Exploratory DATA Analysis (Conclusion)</a:t>
            </a:r>
          </a:p>
        </p:txBody>
      </p:sp>
      <p:pic>
        <p:nvPicPr>
          <p:cNvPr id="5" name="Content Placeholder 4">
            <a:extLst>
              <a:ext uri="{FF2B5EF4-FFF2-40B4-BE49-F238E27FC236}">
                <a16:creationId xmlns:a16="http://schemas.microsoft.com/office/drawing/2014/main" id="{931D23E3-9F43-E219-86BE-10BD3714FF15}"/>
              </a:ext>
            </a:extLst>
          </p:cNvPr>
          <p:cNvPicPr>
            <a:picLocks noGrp="1" noChangeAspect="1"/>
          </p:cNvPicPr>
          <p:nvPr>
            <p:ph idx="1"/>
          </p:nvPr>
        </p:nvPicPr>
        <p:blipFill>
          <a:blip r:embed="rId2"/>
          <a:stretch>
            <a:fillRect/>
          </a:stretch>
        </p:blipFill>
        <p:spPr>
          <a:xfrm>
            <a:off x="453068" y="2133475"/>
            <a:ext cx="6019800" cy="3725203"/>
          </a:xfrm>
        </p:spPr>
      </p:pic>
      <p:pic>
        <p:nvPicPr>
          <p:cNvPr id="7" name="Picture 6">
            <a:extLst>
              <a:ext uri="{FF2B5EF4-FFF2-40B4-BE49-F238E27FC236}">
                <a16:creationId xmlns:a16="http://schemas.microsoft.com/office/drawing/2014/main" id="{3AEDED83-51DA-8A56-5644-353B9FAEA4E7}"/>
              </a:ext>
            </a:extLst>
          </p:cNvPr>
          <p:cNvPicPr>
            <a:picLocks noChangeAspect="1"/>
          </p:cNvPicPr>
          <p:nvPr/>
        </p:nvPicPr>
        <p:blipFill>
          <a:blip r:embed="rId3"/>
          <a:stretch>
            <a:fillRect/>
          </a:stretch>
        </p:blipFill>
        <p:spPr>
          <a:xfrm>
            <a:off x="6185589" y="2277279"/>
            <a:ext cx="5880100" cy="3581399"/>
          </a:xfrm>
          <a:prstGeom prst="rect">
            <a:avLst/>
          </a:prstGeom>
        </p:spPr>
      </p:pic>
    </p:spTree>
    <p:extLst>
      <p:ext uri="{BB962C8B-B14F-4D97-AF65-F5344CB8AC3E}">
        <p14:creationId xmlns:p14="http://schemas.microsoft.com/office/powerpoint/2010/main" val="1307583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D01E-782B-E490-9F5A-78D742869CC3}"/>
              </a:ext>
            </a:extLst>
          </p:cNvPr>
          <p:cNvSpPr>
            <a:spLocks noGrp="1"/>
          </p:cNvSpPr>
          <p:nvPr>
            <p:ph type="title"/>
          </p:nvPr>
        </p:nvSpPr>
        <p:spPr/>
        <p:txBody>
          <a:bodyPr/>
          <a:lstStyle/>
          <a:p>
            <a:r>
              <a:rPr lang="en-US" dirty="0"/>
              <a:t>Distribution of 25 financial indicators and outlier analysis</a:t>
            </a:r>
          </a:p>
        </p:txBody>
      </p:sp>
      <p:sp>
        <p:nvSpPr>
          <p:cNvPr id="3" name="Content Placeholder 2">
            <a:extLst>
              <a:ext uri="{FF2B5EF4-FFF2-40B4-BE49-F238E27FC236}">
                <a16:creationId xmlns:a16="http://schemas.microsoft.com/office/drawing/2014/main" id="{5D2A0A50-BC8A-85D7-C131-0E3321B9403F}"/>
              </a:ext>
            </a:extLst>
          </p:cNvPr>
          <p:cNvSpPr>
            <a:spLocks noGrp="1"/>
          </p:cNvSpPr>
          <p:nvPr>
            <p:ph idx="1"/>
          </p:nvPr>
        </p:nvSpPr>
        <p:spPr>
          <a:xfrm>
            <a:off x="479592" y="953957"/>
            <a:ext cx="11029615" cy="2591884"/>
          </a:xfrm>
        </p:spPr>
        <p:txBody>
          <a:bodyPr/>
          <a:lstStyle/>
          <a:p>
            <a:r>
              <a:rPr lang="en-US" dirty="0"/>
              <a:t>The boxplot and distribution graphs were drawn for each financial indicator.  Skewness was examined.  Absolute skewness between 0 and 1 indicates normality. </a:t>
            </a:r>
          </a:p>
        </p:txBody>
      </p:sp>
      <p:pic>
        <p:nvPicPr>
          <p:cNvPr id="6" name="Picture 5">
            <a:extLst>
              <a:ext uri="{FF2B5EF4-FFF2-40B4-BE49-F238E27FC236}">
                <a16:creationId xmlns:a16="http://schemas.microsoft.com/office/drawing/2014/main" id="{7B56376B-25D6-FE89-C1E3-8BA5450A92C0}"/>
              </a:ext>
            </a:extLst>
          </p:cNvPr>
          <p:cNvPicPr>
            <a:picLocks noChangeAspect="1"/>
          </p:cNvPicPr>
          <p:nvPr/>
        </p:nvPicPr>
        <p:blipFill>
          <a:blip r:embed="rId2"/>
          <a:stretch>
            <a:fillRect/>
          </a:stretch>
        </p:blipFill>
        <p:spPr>
          <a:xfrm>
            <a:off x="377991" y="2738460"/>
            <a:ext cx="4275288" cy="4119540"/>
          </a:xfrm>
          <a:prstGeom prst="rect">
            <a:avLst/>
          </a:prstGeom>
        </p:spPr>
      </p:pic>
      <p:pic>
        <p:nvPicPr>
          <p:cNvPr id="9" name="Picture 8">
            <a:extLst>
              <a:ext uri="{FF2B5EF4-FFF2-40B4-BE49-F238E27FC236}">
                <a16:creationId xmlns:a16="http://schemas.microsoft.com/office/drawing/2014/main" id="{07ED40FE-78DE-60AD-6A74-0E43D76236D6}"/>
              </a:ext>
            </a:extLst>
          </p:cNvPr>
          <p:cNvPicPr>
            <a:picLocks noChangeAspect="1"/>
          </p:cNvPicPr>
          <p:nvPr/>
        </p:nvPicPr>
        <p:blipFill>
          <a:blip r:embed="rId3"/>
          <a:stretch>
            <a:fillRect/>
          </a:stretch>
        </p:blipFill>
        <p:spPr>
          <a:xfrm>
            <a:off x="4754881" y="2738460"/>
            <a:ext cx="6957528" cy="4119540"/>
          </a:xfrm>
          <a:prstGeom prst="rect">
            <a:avLst/>
          </a:prstGeom>
        </p:spPr>
      </p:pic>
    </p:spTree>
    <p:extLst>
      <p:ext uri="{BB962C8B-B14F-4D97-AF65-F5344CB8AC3E}">
        <p14:creationId xmlns:p14="http://schemas.microsoft.com/office/powerpoint/2010/main" val="1156299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324E-CD85-409E-A8F5-D630FA7D33E6}"/>
              </a:ext>
            </a:extLst>
          </p:cNvPr>
          <p:cNvSpPr>
            <a:spLocks noGrp="1"/>
          </p:cNvSpPr>
          <p:nvPr>
            <p:ph type="title"/>
          </p:nvPr>
        </p:nvSpPr>
        <p:spPr/>
        <p:txBody>
          <a:bodyPr/>
          <a:lstStyle/>
          <a:p>
            <a:r>
              <a:rPr lang="en-US" dirty="0"/>
              <a:t>Distribution of 25 financial indicators and outlier analysis</a:t>
            </a:r>
          </a:p>
        </p:txBody>
      </p:sp>
      <p:sp>
        <p:nvSpPr>
          <p:cNvPr id="8" name="TextBox 7">
            <a:extLst>
              <a:ext uri="{FF2B5EF4-FFF2-40B4-BE49-F238E27FC236}">
                <a16:creationId xmlns:a16="http://schemas.microsoft.com/office/drawing/2014/main" id="{51C68AC4-4702-A96A-14B4-C69AF77AEA59}"/>
              </a:ext>
            </a:extLst>
          </p:cNvPr>
          <p:cNvSpPr txBox="1"/>
          <p:nvPr/>
        </p:nvSpPr>
        <p:spPr>
          <a:xfrm>
            <a:off x="581192" y="6344366"/>
            <a:ext cx="6884075" cy="338554"/>
          </a:xfrm>
          <a:prstGeom prst="rect">
            <a:avLst/>
          </a:prstGeom>
          <a:noFill/>
        </p:spPr>
        <p:txBody>
          <a:bodyPr wrap="square" rtlCol="0">
            <a:spAutoFit/>
          </a:bodyPr>
          <a:lstStyle/>
          <a:p>
            <a:r>
              <a:rPr lang="en-US" sz="1600" i="1" dirty="0"/>
              <a:t>To see graphs for other predictors, please see my Jupiter Notebook.</a:t>
            </a:r>
          </a:p>
        </p:txBody>
      </p:sp>
      <p:pic>
        <p:nvPicPr>
          <p:cNvPr id="6" name="Picture 5">
            <a:extLst>
              <a:ext uri="{FF2B5EF4-FFF2-40B4-BE49-F238E27FC236}">
                <a16:creationId xmlns:a16="http://schemas.microsoft.com/office/drawing/2014/main" id="{C282CB1B-DDB8-EE73-FE36-07F2FF6B7D6C}"/>
              </a:ext>
            </a:extLst>
          </p:cNvPr>
          <p:cNvPicPr>
            <a:picLocks noChangeAspect="1"/>
          </p:cNvPicPr>
          <p:nvPr/>
        </p:nvPicPr>
        <p:blipFill>
          <a:blip r:embed="rId2"/>
          <a:stretch>
            <a:fillRect/>
          </a:stretch>
        </p:blipFill>
        <p:spPr>
          <a:xfrm>
            <a:off x="0" y="1961147"/>
            <a:ext cx="4572000" cy="4307305"/>
          </a:xfrm>
          <a:prstGeom prst="rect">
            <a:avLst/>
          </a:prstGeom>
        </p:spPr>
      </p:pic>
      <p:pic>
        <p:nvPicPr>
          <p:cNvPr id="12" name="Content Placeholder 11">
            <a:extLst>
              <a:ext uri="{FF2B5EF4-FFF2-40B4-BE49-F238E27FC236}">
                <a16:creationId xmlns:a16="http://schemas.microsoft.com/office/drawing/2014/main" id="{EB5443B8-14F0-513C-AC7B-0536066728F1}"/>
              </a:ext>
            </a:extLst>
          </p:cNvPr>
          <p:cNvPicPr>
            <a:picLocks noGrp="1" noChangeAspect="1"/>
          </p:cNvPicPr>
          <p:nvPr>
            <p:ph idx="1"/>
          </p:nvPr>
        </p:nvPicPr>
        <p:blipFill>
          <a:blip r:embed="rId3"/>
          <a:stretch>
            <a:fillRect/>
          </a:stretch>
        </p:blipFill>
        <p:spPr>
          <a:xfrm>
            <a:off x="4572000" y="1961147"/>
            <a:ext cx="7440193" cy="4307305"/>
          </a:xfrm>
        </p:spPr>
      </p:pic>
    </p:spTree>
    <p:extLst>
      <p:ext uri="{BB962C8B-B14F-4D97-AF65-F5344CB8AC3E}">
        <p14:creationId xmlns:p14="http://schemas.microsoft.com/office/powerpoint/2010/main" val="2273099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75AF6-AE6B-9D9C-28D8-53979122CB2D}"/>
              </a:ext>
            </a:extLst>
          </p:cNvPr>
          <p:cNvSpPr>
            <a:spLocks noGrp="1"/>
          </p:cNvSpPr>
          <p:nvPr>
            <p:ph type="title"/>
          </p:nvPr>
        </p:nvSpPr>
        <p:spPr/>
        <p:txBody>
          <a:bodyPr/>
          <a:lstStyle/>
          <a:p>
            <a:r>
              <a:rPr lang="en-US" dirty="0"/>
              <a:t>Distribution of 25 financial indicators and outlier analysis</a:t>
            </a:r>
          </a:p>
        </p:txBody>
      </p:sp>
      <p:sp>
        <p:nvSpPr>
          <p:cNvPr id="9" name="TextBox 8">
            <a:extLst>
              <a:ext uri="{FF2B5EF4-FFF2-40B4-BE49-F238E27FC236}">
                <a16:creationId xmlns:a16="http://schemas.microsoft.com/office/drawing/2014/main" id="{66FF736F-FD19-3F22-8D53-1C66786A7AD9}"/>
              </a:ext>
            </a:extLst>
          </p:cNvPr>
          <p:cNvSpPr txBox="1"/>
          <p:nvPr/>
        </p:nvSpPr>
        <p:spPr>
          <a:xfrm>
            <a:off x="721360" y="1903333"/>
            <a:ext cx="2418080" cy="369332"/>
          </a:xfrm>
          <a:prstGeom prst="rect">
            <a:avLst/>
          </a:prstGeom>
          <a:noFill/>
        </p:spPr>
        <p:txBody>
          <a:bodyPr wrap="square" rtlCol="0">
            <a:spAutoFit/>
          </a:bodyPr>
          <a:lstStyle/>
          <a:p>
            <a:r>
              <a:rPr lang="en-US" dirty="0"/>
              <a:t>Skewness of Predictors</a:t>
            </a:r>
          </a:p>
        </p:txBody>
      </p:sp>
      <p:sp>
        <p:nvSpPr>
          <p:cNvPr id="10" name="TextBox 9">
            <a:extLst>
              <a:ext uri="{FF2B5EF4-FFF2-40B4-BE49-F238E27FC236}">
                <a16:creationId xmlns:a16="http://schemas.microsoft.com/office/drawing/2014/main" id="{519C795D-46A3-F1B4-62E7-7406807B5080}"/>
              </a:ext>
            </a:extLst>
          </p:cNvPr>
          <p:cNvSpPr txBox="1"/>
          <p:nvPr/>
        </p:nvSpPr>
        <p:spPr>
          <a:xfrm>
            <a:off x="3678382" y="2804634"/>
            <a:ext cx="8078431" cy="923330"/>
          </a:xfrm>
          <a:prstGeom prst="rect">
            <a:avLst/>
          </a:prstGeom>
          <a:noFill/>
        </p:spPr>
        <p:txBody>
          <a:bodyPr wrap="square" rtlCol="0">
            <a:spAutoFit/>
          </a:bodyPr>
          <a:lstStyle/>
          <a:p>
            <a:pPr marL="285750" indent="-285750">
              <a:buClr>
                <a:schemeClr val="accent3">
                  <a:lumMod val="75000"/>
                </a:schemeClr>
              </a:buClr>
              <a:buFont typeface="Wingdings" pitchFamily="2" charset="2"/>
              <a:buChar char="§"/>
            </a:pPr>
            <a:r>
              <a:rPr lang="en-US" dirty="0"/>
              <a:t>Most of predictors (23/25) are extremely skewed. Only </a:t>
            </a:r>
            <a:r>
              <a:rPr lang="en-US" dirty="0" err="1"/>
              <a:t>netProfit</a:t>
            </a:r>
            <a:r>
              <a:rPr lang="en-US" dirty="0"/>
              <a:t> Margin and </a:t>
            </a:r>
            <a:r>
              <a:rPr lang="en-US" dirty="0" err="1"/>
              <a:t>debtRatio</a:t>
            </a:r>
            <a:r>
              <a:rPr lang="en-US" dirty="0"/>
              <a:t> are normally distributed. </a:t>
            </a:r>
          </a:p>
          <a:p>
            <a:endParaRPr lang="en-US" dirty="0"/>
          </a:p>
        </p:txBody>
      </p:sp>
      <p:pic>
        <p:nvPicPr>
          <p:cNvPr id="12" name="Picture 11">
            <a:extLst>
              <a:ext uri="{FF2B5EF4-FFF2-40B4-BE49-F238E27FC236}">
                <a16:creationId xmlns:a16="http://schemas.microsoft.com/office/drawing/2014/main" id="{AF8FA2A7-1EC1-BE03-3E6E-F123FA206DAF}"/>
              </a:ext>
            </a:extLst>
          </p:cNvPr>
          <p:cNvPicPr>
            <a:picLocks noChangeAspect="1"/>
          </p:cNvPicPr>
          <p:nvPr/>
        </p:nvPicPr>
        <p:blipFill>
          <a:blip r:embed="rId2"/>
          <a:stretch>
            <a:fillRect/>
          </a:stretch>
        </p:blipFill>
        <p:spPr>
          <a:xfrm>
            <a:off x="6663389" y="3878857"/>
            <a:ext cx="5093424" cy="3058160"/>
          </a:xfrm>
          <a:prstGeom prst="rect">
            <a:avLst/>
          </a:prstGeom>
        </p:spPr>
      </p:pic>
      <p:pic>
        <p:nvPicPr>
          <p:cNvPr id="14" name="Picture 13">
            <a:extLst>
              <a:ext uri="{FF2B5EF4-FFF2-40B4-BE49-F238E27FC236}">
                <a16:creationId xmlns:a16="http://schemas.microsoft.com/office/drawing/2014/main" id="{B31AC4C0-557A-7B34-05AA-A0AA203E397E}"/>
              </a:ext>
            </a:extLst>
          </p:cNvPr>
          <p:cNvPicPr>
            <a:picLocks noChangeAspect="1"/>
          </p:cNvPicPr>
          <p:nvPr/>
        </p:nvPicPr>
        <p:blipFill>
          <a:blip r:embed="rId3"/>
          <a:stretch>
            <a:fillRect/>
          </a:stretch>
        </p:blipFill>
        <p:spPr>
          <a:xfrm>
            <a:off x="3345108" y="3910030"/>
            <a:ext cx="3205212" cy="2980453"/>
          </a:xfrm>
          <a:prstGeom prst="rect">
            <a:avLst/>
          </a:prstGeom>
        </p:spPr>
      </p:pic>
      <p:pic>
        <p:nvPicPr>
          <p:cNvPr id="16" name="Picture 15">
            <a:extLst>
              <a:ext uri="{FF2B5EF4-FFF2-40B4-BE49-F238E27FC236}">
                <a16:creationId xmlns:a16="http://schemas.microsoft.com/office/drawing/2014/main" id="{3B5810F9-B312-E031-CF86-ECA65D9982B7}"/>
              </a:ext>
            </a:extLst>
          </p:cNvPr>
          <p:cNvPicPr>
            <a:picLocks noChangeAspect="1"/>
          </p:cNvPicPr>
          <p:nvPr/>
        </p:nvPicPr>
        <p:blipFill rotWithShape="1">
          <a:blip r:embed="rId4"/>
          <a:srcRect t="15566" b="13489"/>
          <a:stretch/>
        </p:blipFill>
        <p:spPr>
          <a:xfrm>
            <a:off x="5961430" y="1903333"/>
            <a:ext cx="2810577" cy="719236"/>
          </a:xfrm>
          <a:prstGeom prst="rect">
            <a:avLst/>
          </a:prstGeom>
        </p:spPr>
      </p:pic>
      <p:pic>
        <p:nvPicPr>
          <p:cNvPr id="5" name="Picture 4">
            <a:extLst>
              <a:ext uri="{FF2B5EF4-FFF2-40B4-BE49-F238E27FC236}">
                <a16:creationId xmlns:a16="http://schemas.microsoft.com/office/drawing/2014/main" id="{8B0EC848-1CC2-D414-CEA1-1C1103F2FA0E}"/>
              </a:ext>
            </a:extLst>
          </p:cNvPr>
          <p:cNvPicPr>
            <a:picLocks noChangeAspect="1"/>
          </p:cNvPicPr>
          <p:nvPr/>
        </p:nvPicPr>
        <p:blipFill rotWithShape="1">
          <a:blip r:embed="rId5"/>
          <a:srcRect b="1544"/>
          <a:stretch/>
        </p:blipFill>
        <p:spPr>
          <a:xfrm>
            <a:off x="435187" y="2334439"/>
            <a:ext cx="2796852" cy="4202256"/>
          </a:xfrm>
          <a:prstGeom prst="rect">
            <a:avLst/>
          </a:prstGeom>
        </p:spPr>
      </p:pic>
    </p:spTree>
    <p:extLst>
      <p:ext uri="{BB962C8B-B14F-4D97-AF65-F5344CB8AC3E}">
        <p14:creationId xmlns:p14="http://schemas.microsoft.com/office/powerpoint/2010/main" val="3698326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B877-7C7E-7331-5C28-BD01A57D1C56}"/>
              </a:ext>
            </a:extLst>
          </p:cNvPr>
          <p:cNvSpPr>
            <a:spLocks noGrp="1"/>
          </p:cNvSpPr>
          <p:nvPr>
            <p:ph type="title"/>
          </p:nvPr>
        </p:nvSpPr>
        <p:spPr/>
        <p:txBody>
          <a:bodyPr/>
          <a:lstStyle/>
          <a:p>
            <a:r>
              <a:rPr lang="en-US" dirty="0"/>
              <a:t>Distribution of 25 financial indicators and outlier analysis</a:t>
            </a:r>
          </a:p>
        </p:txBody>
      </p:sp>
      <p:sp>
        <p:nvSpPr>
          <p:cNvPr id="3" name="Content Placeholder 2">
            <a:extLst>
              <a:ext uri="{FF2B5EF4-FFF2-40B4-BE49-F238E27FC236}">
                <a16:creationId xmlns:a16="http://schemas.microsoft.com/office/drawing/2014/main" id="{FA65A88E-EDCB-4FC0-E72C-B2D8DB33B3D2}"/>
              </a:ext>
            </a:extLst>
          </p:cNvPr>
          <p:cNvSpPr>
            <a:spLocks noGrp="1"/>
          </p:cNvSpPr>
          <p:nvPr>
            <p:ph idx="1"/>
          </p:nvPr>
        </p:nvSpPr>
        <p:spPr>
          <a:xfrm>
            <a:off x="433137" y="1964257"/>
            <a:ext cx="4928136" cy="3678303"/>
          </a:xfrm>
        </p:spPr>
        <p:txBody>
          <a:bodyPr/>
          <a:lstStyle/>
          <a:p>
            <a:pPr marL="0" indent="0" algn="ctr">
              <a:buNone/>
            </a:pPr>
            <a:r>
              <a:rPr lang="en-US" b="1" dirty="0"/>
              <a:t>IQR Method</a:t>
            </a:r>
          </a:p>
          <a:p>
            <a:pPr marL="0" indent="0">
              <a:buNone/>
            </a:pPr>
            <a:r>
              <a:rPr lang="en-US" dirty="0"/>
              <a:t>IQR = Q</a:t>
            </a:r>
            <a:r>
              <a:rPr lang="en-US" baseline="-25000" dirty="0"/>
              <a:t>3</a:t>
            </a:r>
            <a:r>
              <a:rPr lang="en-US" dirty="0"/>
              <a:t> – Q</a:t>
            </a:r>
            <a:r>
              <a:rPr lang="en-US" baseline="-25000" dirty="0"/>
              <a:t>1</a:t>
            </a:r>
          </a:p>
          <a:p>
            <a:pPr marL="0" indent="0">
              <a:buNone/>
            </a:pPr>
            <a:r>
              <a:rPr lang="en-US" dirty="0"/>
              <a:t>Lower bound = Q</a:t>
            </a:r>
            <a:r>
              <a:rPr lang="en-US" baseline="-25000" dirty="0"/>
              <a:t>1 </a:t>
            </a:r>
            <a:r>
              <a:rPr lang="en-US" dirty="0"/>
              <a:t>– 1.5*IQR</a:t>
            </a:r>
          </a:p>
          <a:p>
            <a:pPr marL="0" indent="0">
              <a:buNone/>
            </a:pPr>
            <a:r>
              <a:rPr lang="en-US" dirty="0"/>
              <a:t>Upper bound = Q</a:t>
            </a:r>
            <a:r>
              <a:rPr lang="en-US" baseline="-25000" dirty="0"/>
              <a:t>3 </a:t>
            </a:r>
            <a:r>
              <a:rPr lang="en-US" dirty="0"/>
              <a:t>+ 1.5*IQR</a:t>
            </a:r>
          </a:p>
          <a:p>
            <a:pPr marL="0" indent="0">
              <a:buNone/>
            </a:pPr>
            <a:r>
              <a:rPr lang="en-US" dirty="0"/>
              <a:t>value &lt; lower bound or value &gt; upper bound  </a:t>
            </a:r>
            <a:r>
              <a:rPr lang="en-US" dirty="0">
                <a:sym typeface="Wingdings" pitchFamily="2" charset="2"/>
              </a:rPr>
              <a:t></a:t>
            </a:r>
            <a:r>
              <a:rPr lang="en-US" dirty="0"/>
              <a:t> an outlier</a:t>
            </a:r>
          </a:p>
          <a:p>
            <a:pPr marL="0" indent="0">
              <a:buNone/>
            </a:pPr>
            <a:endParaRPr lang="en-US" b="1" baseline="-25000" dirty="0"/>
          </a:p>
          <a:p>
            <a:pPr marL="0" indent="0">
              <a:buNone/>
            </a:pPr>
            <a:endParaRPr lang="en-US" dirty="0"/>
          </a:p>
        </p:txBody>
      </p:sp>
      <p:graphicFrame>
        <p:nvGraphicFramePr>
          <p:cNvPr id="6" name="Table 5">
            <a:extLst>
              <a:ext uri="{FF2B5EF4-FFF2-40B4-BE49-F238E27FC236}">
                <a16:creationId xmlns:a16="http://schemas.microsoft.com/office/drawing/2014/main" id="{C7A4BF34-A7D1-B300-5325-733819BBA6D7}"/>
              </a:ext>
            </a:extLst>
          </p:cNvPr>
          <p:cNvGraphicFramePr>
            <a:graphicFrameLocks noGrp="1"/>
          </p:cNvGraphicFramePr>
          <p:nvPr>
            <p:extLst>
              <p:ext uri="{D42A27DB-BD31-4B8C-83A1-F6EECF244321}">
                <p14:modId xmlns:p14="http://schemas.microsoft.com/office/powerpoint/2010/main" val="2908698103"/>
              </p:ext>
            </p:extLst>
          </p:nvPr>
        </p:nvGraphicFramePr>
        <p:xfrm>
          <a:off x="5823284" y="1868456"/>
          <a:ext cx="5787524" cy="4989544"/>
        </p:xfrm>
        <a:graphic>
          <a:graphicData uri="http://schemas.openxmlformats.org/drawingml/2006/table">
            <a:tbl>
              <a:tblPr firstRow="1">
                <a:tableStyleId>{0660B408-B3CF-4A94-85FC-2B1E0A45F4A2}</a:tableStyleId>
              </a:tblPr>
              <a:tblGrid>
                <a:gridCol w="2679585">
                  <a:extLst>
                    <a:ext uri="{9D8B030D-6E8A-4147-A177-3AD203B41FA5}">
                      <a16:colId xmlns:a16="http://schemas.microsoft.com/office/drawing/2014/main" val="1916110499"/>
                    </a:ext>
                  </a:extLst>
                </a:gridCol>
                <a:gridCol w="1355834">
                  <a:extLst>
                    <a:ext uri="{9D8B030D-6E8A-4147-A177-3AD203B41FA5}">
                      <a16:colId xmlns:a16="http://schemas.microsoft.com/office/drawing/2014/main" val="2184352216"/>
                    </a:ext>
                  </a:extLst>
                </a:gridCol>
                <a:gridCol w="1752105">
                  <a:extLst>
                    <a:ext uri="{9D8B030D-6E8A-4147-A177-3AD203B41FA5}">
                      <a16:colId xmlns:a16="http://schemas.microsoft.com/office/drawing/2014/main" val="886214174"/>
                    </a:ext>
                  </a:extLst>
                </a:gridCol>
              </a:tblGrid>
              <a:tr h="213983">
                <a:tc>
                  <a:txBody>
                    <a:bodyPr/>
                    <a:lstStyle/>
                    <a:p>
                      <a:pPr algn="ctr" fontAlgn="b"/>
                      <a:r>
                        <a:rPr lang="en-US" sz="1200" b="0" i="0" u="none" strike="noStrike" dirty="0">
                          <a:solidFill>
                            <a:schemeClr val="bg1"/>
                          </a:solidFill>
                          <a:effectLst/>
                          <a:latin typeface="Calibri" panose="020F0502020204030204" pitchFamily="34" charset="0"/>
                        </a:rPr>
                        <a:t>Predictors</a:t>
                      </a: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US" sz="1200" b="0" u="none" strike="noStrike" dirty="0">
                          <a:solidFill>
                            <a:schemeClr val="bg1"/>
                          </a:solidFill>
                          <a:effectLst/>
                        </a:rPr>
                        <a:t>Num Outliers</a:t>
                      </a:r>
                      <a:endParaRPr lang="en-US" sz="1200" b="0" i="0" u="none" strike="noStrike" dirty="0">
                        <a:solidFill>
                          <a:schemeClr val="bg1"/>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US" sz="1200" b="0" u="none" strike="noStrike" dirty="0">
                          <a:solidFill>
                            <a:schemeClr val="bg1"/>
                          </a:solidFill>
                          <a:effectLst/>
                        </a:rPr>
                        <a:t>Percentage Outliers</a:t>
                      </a:r>
                      <a:endParaRPr lang="en-US" sz="1200" b="0" i="0" u="none" strike="noStrike" dirty="0">
                        <a:solidFill>
                          <a:schemeClr val="bg1"/>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21248453"/>
                  </a:ext>
                </a:extLst>
              </a:tr>
              <a:tr h="181804">
                <a:tc>
                  <a:txBody>
                    <a:bodyPr/>
                    <a:lstStyle/>
                    <a:p>
                      <a:pPr algn="ctr" fontAlgn="b"/>
                      <a:r>
                        <a:rPr lang="en-US" sz="1200" b="0" u="none" strike="noStrike" dirty="0" err="1">
                          <a:solidFill>
                            <a:srgbClr val="000000"/>
                          </a:solidFill>
                          <a:effectLst/>
                        </a:rPr>
                        <a:t>returnOnEquity</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302</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15.53</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401614"/>
                  </a:ext>
                </a:extLst>
              </a:tr>
              <a:tr h="181804">
                <a:tc>
                  <a:txBody>
                    <a:bodyPr/>
                    <a:lstStyle/>
                    <a:p>
                      <a:pPr algn="ctr" fontAlgn="b"/>
                      <a:r>
                        <a:rPr lang="en-US" sz="1200" b="0" u="none" strike="noStrike" dirty="0" err="1">
                          <a:solidFill>
                            <a:srgbClr val="000000"/>
                          </a:solidFill>
                          <a:effectLst/>
                        </a:rPr>
                        <a:t>debtEquityRatio</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267</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13.73</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3514445"/>
                  </a:ext>
                </a:extLst>
              </a:tr>
              <a:tr h="181804">
                <a:tc>
                  <a:txBody>
                    <a:bodyPr/>
                    <a:lstStyle/>
                    <a:p>
                      <a:pPr algn="ctr" fontAlgn="b"/>
                      <a:r>
                        <a:rPr lang="en-US" sz="1200" b="0" u="none" strike="noStrike" dirty="0" err="1">
                          <a:solidFill>
                            <a:srgbClr val="000000"/>
                          </a:solidFill>
                          <a:effectLst/>
                        </a:rPr>
                        <a:t>companyEquityMultiplier</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266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13.68</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8977224"/>
                  </a:ext>
                </a:extLst>
              </a:tr>
              <a:tr h="181804">
                <a:tc>
                  <a:txBody>
                    <a:bodyPr/>
                    <a:lstStyle/>
                    <a:p>
                      <a:pPr algn="ctr" fontAlgn="b"/>
                      <a:r>
                        <a:rPr lang="en-US" sz="1200" b="0" u="none" strike="noStrike" dirty="0" err="1">
                          <a:solidFill>
                            <a:srgbClr val="000000"/>
                          </a:solidFill>
                          <a:effectLst/>
                        </a:rPr>
                        <a:t>effectiveTaxRate</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235</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12.08</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104656"/>
                  </a:ext>
                </a:extLst>
              </a:tr>
              <a:tr h="181804">
                <a:tc>
                  <a:txBody>
                    <a:bodyPr/>
                    <a:lstStyle/>
                    <a:p>
                      <a:pPr algn="ctr" fontAlgn="b"/>
                      <a:r>
                        <a:rPr lang="en-US" sz="1200" b="0" u="none" strike="noStrike" dirty="0" err="1">
                          <a:solidFill>
                            <a:srgbClr val="000000"/>
                          </a:solidFill>
                          <a:effectLst/>
                        </a:rPr>
                        <a:t>netProfitMargin</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231</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11.88</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420292"/>
                  </a:ext>
                </a:extLst>
              </a:tr>
              <a:tr h="181804">
                <a:tc>
                  <a:txBody>
                    <a:bodyPr/>
                    <a:lstStyle/>
                    <a:p>
                      <a:pPr algn="ctr" fontAlgn="b"/>
                      <a:r>
                        <a:rPr lang="en-US" sz="1200" b="0" u="none" strike="noStrike">
                          <a:solidFill>
                            <a:srgbClr val="000000"/>
                          </a:solidFill>
                          <a:effectLst/>
                        </a:rPr>
                        <a:t>pretaxProfitMargin</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228</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11.72</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740700"/>
                  </a:ext>
                </a:extLst>
              </a:tr>
              <a:tr h="181804">
                <a:tc>
                  <a:txBody>
                    <a:bodyPr/>
                    <a:lstStyle/>
                    <a:p>
                      <a:pPr algn="ctr" fontAlgn="b"/>
                      <a:r>
                        <a:rPr lang="en-US" sz="1200" b="0" u="none" strike="noStrike" dirty="0" err="1">
                          <a:solidFill>
                            <a:srgbClr val="000000"/>
                          </a:solidFill>
                          <a:effectLst/>
                        </a:rPr>
                        <a:t>enterpriseValueMultiple</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220</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11.31</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627331"/>
                  </a:ext>
                </a:extLst>
              </a:tr>
              <a:tr h="181804">
                <a:tc>
                  <a:txBody>
                    <a:bodyPr/>
                    <a:lstStyle/>
                    <a:p>
                      <a:pPr algn="ctr" fontAlgn="b"/>
                      <a:r>
                        <a:rPr lang="en-US" sz="1200" b="0" u="none" strike="noStrike" dirty="0" err="1">
                          <a:solidFill>
                            <a:srgbClr val="000000"/>
                          </a:solidFill>
                          <a:effectLst/>
                        </a:rPr>
                        <a:t>ebitPerRevenue</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219</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a:solidFill>
                            <a:srgbClr val="000000"/>
                          </a:solidFill>
                          <a:effectLst/>
                        </a:rPr>
                        <a:t>11.26</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1465152"/>
                  </a:ext>
                </a:extLst>
              </a:tr>
              <a:tr h="181804">
                <a:tc>
                  <a:txBody>
                    <a:bodyPr/>
                    <a:lstStyle/>
                    <a:p>
                      <a:pPr algn="ctr" fontAlgn="b"/>
                      <a:r>
                        <a:rPr lang="en-US" sz="1200" b="0" u="none" strike="noStrike">
                          <a:solidFill>
                            <a:srgbClr val="000000"/>
                          </a:solidFill>
                          <a:effectLst/>
                        </a:rPr>
                        <a:t>cashPerShare</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197</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10.13</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9681699"/>
                  </a:ext>
                </a:extLst>
              </a:tr>
              <a:tr h="181804">
                <a:tc>
                  <a:txBody>
                    <a:bodyPr/>
                    <a:lstStyle/>
                    <a:p>
                      <a:pPr algn="ctr" fontAlgn="b"/>
                      <a:r>
                        <a:rPr lang="en-US" sz="1200" b="0" u="none" strike="noStrike" dirty="0" err="1">
                          <a:solidFill>
                            <a:srgbClr val="000000"/>
                          </a:solidFill>
                          <a:effectLst/>
                        </a:rPr>
                        <a:t>freeCashFlowPerShare</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186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9.56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3286094"/>
                  </a:ext>
                </a:extLst>
              </a:tr>
              <a:tr h="181804">
                <a:tc>
                  <a:txBody>
                    <a:bodyPr/>
                    <a:lstStyle/>
                    <a:p>
                      <a:pPr algn="ctr" fontAlgn="b"/>
                      <a:r>
                        <a:rPr lang="en-US" sz="1200" b="0" u="none" strike="noStrike">
                          <a:solidFill>
                            <a:srgbClr val="000000"/>
                          </a:solidFill>
                          <a:effectLst/>
                        </a:rPr>
                        <a:t>operatingProfitMargin</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185</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9.51</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4583213"/>
                  </a:ext>
                </a:extLst>
              </a:tr>
              <a:tr h="181804">
                <a:tc>
                  <a:txBody>
                    <a:bodyPr/>
                    <a:lstStyle/>
                    <a:p>
                      <a:pPr algn="ctr" fontAlgn="b"/>
                      <a:r>
                        <a:rPr lang="en-US" sz="1200" b="0" u="none" strike="noStrike" dirty="0" err="1">
                          <a:solidFill>
                            <a:srgbClr val="000000"/>
                          </a:solidFill>
                          <a:effectLst/>
                        </a:rPr>
                        <a:t>returnOnAssets</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164</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8.43</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3017998"/>
                  </a:ext>
                </a:extLst>
              </a:tr>
              <a:tr h="181804">
                <a:tc>
                  <a:txBody>
                    <a:bodyPr/>
                    <a:lstStyle/>
                    <a:p>
                      <a:pPr algn="ctr" fontAlgn="b"/>
                      <a:r>
                        <a:rPr lang="en-US" sz="1200" b="0" u="none" strike="noStrike">
                          <a:solidFill>
                            <a:srgbClr val="000000"/>
                          </a:solidFill>
                          <a:effectLst/>
                        </a:rPr>
                        <a:t>quickRatio</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163</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8.38</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836568"/>
                  </a:ext>
                </a:extLst>
              </a:tr>
              <a:tr h="181834">
                <a:tc>
                  <a:txBody>
                    <a:bodyPr/>
                    <a:lstStyle/>
                    <a:p>
                      <a:pPr algn="ctr" fontAlgn="b"/>
                      <a:r>
                        <a:rPr lang="en-US" sz="1200" b="0" u="none" strike="noStrike" dirty="0" err="1">
                          <a:solidFill>
                            <a:srgbClr val="000000"/>
                          </a:solidFill>
                          <a:effectLst/>
                        </a:rPr>
                        <a:t>operatingCashFlowPerShare</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157</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8.07</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2589769"/>
                  </a:ext>
                </a:extLst>
              </a:tr>
              <a:tr h="181834">
                <a:tc>
                  <a:txBody>
                    <a:bodyPr/>
                    <a:lstStyle/>
                    <a:p>
                      <a:pPr algn="ctr" fontAlgn="b"/>
                      <a:r>
                        <a:rPr lang="en-US" sz="1200" b="0" u="none" strike="noStrike">
                          <a:solidFill>
                            <a:srgbClr val="000000"/>
                          </a:solidFill>
                          <a:effectLst/>
                        </a:rPr>
                        <a:t>operatingCashFlowSalesRatio</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156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8.02</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528444"/>
                  </a:ext>
                </a:extLst>
              </a:tr>
              <a:tr h="181804">
                <a:tc>
                  <a:txBody>
                    <a:bodyPr/>
                    <a:lstStyle/>
                    <a:p>
                      <a:pPr algn="ctr" fontAlgn="b"/>
                      <a:r>
                        <a:rPr lang="en-US" sz="1200" b="0" u="none" strike="noStrike">
                          <a:solidFill>
                            <a:srgbClr val="000000"/>
                          </a:solidFill>
                          <a:effectLst/>
                        </a:rPr>
                        <a:t>fixedAssetTurnover</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144</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7.4</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883863"/>
                  </a:ext>
                </a:extLst>
              </a:tr>
              <a:tr h="181804">
                <a:tc>
                  <a:txBody>
                    <a:bodyPr/>
                    <a:lstStyle/>
                    <a:p>
                      <a:pPr algn="ctr" fontAlgn="b"/>
                      <a:r>
                        <a:rPr lang="en-US" sz="1200" b="0" u="none" strike="noStrike" dirty="0" err="1">
                          <a:solidFill>
                            <a:srgbClr val="000000"/>
                          </a:solidFill>
                          <a:effectLst/>
                        </a:rPr>
                        <a:t>returnOnCapitalEmployed</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143</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7.35</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9604225"/>
                  </a:ext>
                </a:extLst>
              </a:tr>
              <a:tr h="181804">
                <a:tc>
                  <a:txBody>
                    <a:bodyPr/>
                    <a:lstStyle/>
                    <a:p>
                      <a:pPr algn="ctr" fontAlgn="b"/>
                      <a:r>
                        <a:rPr lang="en-US" sz="1200" b="0" u="none" strike="noStrike">
                          <a:solidFill>
                            <a:srgbClr val="000000"/>
                          </a:solidFill>
                          <a:effectLst/>
                        </a:rPr>
                        <a:t>cashRatio</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135</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6.94</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1714225"/>
                  </a:ext>
                </a:extLst>
              </a:tr>
              <a:tr h="181804">
                <a:tc>
                  <a:txBody>
                    <a:bodyPr/>
                    <a:lstStyle/>
                    <a:p>
                      <a:pPr algn="ctr" fontAlgn="b"/>
                      <a:r>
                        <a:rPr lang="en-US" sz="1200" b="0" u="none" strike="noStrike">
                          <a:solidFill>
                            <a:srgbClr val="000000"/>
                          </a:solidFill>
                          <a:effectLst/>
                        </a:rPr>
                        <a:t>currentRatio</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126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6.48</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99134"/>
                  </a:ext>
                </a:extLst>
              </a:tr>
              <a:tr h="304241">
                <a:tc>
                  <a:txBody>
                    <a:bodyPr/>
                    <a:lstStyle/>
                    <a:p>
                      <a:pPr algn="ctr" fontAlgn="b"/>
                      <a:r>
                        <a:rPr lang="en-US" sz="1200" b="0" u="none" strike="noStrike">
                          <a:solidFill>
                            <a:srgbClr val="000000"/>
                          </a:solidFill>
                          <a:effectLst/>
                        </a:rPr>
                        <a:t>freeCashFlowOperatingCashFlowRatio</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116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5.96</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8286286"/>
                  </a:ext>
                </a:extLst>
              </a:tr>
              <a:tr h="181804">
                <a:tc>
                  <a:txBody>
                    <a:bodyPr/>
                    <a:lstStyle/>
                    <a:p>
                      <a:pPr algn="ctr" fontAlgn="b"/>
                      <a:r>
                        <a:rPr lang="en-US" sz="1200" b="0" u="none" strike="noStrike">
                          <a:solidFill>
                            <a:srgbClr val="000000"/>
                          </a:solidFill>
                          <a:effectLst/>
                        </a:rPr>
                        <a:t>payablesTurnover</a:t>
                      </a:r>
                      <a:endParaRPr lang="en-US" sz="1200" b="0" i="0" u="none" strike="noStrike">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113</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5.81</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836629"/>
                  </a:ext>
                </a:extLst>
              </a:tr>
              <a:tr h="181804">
                <a:tc>
                  <a:txBody>
                    <a:bodyPr/>
                    <a:lstStyle/>
                    <a:p>
                      <a:pPr algn="ctr" fontAlgn="b"/>
                      <a:r>
                        <a:rPr lang="en-US" sz="1200" b="0" u="none" strike="noStrike" dirty="0" err="1">
                          <a:solidFill>
                            <a:srgbClr val="000000"/>
                          </a:solidFill>
                          <a:effectLst/>
                        </a:rPr>
                        <a:t>assetTurnover</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104</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5.35</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940229"/>
                  </a:ext>
                </a:extLst>
              </a:tr>
              <a:tr h="181804">
                <a:tc>
                  <a:txBody>
                    <a:bodyPr/>
                    <a:lstStyle/>
                    <a:p>
                      <a:pPr algn="ctr" fontAlgn="b"/>
                      <a:r>
                        <a:rPr lang="en-US" sz="1200" b="0" u="none" strike="noStrike" dirty="0" err="1">
                          <a:solidFill>
                            <a:srgbClr val="000000"/>
                          </a:solidFill>
                          <a:effectLst/>
                        </a:rPr>
                        <a:t>daysOfSalesOutstanding</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80</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4.11</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7909554"/>
                  </a:ext>
                </a:extLst>
              </a:tr>
              <a:tr h="181804">
                <a:tc>
                  <a:txBody>
                    <a:bodyPr/>
                    <a:lstStyle/>
                    <a:p>
                      <a:pPr algn="ctr" fontAlgn="b"/>
                      <a:r>
                        <a:rPr lang="en-US" sz="1200" b="0" u="none" strike="noStrike" dirty="0" err="1">
                          <a:solidFill>
                            <a:srgbClr val="000000"/>
                          </a:solidFill>
                          <a:effectLst/>
                        </a:rPr>
                        <a:t>debtRatio</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78</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rgbClr val="000000"/>
                          </a:solidFill>
                          <a:effectLst/>
                        </a:rPr>
                        <a:t>4.01</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3677940"/>
                  </a:ext>
                </a:extLst>
              </a:tr>
              <a:tr h="181804">
                <a:tc>
                  <a:txBody>
                    <a:bodyPr/>
                    <a:lstStyle/>
                    <a:p>
                      <a:pPr algn="ctr" fontAlgn="b"/>
                      <a:r>
                        <a:rPr lang="en-US" sz="1200" b="0" u="none" strike="noStrike" dirty="0" err="1">
                          <a:solidFill>
                            <a:srgbClr val="000000"/>
                          </a:solidFill>
                          <a:effectLst/>
                        </a:rPr>
                        <a:t>grossProfitMargin</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r>
                        <a:rPr lang="en-US" sz="1200" b="0" u="none" strike="noStrike" dirty="0">
                          <a:solidFill>
                            <a:srgbClr val="000000"/>
                          </a:solidFill>
                          <a:effectLst/>
                        </a:rPr>
                        <a:t>10</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r>
                        <a:rPr lang="en-US" sz="1200" b="0" u="none" strike="noStrike" dirty="0">
                          <a:solidFill>
                            <a:srgbClr val="000000"/>
                          </a:solidFill>
                          <a:effectLst/>
                        </a:rPr>
                        <a:t>0.51</a:t>
                      </a:r>
                      <a:endParaRPr lang="en-US" sz="1200" b="0" i="0" u="none" strike="noStrike" dirty="0">
                        <a:solidFill>
                          <a:srgbClr val="000000"/>
                        </a:solidFill>
                        <a:effectLst/>
                        <a:latin typeface="Calibri" panose="020F0502020204030204" pitchFamily="34" charset="0"/>
                      </a:endParaRPr>
                    </a:p>
                  </a:txBody>
                  <a:tcPr marL="3425" marR="3425" marT="34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846556971"/>
                  </a:ext>
                </a:extLst>
              </a:tr>
            </a:tbl>
          </a:graphicData>
        </a:graphic>
      </p:graphicFrame>
    </p:spTree>
    <p:extLst>
      <p:ext uri="{BB962C8B-B14F-4D97-AF65-F5344CB8AC3E}">
        <p14:creationId xmlns:p14="http://schemas.microsoft.com/office/powerpoint/2010/main" val="1827283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985B-9E87-241A-C5B3-58E4318DEC4B}"/>
              </a:ext>
            </a:extLst>
          </p:cNvPr>
          <p:cNvSpPr>
            <a:spLocks noGrp="1"/>
          </p:cNvSpPr>
          <p:nvPr>
            <p:ph type="title"/>
          </p:nvPr>
        </p:nvSpPr>
        <p:spPr/>
        <p:txBody>
          <a:bodyPr/>
          <a:lstStyle/>
          <a:p>
            <a:r>
              <a:rPr lang="en-US" dirty="0"/>
              <a:t>Distribution of 25 financial indicators and outlier analysis</a:t>
            </a:r>
          </a:p>
        </p:txBody>
      </p:sp>
      <p:sp>
        <p:nvSpPr>
          <p:cNvPr id="3" name="Content Placeholder 2">
            <a:extLst>
              <a:ext uri="{FF2B5EF4-FFF2-40B4-BE49-F238E27FC236}">
                <a16:creationId xmlns:a16="http://schemas.microsoft.com/office/drawing/2014/main" id="{65E75733-7960-872F-A48B-06696C66CC71}"/>
              </a:ext>
            </a:extLst>
          </p:cNvPr>
          <p:cNvSpPr>
            <a:spLocks noGrp="1"/>
          </p:cNvSpPr>
          <p:nvPr>
            <p:ph idx="1"/>
          </p:nvPr>
        </p:nvSpPr>
        <p:spPr>
          <a:xfrm>
            <a:off x="6895653" y="2281843"/>
            <a:ext cx="4715155" cy="3678303"/>
          </a:xfrm>
        </p:spPr>
        <p:txBody>
          <a:bodyPr/>
          <a:lstStyle/>
          <a:p>
            <a:r>
              <a:rPr lang="en-US" dirty="0"/>
              <a:t>Only 722/1945 observations have 0 outliers. </a:t>
            </a:r>
          </a:p>
          <a:p>
            <a:r>
              <a:rPr lang="en-US" dirty="0"/>
              <a:t>Decision: substitute outliers by lower or upper bounds. </a:t>
            </a:r>
          </a:p>
          <a:p>
            <a:r>
              <a:rPr lang="en-US" dirty="0"/>
              <a:t>Outlier &gt; upper </a:t>
            </a:r>
            <a:r>
              <a:rPr lang="en-US" dirty="0">
                <a:sym typeface="Wingdings" pitchFamily="2" charset="2"/>
              </a:rPr>
              <a:t> outlier = upper</a:t>
            </a:r>
          </a:p>
          <a:p>
            <a:r>
              <a:rPr lang="en-US" dirty="0">
                <a:sym typeface="Wingdings" pitchFamily="2" charset="2"/>
              </a:rPr>
              <a:t>Outlier &lt; lower  outlier = lower</a:t>
            </a:r>
            <a:endParaRPr lang="en-US" dirty="0"/>
          </a:p>
        </p:txBody>
      </p:sp>
      <p:pic>
        <p:nvPicPr>
          <p:cNvPr id="5" name="Picture 4">
            <a:extLst>
              <a:ext uri="{FF2B5EF4-FFF2-40B4-BE49-F238E27FC236}">
                <a16:creationId xmlns:a16="http://schemas.microsoft.com/office/drawing/2014/main" id="{B1652869-C361-753F-96EC-EB8FE26E2D8C}"/>
              </a:ext>
            </a:extLst>
          </p:cNvPr>
          <p:cNvPicPr>
            <a:picLocks noChangeAspect="1"/>
          </p:cNvPicPr>
          <p:nvPr/>
        </p:nvPicPr>
        <p:blipFill rotWithShape="1">
          <a:blip r:embed="rId2"/>
          <a:srcRect l="4582" t="3941" r="9233" b="2361"/>
          <a:stretch/>
        </p:blipFill>
        <p:spPr>
          <a:xfrm>
            <a:off x="311971" y="2086146"/>
            <a:ext cx="6271708" cy="4069698"/>
          </a:xfrm>
          <a:prstGeom prst="rect">
            <a:avLst/>
          </a:prstGeom>
        </p:spPr>
      </p:pic>
    </p:spTree>
    <p:extLst>
      <p:ext uri="{BB962C8B-B14F-4D97-AF65-F5344CB8AC3E}">
        <p14:creationId xmlns:p14="http://schemas.microsoft.com/office/powerpoint/2010/main" val="340762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167A-40EC-F789-8744-4AB6174B2B40}"/>
              </a:ext>
            </a:extLst>
          </p:cNvPr>
          <p:cNvSpPr>
            <a:spLocks noGrp="1"/>
          </p:cNvSpPr>
          <p:nvPr>
            <p:ph type="title"/>
          </p:nvPr>
        </p:nvSpPr>
        <p:spPr/>
        <p:txBody>
          <a:bodyPr/>
          <a:lstStyle/>
          <a:p>
            <a:r>
              <a:rPr lang="en-US" dirty="0"/>
              <a:t>Distribution of 25 financial indicators and outlier analysis</a:t>
            </a:r>
          </a:p>
        </p:txBody>
      </p:sp>
      <p:graphicFrame>
        <p:nvGraphicFramePr>
          <p:cNvPr id="5" name="Table 4">
            <a:extLst>
              <a:ext uri="{FF2B5EF4-FFF2-40B4-BE49-F238E27FC236}">
                <a16:creationId xmlns:a16="http://schemas.microsoft.com/office/drawing/2014/main" id="{08D950C8-4EC5-B308-C80E-3B13F9733296}"/>
              </a:ext>
            </a:extLst>
          </p:cNvPr>
          <p:cNvGraphicFramePr>
            <a:graphicFrameLocks noGrp="1"/>
          </p:cNvGraphicFramePr>
          <p:nvPr>
            <p:extLst>
              <p:ext uri="{D42A27DB-BD31-4B8C-83A1-F6EECF244321}">
                <p14:modId xmlns:p14="http://schemas.microsoft.com/office/powerpoint/2010/main" val="2334576081"/>
              </p:ext>
            </p:extLst>
          </p:nvPr>
        </p:nvGraphicFramePr>
        <p:xfrm>
          <a:off x="451024" y="1765280"/>
          <a:ext cx="7490584" cy="5092720"/>
        </p:xfrm>
        <a:graphic>
          <a:graphicData uri="http://schemas.openxmlformats.org/drawingml/2006/table">
            <a:tbl>
              <a:tblPr>
                <a:tableStyleId>{F5AB1C69-6EDB-4FF4-983F-18BD219EF322}</a:tableStyleId>
              </a:tblPr>
              <a:tblGrid>
                <a:gridCol w="3289712">
                  <a:extLst>
                    <a:ext uri="{9D8B030D-6E8A-4147-A177-3AD203B41FA5}">
                      <a16:colId xmlns:a16="http://schemas.microsoft.com/office/drawing/2014/main" val="431622166"/>
                    </a:ext>
                  </a:extLst>
                </a:gridCol>
                <a:gridCol w="1925537">
                  <a:extLst>
                    <a:ext uri="{9D8B030D-6E8A-4147-A177-3AD203B41FA5}">
                      <a16:colId xmlns:a16="http://schemas.microsoft.com/office/drawing/2014/main" val="704460693"/>
                    </a:ext>
                  </a:extLst>
                </a:gridCol>
                <a:gridCol w="2275335">
                  <a:extLst>
                    <a:ext uri="{9D8B030D-6E8A-4147-A177-3AD203B41FA5}">
                      <a16:colId xmlns:a16="http://schemas.microsoft.com/office/drawing/2014/main" val="2656330629"/>
                    </a:ext>
                  </a:extLst>
                </a:gridCol>
              </a:tblGrid>
              <a:tr h="375170">
                <a:tc>
                  <a:txBody>
                    <a:bodyPr/>
                    <a:lstStyle/>
                    <a:p>
                      <a:pPr algn="ctr" fontAlgn="ctr"/>
                      <a:r>
                        <a:rPr lang="en-US" sz="1200" b="0" u="none" strike="noStrike" dirty="0">
                          <a:solidFill>
                            <a:schemeClr val="bg1"/>
                          </a:solidFill>
                          <a:effectLst/>
                        </a:rPr>
                        <a:t>Predictors</a:t>
                      </a:r>
                      <a:endParaRPr lang="en-US" sz="1200" b="0" i="0" u="none" strike="noStrike" dirty="0">
                        <a:solidFill>
                          <a:schemeClr val="bg1"/>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solidFill>
                  </a:tcPr>
                </a:tc>
                <a:tc>
                  <a:txBody>
                    <a:bodyPr/>
                    <a:lstStyle/>
                    <a:p>
                      <a:pPr algn="ctr" fontAlgn="ctr"/>
                      <a:r>
                        <a:rPr lang="en-US" sz="1200" b="0" u="none" strike="noStrike" dirty="0">
                          <a:solidFill>
                            <a:schemeClr val="bg1"/>
                          </a:solidFill>
                          <a:effectLst/>
                        </a:rPr>
                        <a:t>Skewness                         (original dataset)</a:t>
                      </a:r>
                      <a:endParaRPr lang="en-US" sz="1200" b="0" i="0" u="none" strike="noStrike" dirty="0">
                        <a:solidFill>
                          <a:schemeClr val="bg1"/>
                        </a:solidFill>
                        <a:effectLst/>
                        <a:latin typeface="Calibri" panose="020F0502020204030204" pitchFamily="34" charset="0"/>
                      </a:endParaRPr>
                    </a:p>
                  </a:txBody>
                  <a:tcPr marL="5822" marR="5822" marT="5822" marB="0" anchor="ctr">
                    <a:lnT w="12700" cap="flat" cmpd="sng" algn="ctr">
                      <a:solidFill>
                        <a:schemeClr val="tx1"/>
                      </a:solidFill>
                      <a:prstDash val="solid"/>
                      <a:round/>
                      <a:headEnd type="none" w="med" len="med"/>
                      <a:tailEnd type="none" w="med" len="med"/>
                    </a:lnT>
                    <a:solidFill>
                      <a:schemeClr val="accent1"/>
                    </a:solidFill>
                  </a:tcPr>
                </a:tc>
                <a:tc>
                  <a:txBody>
                    <a:bodyPr/>
                    <a:lstStyle/>
                    <a:p>
                      <a:pPr algn="ctr" fontAlgn="ctr"/>
                      <a:r>
                        <a:rPr lang="en-US" sz="1200" b="0" u="none" strike="noStrike" dirty="0">
                          <a:solidFill>
                            <a:schemeClr val="bg1"/>
                          </a:solidFill>
                          <a:effectLst/>
                        </a:rPr>
                        <a:t>Skewness                                      (after outliers substitution)</a:t>
                      </a:r>
                      <a:endParaRPr lang="en-US" sz="1200" b="0" i="0" u="none" strike="noStrike" dirty="0">
                        <a:solidFill>
                          <a:schemeClr val="bg1"/>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solidFill>
                  </a:tcPr>
                </a:tc>
                <a:extLst>
                  <a:ext uri="{0D108BD9-81ED-4DB2-BD59-A6C34878D82A}">
                    <a16:rowId xmlns:a16="http://schemas.microsoft.com/office/drawing/2014/main" val="2626829962"/>
                  </a:ext>
                </a:extLst>
              </a:tr>
              <a:tr h="179071">
                <a:tc>
                  <a:txBody>
                    <a:bodyPr/>
                    <a:lstStyle/>
                    <a:p>
                      <a:pPr algn="ctr" fontAlgn="ctr"/>
                      <a:r>
                        <a:rPr lang="en-US" sz="1200" b="0" u="none" strike="noStrike" dirty="0" err="1">
                          <a:solidFill>
                            <a:srgbClr val="000000"/>
                          </a:solidFill>
                          <a:effectLst/>
                        </a:rPr>
                        <a:t>currentRatio</a:t>
                      </a:r>
                      <a:endParaRPr lang="en-US" sz="1200" b="0" i="0" u="none" strike="noStrike" dirty="0">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33.6</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0.9</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61624759"/>
                  </a:ext>
                </a:extLst>
              </a:tr>
              <a:tr h="179071">
                <a:tc>
                  <a:txBody>
                    <a:bodyPr/>
                    <a:lstStyle/>
                    <a:p>
                      <a:pPr algn="ctr" fontAlgn="ctr"/>
                      <a:r>
                        <a:rPr lang="en-US" sz="1200" b="0" u="none" strike="noStrike" dirty="0" err="1">
                          <a:solidFill>
                            <a:srgbClr val="000000"/>
                          </a:solidFill>
                          <a:effectLst/>
                        </a:rPr>
                        <a:t>quickRatio</a:t>
                      </a:r>
                      <a:endParaRPr lang="en-US" sz="1200" b="0" i="0" u="none" strike="noStrike" dirty="0">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30.3</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a:solidFill>
                            <a:srgbClr val="000000"/>
                          </a:solidFill>
                          <a:effectLst/>
                        </a:rPr>
                        <a:t>0.8</a:t>
                      </a:r>
                      <a:endParaRPr lang="en-US" sz="1200" b="0" i="0" u="none" strike="noStrike">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95379822"/>
                  </a:ext>
                </a:extLst>
              </a:tr>
              <a:tr h="179071">
                <a:tc>
                  <a:txBody>
                    <a:bodyPr/>
                    <a:lstStyle/>
                    <a:p>
                      <a:pPr algn="ctr" fontAlgn="ctr"/>
                      <a:r>
                        <a:rPr lang="en-US" sz="1200" b="0" u="none" strike="noStrike" dirty="0" err="1">
                          <a:solidFill>
                            <a:srgbClr val="000000"/>
                          </a:solidFill>
                          <a:effectLst/>
                        </a:rPr>
                        <a:t>cashRatio</a:t>
                      </a:r>
                      <a:endParaRPr lang="en-US" sz="1200" b="0" i="0" u="none" strike="noStrike" dirty="0">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26.7</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a:solidFill>
                            <a:srgbClr val="000000"/>
                          </a:solidFill>
                          <a:effectLst/>
                        </a:rPr>
                        <a:t>1.1</a:t>
                      </a:r>
                      <a:endParaRPr lang="en-US" sz="1200" b="0" i="0" u="none" strike="noStrike">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60569988"/>
                  </a:ext>
                </a:extLst>
              </a:tr>
              <a:tr h="179071">
                <a:tc>
                  <a:txBody>
                    <a:bodyPr/>
                    <a:lstStyle/>
                    <a:p>
                      <a:pPr algn="ctr" fontAlgn="ctr"/>
                      <a:r>
                        <a:rPr lang="en-US" sz="1200" b="0" u="none" strike="noStrike" dirty="0" err="1">
                          <a:solidFill>
                            <a:srgbClr val="000000"/>
                          </a:solidFill>
                          <a:effectLst/>
                        </a:rPr>
                        <a:t>daysOfSalesOutstanding</a:t>
                      </a:r>
                      <a:endParaRPr lang="en-US" sz="1200" b="0" i="0" u="none" strike="noStrike" dirty="0">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21.2</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a:solidFill>
                            <a:srgbClr val="000000"/>
                          </a:solidFill>
                          <a:effectLst/>
                        </a:rPr>
                        <a:t>0.5</a:t>
                      </a:r>
                      <a:endParaRPr lang="en-US" sz="1200" b="0" i="0" u="none" strike="noStrike">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21381980"/>
                  </a:ext>
                </a:extLst>
              </a:tr>
              <a:tr h="179071">
                <a:tc>
                  <a:txBody>
                    <a:bodyPr/>
                    <a:lstStyle/>
                    <a:p>
                      <a:pPr algn="ctr" fontAlgn="ctr"/>
                      <a:r>
                        <a:rPr lang="en-US" sz="1200" b="0" u="none" strike="noStrike" dirty="0" err="1">
                          <a:solidFill>
                            <a:srgbClr val="000000"/>
                          </a:solidFill>
                          <a:effectLst/>
                        </a:rPr>
                        <a:t>netProfitMargin</a:t>
                      </a:r>
                      <a:endParaRPr lang="en-US" sz="1200" b="0" i="0" u="none" strike="noStrike" dirty="0">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1.2</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0.1</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50661713"/>
                  </a:ext>
                </a:extLst>
              </a:tr>
              <a:tr h="179071">
                <a:tc>
                  <a:txBody>
                    <a:bodyPr/>
                    <a:lstStyle/>
                    <a:p>
                      <a:pPr algn="ctr" fontAlgn="ctr"/>
                      <a:r>
                        <a:rPr lang="en-US" sz="1200" b="0" u="none" strike="noStrike" dirty="0" err="1">
                          <a:solidFill>
                            <a:srgbClr val="000000"/>
                          </a:solidFill>
                          <a:effectLst/>
                        </a:rPr>
                        <a:t>pretaxProfitMargin</a:t>
                      </a:r>
                      <a:endParaRPr lang="en-US" sz="1200" b="0" i="0" u="none" strike="noStrike" dirty="0">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7.3</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a:solidFill>
                            <a:srgbClr val="000000"/>
                          </a:solidFill>
                          <a:effectLst/>
                        </a:rPr>
                        <a:t>0.1</a:t>
                      </a:r>
                      <a:endParaRPr lang="en-US" sz="1200" b="0" i="0" u="none" strike="noStrike">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65957309"/>
                  </a:ext>
                </a:extLst>
              </a:tr>
              <a:tr h="179071">
                <a:tc>
                  <a:txBody>
                    <a:bodyPr/>
                    <a:lstStyle/>
                    <a:p>
                      <a:pPr algn="ctr" fontAlgn="ctr"/>
                      <a:r>
                        <a:rPr lang="en-US" sz="1200" b="0" u="none" strike="noStrike">
                          <a:solidFill>
                            <a:srgbClr val="000000"/>
                          </a:solidFill>
                          <a:effectLst/>
                        </a:rPr>
                        <a:t>grossProfitMargin</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-14.3</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a:solidFill>
                            <a:srgbClr val="000000"/>
                          </a:solidFill>
                          <a:effectLst/>
                        </a:rPr>
                        <a:t>0.3</a:t>
                      </a:r>
                      <a:endParaRPr lang="en-US" sz="1200" b="0" i="0" u="none" strike="noStrike">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07754214"/>
                  </a:ext>
                </a:extLst>
              </a:tr>
              <a:tr h="179071">
                <a:tc>
                  <a:txBody>
                    <a:bodyPr/>
                    <a:lstStyle/>
                    <a:p>
                      <a:pPr algn="ctr" fontAlgn="ctr"/>
                      <a:r>
                        <a:rPr lang="en-US" sz="1200" b="0" u="none" strike="noStrike">
                          <a:solidFill>
                            <a:srgbClr val="000000"/>
                          </a:solidFill>
                          <a:effectLst/>
                        </a:rPr>
                        <a:t>operatingProfitMargin</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12.3</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0.1</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70784370"/>
                  </a:ext>
                </a:extLst>
              </a:tr>
              <a:tr h="179071">
                <a:tc>
                  <a:txBody>
                    <a:bodyPr/>
                    <a:lstStyle/>
                    <a:p>
                      <a:pPr algn="ctr" fontAlgn="ctr"/>
                      <a:r>
                        <a:rPr lang="en-US" sz="1200" b="0" u="none" strike="noStrike">
                          <a:solidFill>
                            <a:srgbClr val="000000"/>
                          </a:solidFill>
                          <a:effectLst/>
                        </a:rPr>
                        <a:t>returnOnAssets</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-43.9</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80823326"/>
                  </a:ext>
                </a:extLst>
              </a:tr>
              <a:tr h="179071">
                <a:tc>
                  <a:txBody>
                    <a:bodyPr/>
                    <a:lstStyle/>
                    <a:p>
                      <a:pPr algn="ctr" fontAlgn="ctr"/>
                      <a:r>
                        <a:rPr lang="en-US" sz="1200" b="0" u="none" strike="noStrike">
                          <a:solidFill>
                            <a:srgbClr val="000000"/>
                          </a:solidFill>
                          <a:effectLst/>
                        </a:rPr>
                        <a:t>returnOnCapitalEmployed</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-43.9</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0.1</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88952154"/>
                  </a:ext>
                </a:extLst>
              </a:tr>
              <a:tr h="179071">
                <a:tc>
                  <a:txBody>
                    <a:bodyPr/>
                    <a:lstStyle/>
                    <a:p>
                      <a:pPr algn="ctr" fontAlgn="ctr"/>
                      <a:r>
                        <a:rPr lang="en-US" sz="1200" b="0" u="none" strike="noStrike">
                          <a:solidFill>
                            <a:srgbClr val="000000"/>
                          </a:solidFill>
                          <a:effectLst/>
                        </a:rPr>
                        <a:t>returnOnEquity</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43.8</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99784692"/>
                  </a:ext>
                </a:extLst>
              </a:tr>
              <a:tr h="179071">
                <a:tc>
                  <a:txBody>
                    <a:bodyPr/>
                    <a:lstStyle/>
                    <a:p>
                      <a:pPr algn="ctr" fontAlgn="ctr"/>
                      <a:r>
                        <a:rPr lang="en-US" sz="1200" b="0" u="none" strike="noStrike">
                          <a:solidFill>
                            <a:srgbClr val="000000"/>
                          </a:solidFill>
                          <a:effectLst/>
                        </a:rPr>
                        <a:t>assetTurnover</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31.2</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1</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25737996"/>
                  </a:ext>
                </a:extLst>
              </a:tr>
              <a:tr h="179071">
                <a:tc>
                  <a:txBody>
                    <a:bodyPr/>
                    <a:lstStyle/>
                    <a:p>
                      <a:pPr algn="ctr" fontAlgn="ctr"/>
                      <a:r>
                        <a:rPr lang="en-US" sz="1200" b="0" u="none" strike="noStrike">
                          <a:solidFill>
                            <a:srgbClr val="000000"/>
                          </a:solidFill>
                          <a:effectLst/>
                        </a:rPr>
                        <a:t>fixedAssetTurnover</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31.2</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1.2</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61509664"/>
                  </a:ext>
                </a:extLst>
              </a:tr>
              <a:tr h="179071">
                <a:tc>
                  <a:txBody>
                    <a:bodyPr/>
                    <a:lstStyle/>
                    <a:p>
                      <a:pPr algn="ctr" fontAlgn="ctr"/>
                      <a:r>
                        <a:rPr lang="en-US" sz="1200" b="0" u="none" strike="noStrike">
                          <a:solidFill>
                            <a:srgbClr val="000000"/>
                          </a:solidFill>
                          <a:effectLst/>
                        </a:rPr>
                        <a:t>debtEquityRatio</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28</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0.4</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36006069"/>
                  </a:ext>
                </a:extLst>
              </a:tr>
              <a:tr h="179071">
                <a:tc>
                  <a:txBody>
                    <a:bodyPr/>
                    <a:lstStyle/>
                    <a:p>
                      <a:pPr algn="ctr" fontAlgn="ctr"/>
                      <a:r>
                        <a:rPr lang="en-US" sz="1200" b="0" u="none" strike="noStrike">
                          <a:solidFill>
                            <a:srgbClr val="000000"/>
                          </a:solidFill>
                          <a:effectLst/>
                        </a:rPr>
                        <a:t>debtRatio</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1.2</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0.3</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96694536"/>
                  </a:ext>
                </a:extLst>
              </a:tr>
              <a:tr h="179071">
                <a:tc>
                  <a:txBody>
                    <a:bodyPr/>
                    <a:lstStyle/>
                    <a:p>
                      <a:pPr algn="ctr" fontAlgn="ctr"/>
                      <a:r>
                        <a:rPr lang="en-US" sz="1200" b="0" u="none" strike="noStrike">
                          <a:solidFill>
                            <a:srgbClr val="000000"/>
                          </a:solidFill>
                          <a:effectLst/>
                        </a:rPr>
                        <a:t>effectiveTaxRate</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31.7</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-0.3</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42942811"/>
                  </a:ext>
                </a:extLst>
              </a:tr>
              <a:tr h="179071">
                <a:tc>
                  <a:txBody>
                    <a:bodyPr/>
                    <a:lstStyle/>
                    <a:p>
                      <a:pPr algn="ctr" fontAlgn="ctr"/>
                      <a:r>
                        <a:rPr lang="en-US" sz="1200" b="0" u="none" strike="noStrike">
                          <a:solidFill>
                            <a:srgbClr val="000000"/>
                          </a:solidFill>
                          <a:effectLst/>
                        </a:rPr>
                        <a:t>freeCashFlowOperatingCashFlowRatio</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-22.5</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-0.7</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22056818"/>
                  </a:ext>
                </a:extLst>
              </a:tr>
              <a:tr h="179071">
                <a:tc>
                  <a:txBody>
                    <a:bodyPr/>
                    <a:lstStyle/>
                    <a:p>
                      <a:pPr algn="ctr" fontAlgn="ctr"/>
                      <a:r>
                        <a:rPr lang="en-US" sz="1200" b="0" u="none" strike="noStrike">
                          <a:solidFill>
                            <a:srgbClr val="000000"/>
                          </a:solidFill>
                          <a:effectLst/>
                        </a:rPr>
                        <a:t>freeCashFlowPerShare</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33.4</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0.3</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05113433"/>
                  </a:ext>
                </a:extLst>
              </a:tr>
              <a:tr h="179071">
                <a:tc>
                  <a:txBody>
                    <a:bodyPr/>
                    <a:lstStyle/>
                    <a:p>
                      <a:pPr algn="ctr" fontAlgn="ctr"/>
                      <a:r>
                        <a:rPr lang="en-US" sz="1200" b="0" u="none" strike="noStrike">
                          <a:solidFill>
                            <a:srgbClr val="000000"/>
                          </a:solidFill>
                          <a:effectLst/>
                        </a:rPr>
                        <a:t>cashPerShare</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36.7</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1.1</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90824448"/>
                  </a:ext>
                </a:extLst>
              </a:tr>
              <a:tr h="179071">
                <a:tc>
                  <a:txBody>
                    <a:bodyPr/>
                    <a:lstStyle/>
                    <a:p>
                      <a:pPr algn="ctr" fontAlgn="ctr"/>
                      <a:r>
                        <a:rPr lang="en-US" sz="1200" b="0" u="none" strike="noStrike">
                          <a:solidFill>
                            <a:srgbClr val="000000"/>
                          </a:solidFill>
                          <a:effectLst/>
                        </a:rPr>
                        <a:t>companyEquityMultiplier</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28</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0.4</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72807165"/>
                  </a:ext>
                </a:extLst>
              </a:tr>
              <a:tr h="179071">
                <a:tc>
                  <a:txBody>
                    <a:bodyPr/>
                    <a:lstStyle/>
                    <a:p>
                      <a:pPr algn="ctr" fontAlgn="ctr"/>
                      <a:r>
                        <a:rPr lang="en-US" sz="1200" b="0" u="none" strike="noStrike">
                          <a:solidFill>
                            <a:srgbClr val="000000"/>
                          </a:solidFill>
                          <a:effectLst/>
                        </a:rPr>
                        <a:t>ebitPerRevenue</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7.3</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0.1</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00940886"/>
                  </a:ext>
                </a:extLst>
              </a:tr>
              <a:tr h="179071">
                <a:tc>
                  <a:txBody>
                    <a:bodyPr/>
                    <a:lstStyle/>
                    <a:p>
                      <a:pPr algn="ctr" fontAlgn="ctr"/>
                      <a:r>
                        <a:rPr lang="en-US" sz="1200" b="0" u="none" strike="noStrike">
                          <a:solidFill>
                            <a:srgbClr val="000000"/>
                          </a:solidFill>
                          <a:effectLst/>
                        </a:rPr>
                        <a:t>enterpriseValueMultiple</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13.7</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0.2</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89141038"/>
                  </a:ext>
                </a:extLst>
              </a:tr>
              <a:tr h="179071">
                <a:tc>
                  <a:txBody>
                    <a:bodyPr/>
                    <a:lstStyle/>
                    <a:p>
                      <a:pPr algn="ctr" fontAlgn="ctr"/>
                      <a:r>
                        <a:rPr lang="en-US" sz="1200" b="0" u="none" strike="noStrike">
                          <a:solidFill>
                            <a:srgbClr val="000000"/>
                          </a:solidFill>
                          <a:effectLst/>
                        </a:rPr>
                        <a:t>operatingCashFlowPerShare</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rgbClr val="000000"/>
                          </a:solidFill>
                          <a:effectLst/>
                        </a:rPr>
                        <a:t>32.3</a:t>
                      </a:r>
                      <a:endParaRPr lang="en-US" sz="1200" b="0" i="0" u="none" strike="noStrike" dirty="0">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0.7</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1398900"/>
                  </a:ext>
                </a:extLst>
              </a:tr>
              <a:tr h="0">
                <a:tc>
                  <a:txBody>
                    <a:bodyPr/>
                    <a:lstStyle/>
                    <a:p>
                      <a:pPr algn="ctr" fontAlgn="ctr"/>
                      <a:r>
                        <a:rPr lang="en-US" sz="1200" b="0" u="none" strike="noStrike">
                          <a:solidFill>
                            <a:srgbClr val="000000"/>
                          </a:solidFill>
                          <a:effectLst/>
                        </a:rPr>
                        <a:t>operatingCashFlowSalesRatio</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a:solidFill>
                            <a:srgbClr val="000000"/>
                          </a:solidFill>
                          <a:effectLst/>
                        </a:rPr>
                        <a:t>15.6</a:t>
                      </a:r>
                      <a:endParaRPr lang="en-US" sz="1200" b="0" i="0" u="none" strike="noStrike">
                        <a:solidFill>
                          <a:srgbClr val="000000"/>
                        </a:solidFill>
                        <a:effectLst/>
                        <a:latin typeface="Calibri" panose="020F0502020204030204" pitchFamily="34" charset="0"/>
                      </a:endParaRPr>
                    </a:p>
                  </a:txBody>
                  <a:tcPr marL="5822" marR="5822" marT="5822" marB="0" anchor="ctr"/>
                </a:tc>
                <a:tc>
                  <a:txBody>
                    <a:bodyPr/>
                    <a:lstStyle/>
                    <a:p>
                      <a:pPr algn="ctr" fontAlgn="ctr"/>
                      <a:r>
                        <a:rPr lang="en-US" sz="1200" b="0" u="none" strike="noStrike" dirty="0">
                          <a:solidFill>
                            <a:srgbClr val="000000"/>
                          </a:solidFill>
                          <a:effectLst/>
                        </a:rPr>
                        <a:t>0.8</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31895720"/>
                  </a:ext>
                </a:extLst>
              </a:tr>
              <a:tr h="179071">
                <a:tc>
                  <a:txBody>
                    <a:bodyPr/>
                    <a:lstStyle/>
                    <a:p>
                      <a:pPr algn="ctr" fontAlgn="ctr"/>
                      <a:r>
                        <a:rPr lang="en-US" sz="1200" b="0" u="none" strike="noStrike">
                          <a:solidFill>
                            <a:srgbClr val="000000"/>
                          </a:solidFill>
                          <a:effectLst/>
                        </a:rPr>
                        <a:t>payablesTurnover</a:t>
                      </a:r>
                      <a:endParaRPr lang="en-US" sz="1200" b="0" i="0" u="none" strike="noStrike">
                        <a:solidFill>
                          <a:srgbClr val="000000"/>
                        </a:solidFill>
                        <a:effectLst/>
                        <a:latin typeface="Calibri" panose="020F0502020204030204" pitchFamily="34" charset="0"/>
                      </a:endParaRPr>
                    </a:p>
                  </a:txBody>
                  <a:tcPr marL="5822" marR="5822" marT="5822"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000000"/>
                          </a:solidFill>
                          <a:effectLst/>
                        </a:rPr>
                        <a:t>25.4</a:t>
                      </a:r>
                      <a:endParaRPr lang="en-US" sz="1200" b="0" i="0" u="none" strike="noStrike" dirty="0">
                        <a:solidFill>
                          <a:srgbClr val="000000"/>
                        </a:solidFill>
                        <a:effectLst/>
                        <a:latin typeface="Calibri" panose="020F0502020204030204" pitchFamily="34" charset="0"/>
                      </a:endParaRPr>
                    </a:p>
                  </a:txBody>
                  <a:tcPr marL="5822" marR="5822" marT="5822"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000000"/>
                          </a:solidFill>
                          <a:effectLst/>
                        </a:rPr>
                        <a:t>0.8</a:t>
                      </a:r>
                      <a:endParaRPr lang="en-US" sz="1200" b="0" i="0" u="none" strike="noStrike" dirty="0">
                        <a:solidFill>
                          <a:srgbClr val="000000"/>
                        </a:solidFill>
                        <a:effectLst/>
                        <a:latin typeface="Calibri" panose="020F0502020204030204" pitchFamily="34" charset="0"/>
                      </a:endParaRPr>
                    </a:p>
                  </a:txBody>
                  <a:tcPr marL="5822" marR="5822" marT="5822"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788856"/>
                  </a:ext>
                </a:extLst>
              </a:tr>
            </a:tbl>
          </a:graphicData>
        </a:graphic>
      </p:graphicFrame>
      <p:sp>
        <p:nvSpPr>
          <p:cNvPr id="6" name="Content Placeholder 2">
            <a:extLst>
              <a:ext uri="{FF2B5EF4-FFF2-40B4-BE49-F238E27FC236}">
                <a16:creationId xmlns:a16="http://schemas.microsoft.com/office/drawing/2014/main" id="{027AF7EE-A4E5-7FD4-4C25-F9E140869F7F}"/>
              </a:ext>
            </a:extLst>
          </p:cNvPr>
          <p:cNvSpPr txBox="1">
            <a:spLocks/>
          </p:cNvSpPr>
          <p:nvPr/>
        </p:nvSpPr>
        <p:spPr>
          <a:xfrm>
            <a:off x="8065971" y="1847532"/>
            <a:ext cx="3685396" cy="510205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800" dirty="0"/>
              <a:t>After the substitution of outliers absolute skewness for each financial indicator ranged between 0 and 1.</a:t>
            </a:r>
            <a:endParaRPr lang="en-US" dirty="0"/>
          </a:p>
          <a:p>
            <a:endParaRPr lang="en-US" dirty="0"/>
          </a:p>
        </p:txBody>
      </p:sp>
    </p:spTree>
    <p:extLst>
      <p:ext uri="{BB962C8B-B14F-4D97-AF65-F5344CB8AC3E}">
        <p14:creationId xmlns:p14="http://schemas.microsoft.com/office/powerpoint/2010/main" val="2732406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D189-EC2F-6FBC-4320-C59A9498D0EF}"/>
              </a:ext>
            </a:extLst>
          </p:cNvPr>
          <p:cNvSpPr>
            <a:spLocks noGrp="1"/>
          </p:cNvSpPr>
          <p:nvPr>
            <p:ph type="title"/>
          </p:nvPr>
        </p:nvSpPr>
        <p:spPr/>
        <p:txBody>
          <a:bodyPr/>
          <a:lstStyle/>
          <a:p>
            <a:r>
              <a:rPr lang="en-US" dirty="0"/>
              <a:t>Distribution of 25 financial indicators and outlier analysis</a:t>
            </a:r>
          </a:p>
        </p:txBody>
      </p:sp>
      <p:pic>
        <p:nvPicPr>
          <p:cNvPr id="4" name="Content Placeholder 3">
            <a:extLst>
              <a:ext uri="{FF2B5EF4-FFF2-40B4-BE49-F238E27FC236}">
                <a16:creationId xmlns:a16="http://schemas.microsoft.com/office/drawing/2014/main" id="{5CC3B3B1-09BA-CF54-32C4-462BD606A0D9}"/>
              </a:ext>
            </a:extLst>
          </p:cNvPr>
          <p:cNvPicPr>
            <a:picLocks noGrp="1" noChangeAspect="1"/>
          </p:cNvPicPr>
          <p:nvPr>
            <p:ph idx="1"/>
          </p:nvPr>
        </p:nvPicPr>
        <p:blipFill rotWithShape="1">
          <a:blip r:embed="rId2"/>
          <a:srcRect l="50000"/>
          <a:stretch/>
        </p:blipFill>
        <p:spPr>
          <a:xfrm>
            <a:off x="426029" y="1873232"/>
            <a:ext cx="3646841" cy="2371509"/>
          </a:xfrm>
          <a:prstGeom prst="rect">
            <a:avLst/>
          </a:prstGeom>
        </p:spPr>
      </p:pic>
      <p:pic>
        <p:nvPicPr>
          <p:cNvPr id="6" name="Picture 5">
            <a:extLst>
              <a:ext uri="{FF2B5EF4-FFF2-40B4-BE49-F238E27FC236}">
                <a16:creationId xmlns:a16="http://schemas.microsoft.com/office/drawing/2014/main" id="{1D8BB8C0-6E68-4C8B-9DCD-C5905925D6B2}"/>
              </a:ext>
            </a:extLst>
          </p:cNvPr>
          <p:cNvPicPr>
            <a:picLocks noChangeAspect="1"/>
          </p:cNvPicPr>
          <p:nvPr/>
        </p:nvPicPr>
        <p:blipFill rotWithShape="1">
          <a:blip r:embed="rId3"/>
          <a:srcRect l="50327"/>
          <a:stretch/>
        </p:blipFill>
        <p:spPr>
          <a:xfrm>
            <a:off x="4346343" y="1873232"/>
            <a:ext cx="3646841" cy="2371509"/>
          </a:xfrm>
          <a:prstGeom prst="rect">
            <a:avLst/>
          </a:prstGeom>
        </p:spPr>
      </p:pic>
      <p:pic>
        <p:nvPicPr>
          <p:cNvPr id="7" name="Picture 6">
            <a:extLst>
              <a:ext uri="{FF2B5EF4-FFF2-40B4-BE49-F238E27FC236}">
                <a16:creationId xmlns:a16="http://schemas.microsoft.com/office/drawing/2014/main" id="{B15E94BE-6E15-E184-ED10-FAEE0356900F}"/>
              </a:ext>
            </a:extLst>
          </p:cNvPr>
          <p:cNvPicPr>
            <a:picLocks noChangeAspect="1"/>
          </p:cNvPicPr>
          <p:nvPr/>
        </p:nvPicPr>
        <p:blipFill rotWithShape="1">
          <a:blip r:embed="rId4"/>
          <a:srcRect l="50285"/>
          <a:stretch/>
        </p:blipFill>
        <p:spPr>
          <a:xfrm>
            <a:off x="426028" y="4379495"/>
            <a:ext cx="3646842" cy="2478505"/>
          </a:xfrm>
          <a:prstGeom prst="rect">
            <a:avLst/>
          </a:prstGeom>
        </p:spPr>
      </p:pic>
      <p:pic>
        <p:nvPicPr>
          <p:cNvPr id="9" name="Picture 8">
            <a:extLst>
              <a:ext uri="{FF2B5EF4-FFF2-40B4-BE49-F238E27FC236}">
                <a16:creationId xmlns:a16="http://schemas.microsoft.com/office/drawing/2014/main" id="{2296B968-86DD-7E5D-9EB4-67EB15116DD6}"/>
              </a:ext>
            </a:extLst>
          </p:cNvPr>
          <p:cNvPicPr>
            <a:picLocks noChangeAspect="1"/>
          </p:cNvPicPr>
          <p:nvPr/>
        </p:nvPicPr>
        <p:blipFill rotWithShape="1">
          <a:blip r:embed="rId5"/>
          <a:srcRect l="50327"/>
          <a:stretch/>
        </p:blipFill>
        <p:spPr>
          <a:xfrm>
            <a:off x="4346343" y="4268802"/>
            <a:ext cx="3646841" cy="2478505"/>
          </a:xfrm>
          <a:prstGeom prst="rect">
            <a:avLst/>
          </a:prstGeom>
        </p:spPr>
      </p:pic>
      <p:sp>
        <p:nvSpPr>
          <p:cNvPr id="8" name="Content Placeholder 2">
            <a:extLst>
              <a:ext uri="{FF2B5EF4-FFF2-40B4-BE49-F238E27FC236}">
                <a16:creationId xmlns:a16="http://schemas.microsoft.com/office/drawing/2014/main" id="{6FF9F4C2-AA57-A799-9AF0-4F17C4192F27}"/>
              </a:ext>
            </a:extLst>
          </p:cNvPr>
          <p:cNvSpPr txBox="1">
            <a:spLocks/>
          </p:cNvSpPr>
          <p:nvPr/>
        </p:nvSpPr>
        <p:spPr>
          <a:xfrm>
            <a:off x="8223041" y="1873232"/>
            <a:ext cx="3628469" cy="510205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The distribution of each predictor is significantly improved after outlier substitution.</a:t>
            </a:r>
          </a:p>
          <a:p>
            <a:r>
              <a:rPr lang="en-US" dirty="0"/>
              <a:t>Predictors are approximately normally distributed.</a:t>
            </a:r>
          </a:p>
          <a:p>
            <a:endParaRPr lang="en-US" dirty="0"/>
          </a:p>
        </p:txBody>
      </p:sp>
    </p:spTree>
    <p:extLst>
      <p:ext uri="{BB962C8B-B14F-4D97-AF65-F5344CB8AC3E}">
        <p14:creationId xmlns:p14="http://schemas.microsoft.com/office/powerpoint/2010/main" val="3608811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2CC6-6D33-5D9E-D037-68F6C808AF7C}"/>
              </a:ext>
            </a:extLst>
          </p:cNvPr>
          <p:cNvSpPr>
            <a:spLocks noGrp="1"/>
          </p:cNvSpPr>
          <p:nvPr>
            <p:ph type="title"/>
          </p:nvPr>
        </p:nvSpPr>
        <p:spPr/>
        <p:txBody>
          <a:bodyPr/>
          <a:lstStyle/>
          <a:p>
            <a:r>
              <a:rPr lang="en-US" dirty="0"/>
              <a:t>Proper Metric and ML algorithms</a:t>
            </a:r>
          </a:p>
        </p:txBody>
      </p:sp>
      <p:sp>
        <p:nvSpPr>
          <p:cNvPr id="3" name="Content Placeholder 2">
            <a:extLst>
              <a:ext uri="{FF2B5EF4-FFF2-40B4-BE49-F238E27FC236}">
                <a16:creationId xmlns:a16="http://schemas.microsoft.com/office/drawing/2014/main" id="{00AE72BC-4394-061E-6349-A0BF4CBB7EA2}"/>
              </a:ext>
            </a:extLst>
          </p:cNvPr>
          <p:cNvSpPr>
            <a:spLocks noGrp="1"/>
          </p:cNvSpPr>
          <p:nvPr>
            <p:ph idx="1"/>
          </p:nvPr>
        </p:nvSpPr>
        <p:spPr>
          <a:xfrm>
            <a:off x="438715" y="2185609"/>
            <a:ext cx="6099306" cy="4080455"/>
          </a:xfrm>
        </p:spPr>
        <p:txBody>
          <a:bodyPr/>
          <a:lstStyle/>
          <a:p>
            <a:r>
              <a:rPr lang="en-US" dirty="0"/>
              <a:t>Set of predictors: 25 financial indicators + Sector</a:t>
            </a:r>
          </a:p>
          <a:p>
            <a:r>
              <a:rPr lang="en-US" dirty="0"/>
              <a:t>Target/Response variable: Risk level / Credit Rating</a:t>
            </a:r>
          </a:p>
          <a:p>
            <a:r>
              <a:rPr lang="en-US" dirty="0"/>
              <a:t>ML classification algorithms: Random Forest, Gradient Boosting, KNN, Logistic Regression, Linear Discriminant Analysis (Appendix 1 – 5)</a:t>
            </a:r>
          </a:p>
          <a:p>
            <a:r>
              <a:rPr lang="en-US" dirty="0"/>
              <a:t>80% Train dataset, 20% Test dataset</a:t>
            </a:r>
          </a:p>
          <a:p>
            <a:r>
              <a:rPr lang="en-US" dirty="0"/>
              <a:t>For KNN, the function finds the best k (number of neighbors)</a:t>
            </a:r>
          </a:p>
          <a:p>
            <a:r>
              <a:rPr lang="en-US" dirty="0"/>
              <a:t>Problem: Imbalanced dataset</a:t>
            </a:r>
          </a:p>
          <a:p>
            <a:endParaRPr lang="en-US" dirty="0"/>
          </a:p>
        </p:txBody>
      </p:sp>
      <p:pic>
        <p:nvPicPr>
          <p:cNvPr id="4" name="Content Placeholder 4">
            <a:extLst>
              <a:ext uri="{FF2B5EF4-FFF2-40B4-BE49-F238E27FC236}">
                <a16:creationId xmlns:a16="http://schemas.microsoft.com/office/drawing/2014/main" id="{5B8AB7AE-5731-0022-9AFA-F6701F3B0372}"/>
              </a:ext>
            </a:extLst>
          </p:cNvPr>
          <p:cNvPicPr>
            <a:picLocks noChangeAspect="1"/>
          </p:cNvPicPr>
          <p:nvPr/>
        </p:nvPicPr>
        <p:blipFill>
          <a:blip r:embed="rId2"/>
          <a:stretch>
            <a:fillRect/>
          </a:stretch>
        </p:blipFill>
        <p:spPr>
          <a:xfrm>
            <a:off x="6369627" y="1832262"/>
            <a:ext cx="4764538" cy="2393575"/>
          </a:xfrm>
          <a:prstGeom prst="rect">
            <a:avLst/>
          </a:prstGeom>
        </p:spPr>
      </p:pic>
      <p:pic>
        <p:nvPicPr>
          <p:cNvPr id="5" name="Picture 4">
            <a:extLst>
              <a:ext uri="{FF2B5EF4-FFF2-40B4-BE49-F238E27FC236}">
                <a16:creationId xmlns:a16="http://schemas.microsoft.com/office/drawing/2014/main" id="{C819B297-ABF8-8F31-3C85-AA351077DD22}"/>
              </a:ext>
            </a:extLst>
          </p:cNvPr>
          <p:cNvPicPr>
            <a:picLocks noChangeAspect="1"/>
          </p:cNvPicPr>
          <p:nvPr/>
        </p:nvPicPr>
        <p:blipFill>
          <a:blip r:embed="rId3"/>
          <a:stretch>
            <a:fillRect/>
          </a:stretch>
        </p:blipFill>
        <p:spPr>
          <a:xfrm>
            <a:off x="6479403" y="4225836"/>
            <a:ext cx="4654761" cy="2632164"/>
          </a:xfrm>
          <a:prstGeom prst="rect">
            <a:avLst/>
          </a:prstGeom>
        </p:spPr>
      </p:pic>
    </p:spTree>
    <p:extLst>
      <p:ext uri="{BB962C8B-B14F-4D97-AF65-F5344CB8AC3E}">
        <p14:creationId xmlns:p14="http://schemas.microsoft.com/office/powerpoint/2010/main" val="3540010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61A0-6382-E3E1-DA3E-D801D1933889}"/>
              </a:ext>
            </a:extLst>
          </p:cNvPr>
          <p:cNvSpPr>
            <a:spLocks noGrp="1"/>
          </p:cNvSpPr>
          <p:nvPr>
            <p:ph type="title"/>
          </p:nvPr>
        </p:nvSpPr>
        <p:spPr>
          <a:xfrm>
            <a:off x="581192" y="889192"/>
            <a:ext cx="11029616" cy="825430"/>
          </a:xfrm>
        </p:spPr>
        <p:txBody>
          <a:bodyPr>
            <a:noAutofit/>
          </a:bodyPr>
          <a:lstStyle/>
          <a:p>
            <a:r>
              <a:rPr lang="en-US" dirty="0"/>
              <a:t>Proper Metric and ML algorithms</a:t>
            </a:r>
            <a:br>
              <a:rPr lang="en-US" dirty="0"/>
            </a:br>
            <a:r>
              <a:rPr lang="en-US" dirty="0"/>
              <a:t>Accuracy -&gt; Not relevant</a:t>
            </a:r>
          </a:p>
        </p:txBody>
      </p:sp>
      <p:pic>
        <p:nvPicPr>
          <p:cNvPr id="12" name="Picture 11">
            <a:extLst>
              <a:ext uri="{FF2B5EF4-FFF2-40B4-BE49-F238E27FC236}">
                <a16:creationId xmlns:a16="http://schemas.microsoft.com/office/drawing/2014/main" id="{9A4A2BCF-D62F-CF62-07CB-6F61C7EBEE43}"/>
              </a:ext>
            </a:extLst>
          </p:cNvPr>
          <p:cNvPicPr>
            <a:picLocks noChangeAspect="1"/>
          </p:cNvPicPr>
          <p:nvPr/>
        </p:nvPicPr>
        <p:blipFill rotWithShape="1">
          <a:blip r:embed="rId2"/>
          <a:srcRect r="15409"/>
          <a:stretch/>
        </p:blipFill>
        <p:spPr>
          <a:xfrm>
            <a:off x="1028220" y="2125652"/>
            <a:ext cx="8489853" cy="4218927"/>
          </a:xfrm>
          <a:prstGeom prst="rect">
            <a:avLst/>
          </a:prstGeom>
        </p:spPr>
      </p:pic>
    </p:spTree>
    <p:extLst>
      <p:ext uri="{BB962C8B-B14F-4D97-AF65-F5344CB8AC3E}">
        <p14:creationId xmlns:p14="http://schemas.microsoft.com/office/powerpoint/2010/main" val="115151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C5614-BAD4-458D-8367-860D6EE99E77}"/>
              </a:ext>
            </a:extLst>
          </p:cNvPr>
          <p:cNvSpPr>
            <a:spLocks noGrp="1"/>
          </p:cNvSpPr>
          <p:nvPr>
            <p:ph type="title"/>
          </p:nvPr>
        </p:nvSpPr>
        <p:spPr/>
        <p:txBody>
          <a:bodyPr/>
          <a:lstStyle/>
          <a:p>
            <a:r>
              <a:rPr lang="en-US" dirty="0"/>
              <a:t>Proper Metric and ML algorithms</a:t>
            </a:r>
            <a:br>
              <a:rPr lang="en-US" dirty="0"/>
            </a:br>
            <a:r>
              <a:rPr lang="en-US" dirty="0"/>
              <a:t>Accuracy -&gt; not relevant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60B47F-42C3-DDB1-00D6-53BE1F3BCB44}"/>
                  </a:ext>
                </a:extLst>
              </p:cNvPr>
              <p:cNvSpPr>
                <a:spLocks noGrp="1"/>
              </p:cNvSpPr>
              <p:nvPr>
                <p:ph idx="1"/>
              </p:nvPr>
            </p:nvSpPr>
            <p:spPr>
              <a:xfrm>
                <a:off x="439554" y="1861118"/>
                <a:ext cx="5782569" cy="5102050"/>
              </a:xfrm>
            </p:spPr>
            <p:txBody>
              <a:bodyPr>
                <a:normAutofit/>
              </a:bodyPr>
              <a:lstStyle/>
              <a:p>
                <a14:m>
                  <m:oMath xmlns:m="http://schemas.openxmlformats.org/officeDocument/2006/math">
                    <m:r>
                      <a:rPr lang="en-US">
                        <a:latin typeface="Cambria Math" panose="02040503050406030204" pitchFamily="18" charset="0"/>
                      </a:rPr>
                      <m:t>𝐴𝑐𝑐𝑢𝑟𝑎𝑐𝑦</m:t>
                    </m:r>
                    <m:r>
                      <a:rPr lang="en-US">
                        <a:latin typeface="Cambria Math" panose="02040503050406030204" pitchFamily="18" charset="0"/>
                      </a:rPr>
                      <m:t> </m:t>
                    </m:r>
                    <m:r>
                      <a:rPr lang="en-US">
                        <a:latin typeface="Cambria Math" panose="02040503050406030204" pitchFamily="18" charset="0"/>
                      </a:rPr>
                      <m:t>𝑓𝑜𝑟</m:t>
                    </m:r>
                    <m:r>
                      <a:rPr lang="en-US">
                        <a:latin typeface="Cambria Math" panose="02040503050406030204" pitchFamily="18" charset="0"/>
                      </a:rPr>
                      <m:t> </m:t>
                    </m:r>
                    <m:r>
                      <a:rPr lang="en-US">
                        <a:latin typeface="Cambria Math" panose="02040503050406030204" pitchFamily="18" charset="0"/>
                      </a:rPr>
                      <m:t>𝑅𝐹</m:t>
                    </m:r>
                    <m:r>
                      <a:rPr lang="en-US">
                        <a:latin typeface="Cambria Math" panose="02040503050406030204" pitchFamily="18" charset="0"/>
                      </a:rPr>
                      <m:t>= </m:t>
                    </m:r>
                    <m:f>
                      <m:fPr>
                        <m:ctrlPr>
                          <a:rPr lang="en-US" i="1">
                            <a:latin typeface="Cambria Math" panose="02040503050406030204" pitchFamily="18" charset="0"/>
                          </a:rPr>
                        </m:ctrlPr>
                      </m:fPr>
                      <m:num>
                        <m:r>
                          <a:rPr lang="en-US">
                            <a:latin typeface="Cambria Math" panose="02040503050406030204" pitchFamily="18" charset="0"/>
                          </a:rPr>
                          <m:t>60 + 77+ 122 +0 </m:t>
                        </m:r>
                      </m:num>
                      <m:den>
                        <m:r>
                          <a:rPr lang="en-US">
                            <a:latin typeface="Cambria Math" panose="02040503050406030204" pitchFamily="18" charset="0"/>
                          </a:rPr>
                          <m:t>95 + 129 + 153 + 12</m:t>
                        </m:r>
                      </m:den>
                    </m:f>
                  </m:oMath>
                </a14:m>
                <a:endParaRPr lang="en-US" dirty="0"/>
              </a:p>
              <a:p>
                <a14:m>
                  <m:oMath xmlns:m="http://schemas.openxmlformats.org/officeDocument/2006/math">
                    <m:r>
                      <a:rPr lang="en-US">
                        <a:latin typeface="Cambria Math" panose="02040503050406030204" pitchFamily="18" charset="0"/>
                      </a:rPr>
                      <m:t>𝐴𝑐𝑐𝑢𝑟𝑎𝑐𝑦</m:t>
                    </m:r>
                    <m:r>
                      <a:rPr lang="en-US">
                        <a:latin typeface="Cambria Math" panose="02040503050406030204" pitchFamily="18" charset="0"/>
                      </a:rPr>
                      <m:t> </m:t>
                    </m:r>
                    <m:r>
                      <a:rPr lang="en-US">
                        <a:latin typeface="Cambria Math" panose="02040503050406030204" pitchFamily="18" charset="0"/>
                      </a:rPr>
                      <m:t>𝑓𝑜𝑟</m:t>
                    </m:r>
                    <m:r>
                      <a:rPr lang="en-US">
                        <a:latin typeface="Cambria Math" panose="02040503050406030204" pitchFamily="18" charset="0"/>
                      </a:rPr>
                      <m:t> </m:t>
                    </m:r>
                    <m:r>
                      <a:rPr lang="en-US">
                        <a:latin typeface="Cambria Math" panose="02040503050406030204" pitchFamily="18" charset="0"/>
                      </a:rPr>
                      <m:t>𝑅𝐹</m:t>
                    </m:r>
                    <m:r>
                      <a:rPr lang="en-US">
                        <a:latin typeface="Cambria Math" panose="02040503050406030204" pitchFamily="18" charset="0"/>
                      </a:rPr>
                      <m:t>= </m:t>
                    </m:r>
                    <m:f>
                      <m:fPr>
                        <m:ctrlPr>
                          <a:rPr lang="en-US" i="1">
                            <a:latin typeface="Cambria Math" panose="02040503050406030204" pitchFamily="18" charset="0"/>
                          </a:rPr>
                        </m:ctrlPr>
                      </m:fPr>
                      <m:num>
                        <m:r>
                          <a:rPr lang="en-US">
                            <a:latin typeface="Cambria Math" panose="02040503050406030204" pitchFamily="18" charset="0"/>
                          </a:rPr>
                          <m:t>259</m:t>
                        </m:r>
                      </m:num>
                      <m:den>
                        <m:r>
                          <a:rPr lang="en-US">
                            <a:latin typeface="Cambria Math" panose="02040503050406030204" pitchFamily="18" charset="0"/>
                          </a:rPr>
                          <m:t>389</m:t>
                        </m:r>
                      </m:den>
                    </m:f>
                    <m:r>
                      <a:rPr lang="en-US">
                        <a:latin typeface="Cambria Math" panose="02040503050406030204" pitchFamily="18" charset="0"/>
                      </a:rPr>
                      <m:t>=66.58%</m:t>
                    </m:r>
                  </m:oMath>
                </a14:m>
                <a:r>
                  <a:rPr lang="en-US" dirty="0"/>
                  <a:t> </a:t>
                </a:r>
              </a:p>
              <a:p>
                <a:r>
                  <a:rPr lang="en-US" dirty="0"/>
                  <a:t>For minority class </a:t>
                </a:r>
                <a:r>
                  <a:rPr lang="en-US" dirty="0" err="1"/>
                  <a:t>Risk_level</a:t>
                </a:r>
                <a:r>
                  <a:rPr lang="en-US" dirty="0"/>
                  <a:t> = 4 (Highest risk)  0% of observations were predicted right.</a:t>
                </a:r>
              </a:p>
              <a:p>
                <a:r>
                  <a:rPr lang="en-US" dirty="0"/>
                  <a:t>The dataset is very imbalanced, as the minority class (</a:t>
                </a:r>
                <a:r>
                  <a:rPr lang="en-US" dirty="0" err="1"/>
                  <a:t>Risk_level</a:t>
                </a:r>
                <a:r>
                  <a:rPr lang="en-US" dirty="0"/>
                  <a:t> = 4) contains only 62 observations out of 1945.</a:t>
                </a:r>
              </a:p>
              <a:p>
                <a:r>
                  <a:rPr lang="en-US" dirty="0"/>
                  <a:t>The misclassification of minor class is very high. </a:t>
                </a:r>
              </a:p>
              <a:p>
                <a:endParaRPr lang="en-US" dirty="0"/>
              </a:p>
            </p:txBody>
          </p:sp>
        </mc:Choice>
        <mc:Fallback xmlns="">
          <p:sp>
            <p:nvSpPr>
              <p:cNvPr id="3" name="Content Placeholder 2">
                <a:extLst>
                  <a:ext uri="{FF2B5EF4-FFF2-40B4-BE49-F238E27FC236}">
                    <a16:creationId xmlns:a16="http://schemas.microsoft.com/office/drawing/2014/main" id="{B260B47F-42C3-DDB1-00D6-53BE1F3BCB44}"/>
                  </a:ext>
                </a:extLst>
              </p:cNvPr>
              <p:cNvSpPr>
                <a:spLocks noGrp="1" noRot="1" noChangeAspect="1" noMove="1" noResize="1" noEditPoints="1" noAdjustHandles="1" noChangeArrowheads="1" noChangeShapeType="1" noTextEdit="1"/>
              </p:cNvSpPr>
              <p:nvPr>
                <p:ph idx="1"/>
              </p:nvPr>
            </p:nvSpPr>
            <p:spPr>
              <a:xfrm>
                <a:off x="439554" y="1861118"/>
                <a:ext cx="5782569" cy="5102050"/>
              </a:xfrm>
              <a:blipFill>
                <a:blip r:embed="rId2"/>
                <a:stretch>
                  <a:fillRect l="-219"/>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93DC91E8-880C-DFCE-6752-CD4DC1DB775E}"/>
              </a:ext>
            </a:extLst>
          </p:cNvPr>
          <p:cNvGraphicFramePr>
            <a:graphicFrameLocks noGrp="1"/>
          </p:cNvGraphicFramePr>
          <p:nvPr>
            <p:extLst>
              <p:ext uri="{D42A27DB-BD31-4B8C-83A1-F6EECF244321}">
                <p14:modId xmlns:p14="http://schemas.microsoft.com/office/powerpoint/2010/main" val="3711512633"/>
              </p:ext>
            </p:extLst>
          </p:nvPr>
        </p:nvGraphicFramePr>
        <p:xfrm>
          <a:off x="6222123" y="2376655"/>
          <a:ext cx="5367720" cy="4070977"/>
        </p:xfrm>
        <a:graphic>
          <a:graphicData uri="http://schemas.openxmlformats.org/drawingml/2006/table">
            <a:tbl>
              <a:tblPr firstRow="1" firstCol="1" bandRow="1">
                <a:tableStyleId>{5C22544A-7EE6-4342-B048-85BDC9FD1C3A}</a:tableStyleId>
              </a:tblPr>
              <a:tblGrid>
                <a:gridCol w="405930">
                  <a:extLst>
                    <a:ext uri="{9D8B030D-6E8A-4147-A177-3AD203B41FA5}">
                      <a16:colId xmlns:a16="http://schemas.microsoft.com/office/drawing/2014/main" val="3074093087"/>
                    </a:ext>
                  </a:extLst>
                </a:gridCol>
                <a:gridCol w="1308157">
                  <a:extLst>
                    <a:ext uri="{9D8B030D-6E8A-4147-A177-3AD203B41FA5}">
                      <a16:colId xmlns:a16="http://schemas.microsoft.com/office/drawing/2014/main" val="4286393357"/>
                    </a:ext>
                  </a:extLst>
                </a:gridCol>
                <a:gridCol w="559049">
                  <a:extLst>
                    <a:ext uri="{9D8B030D-6E8A-4147-A177-3AD203B41FA5}">
                      <a16:colId xmlns:a16="http://schemas.microsoft.com/office/drawing/2014/main" val="1798184031"/>
                    </a:ext>
                  </a:extLst>
                </a:gridCol>
                <a:gridCol w="630722">
                  <a:extLst>
                    <a:ext uri="{9D8B030D-6E8A-4147-A177-3AD203B41FA5}">
                      <a16:colId xmlns:a16="http://schemas.microsoft.com/office/drawing/2014/main" val="28678756"/>
                    </a:ext>
                  </a:extLst>
                </a:gridCol>
                <a:gridCol w="659390">
                  <a:extLst>
                    <a:ext uri="{9D8B030D-6E8A-4147-A177-3AD203B41FA5}">
                      <a16:colId xmlns:a16="http://schemas.microsoft.com/office/drawing/2014/main" val="680364588"/>
                    </a:ext>
                  </a:extLst>
                </a:gridCol>
                <a:gridCol w="473041">
                  <a:extLst>
                    <a:ext uri="{9D8B030D-6E8A-4147-A177-3AD203B41FA5}">
                      <a16:colId xmlns:a16="http://schemas.microsoft.com/office/drawing/2014/main" val="1572090212"/>
                    </a:ext>
                  </a:extLst>
                </a:gridCol>
                <a:gridCol w="1331431">
                  <a:extLst>
                    <a:ext uri="{9D8B030D-6E8A-4147-A177-3AD203B41FA5}">
                      <a16:colId xmlns:a16="http://schemas.microsoft.com/office/drawing/2014/main" val="1397673016"/>
                    </a:ext>
                  </a:extLst>
                </a:gridCol>
              </a:tblGrid>
              <a:tr h="322435">
                <a:tc rowSpan="6">
                  <a:txBody>
                    <a:bodyPr/>
                    <a:lstStyle/>
                    <a:p>
                      <a:pPr marL="71755" marR="71755" algn="ctr">
                        <a:spcBef>
                          <a:spcPts val="0"/>
                        </a:spcBef>
                        <a:spcAft>
                          <a:spcPts val="0"/>
                        </a:spcAft>
                        <a:tabLst>
                          <a:tab pos="1205230" algn="l"/>
                        </a:tabLst>
                      </a:pPr>
                      <a:r>
                        <a:rPr lang="en-US" sz="1800" kern="100" dirty="0">
                          <a:effectLst/>
                        </a:rPr>
                        <a:t>Actual Risk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vert="vert270" anchor="ctr"/>
                </a:tc>
                <a:tc gridSpan="6">
                  <a:txBody>
                    <a:bodyPr/>
                    <a:lstStyle/>
                    <a:p>
                      <a:pPr marL="0" marR="0" algn="ctr">
                        <a:spcBef>
                          <a:spcPts val="0"/>
                        </a:spcBef>
                        <a:spcAft>
                          <a:spcPts val="0"/>
                        </a:spcAft>
                        <a:tabLst>
                          <a:tab pos="1205230" algn="l"/>
                        </a:tabLst>
                      </a:pPr>
                      <a:r>
                        <a:rPr lang="en-US" sz="1800" kern="100" dirty="0">
                          <a:effectLst/>
                        </a:rPr>
                        <a:t>Predicted Risk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99686193"/>
                  </a:ext>
                </a:extLst>
              </a:tr>
              <a:tr h="799002">
                <a:tc vMerge="1">
                  <a:txBody>
                    <a:bodyPr/>
                    <a:lstStyle/>
                    <a:p>
                      <a:endParaRPr lang="en-US"/>
                    </a:p>
                  </a:txBody>
                  <a:tcPr/>
                </a:tc>
                <a:tc>
                  <a:txBody>
                    <a:bodyPr/>
                    <a:lstStyle/>
                    <a:p>
                      <a:pPr marL="0" marR="0" algn="ctr">
                        <a:spcBef>
                          <a:spcPts val="0"/>
                        </a:spcBef>
                        <a:spcAft>
                          <a:spcPts val="0"/>
                        </a:spcAft>
                        <a:tabLst>
                          <a:tab pos="1205230" algn="l"/>
                        </a:tabLst>
                      </a:pPr>
                      <a:r>
                        <a:rPr lang="en-US" sz="1800" kern="100" dirty="0">
                          <a:effectLst/>
                        </a:rPr>
                        <a:t>Category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b="1" kern="100" dirty="0">
                          <a:effectLst/>
                        </a:rPr>
                        <a:t>1</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b="1" kern="100" dirty="0">
                          <a:effectLst/>
                        </a:rPr>
                        <a:t>2</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b="1" kern="100" dirty="0">
                          <a:effectLst/>
                        </a:rPr>
                        <a:t>3</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b="1" kern="100" dirty="0">
                          <a:effectLst/>
                        </a:rPr>
                        <a:t>4</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Predicted Correctly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extLst>
                  <a:ext uri="{0D108BD9-81ED-4DB2-BD59-A6C34878D82A}">
                    <a16:rowId xmlns:a16="http://schemas.microsoft.com/office/drawing/2014/main" val="2122668734"/>
                  </a:ext>
                </a:extLst>
              </a:tr>
              <a:tr h="776215">
                <a:tc vMerge="1">
                  <a:txBody>
                    <a:bodyPr/>
                    <a:lstStyle/>
                    <a:p>
                      <a:endParaRPr lang="en-US"/>
                    </a:p>
                  </a:txBody>
                  <a:tcPr/>
                </a:tc>
                <a:tc>
                  <a:txBody>
                    <a:bodyPr/>
                    <a:lstStyle/>
                    <a:p>
                      <a:pPr marL="0" marR="0" algn="ctr">
                        <a:spcBef>
                          <a:spcPts val="0"/>
                        </a:spcBef>
                        <a:spcAft>
                          <a:spcPts val="0"/>
                        </a:spcAft>
                        <a:tabLst>
                          <a:tab pos="1205230" algn="l"/>
                        </a:tabLst>
                      </a:pPr>
                      <a:r>
                        <a:rPr lang="en-US" sz="1800" b="1" kern="100" dirty="0">
                          <a:effectLst/>
                        </a:rPr>
                        <a:t>1</a:t>
                      </a:r>
                    </a:p>
                    <a:p>
                      <a:pPr marL="0" marR="0" algn="ctr">
                        <a:spcBef>
                          <a:spcPts val="0"/>
                        </a:spcBef>
                        <a:spcAft>
                          <a:spcPts val="0"/>
                        </a:spcAft>
                        <a:tabLst>
                          <a:tab pos="1205230" algn="l"/>
                        </a:tabLst>
                      </a:pPr>
                      <a:r>
                        <a:rPr lang="en-US" sz="1800" b="1" kern="100" dirty="0">
                          <a:effectLst/>
                        </a:rPr>
                        <a:t> (Low)</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60</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26</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9</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60/95 = 63.16%</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extLst>
                  <a:ext uri="{0D108BD9-81ED-4DB2-BD59-A6C34878D82A}">
                    <a16:rowId xmlns:a16="http://schemas.microsoft.com/office/drawing/2014/main" val="2873497319"/>
                  </a:ext>
                </a:extLst>
              </a:tr>
              <a:tr h="729834">
                <a:tc vMerge="1">
                  <a:txBody>
                    <a:bodyPr/>
                    <a:lstStyle/>
                    <a:p>
                      <a:endParaRPr lang="en-US"/>
                    </a:p>
                  </a:txBody>
                  <a:tcPr/>
                </a:tc>
                <a:tc>
                  <a:txBody>
                    <a:bodyPr/>
                    <a:lstStyle/>
                    <a:p>
                      <a:pPr marL="0" marR="0" algn="ctr">
                        <a:spcBef>
                          <a:spcPts val="0"/>
                        </a:spcBef>
                        <a:spcAft>
                          <a:spcPts val="0"/>
                        </a:spcAft>
                        <a:tabLst>
                          <a:tab pos="1205230" algn="l"/>
                        </a:tabLst>
                      </a:pPr>
                      <a:r>
                        <a:rPr lang="en-US" sz="1800" b="1" kern="100" dirty="0">
                          <a:effectLst/>
                        </a:rPr>
                        <a:t>2 (Medium)</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17</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77</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35</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77/129 = 59.69%</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extLst>
                  <a:ext uri="{0D108BD9-81ED-4DB2-BD59-A6C34878D82A}">
                    <a16:rowId xmlns:a16="http://schemas.microsoft.com/office/drawing/2014/main" val="388095759"/>
                  </a:ext>
                </a:extLst>
              </a:tr>
              <a:tr h="894851">
                <a:tc vMerge="1">
                  <a:txBody>
                    <a:bodyPr/>
                    <a:lstStyle/>
                    <a:p>
                      <a:endParaRPr lang="en-US"/>
                    </a:p>
                  </a:txBody>
                  <a:tcPr/>
                </a:tc>
                <a:tc>
                  <a:txBody>
                    <a:bodyPr/>
                    <a:lstStyle/>
                    <a:p>
                      <a:pPr marL="0" marR="0" algn="ctr">
                        <a:spcBef>
                          <a:spcPts val="0"/>
                        </a:spcBef>
                        <a:spcAft>
                          <a:spcPts val="0"/>
                        </a:spcAft>
                        <a:tabLst>
                          <a:tab pos="1205230" algn="l"/>
                        </a:tabLst>
                      </a:pPr>
                      <a:r>
                        <a:rPr lang="en-US" sz="1800" b="1" kern="100" dirty="0">
                          <a:effectLst/>
                        </a:rPr>
                        <a:t>3 </a:t>
                      </a:r>
                    </a:p>
                    <a:p>
                      <a:pPr marL="0" marR="0" algn="ctr">
                        <a:spcBef>
                          <a:spcPts val="0"/>
                        </a:spcBef>
                        <a:spcAft>
                          <a:spcPts val="0"/>
                        </a:spcAft>
                        <a:tabLst>
                          <a:tab pos="1205230" algn="l"/>
                        </a:tabLst>
                      </a:pPr>
                      <a:r>
                        <a:rPr lang="en-US" sz="1800" b="1" kern="100" dirty="0">
                          <a:effectLst/>
                        </a:rPr>
                        <a:t>(High)</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6</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24</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122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122/153 = 79.74 %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extLst>
                  <a:ext uri="{0D108BD9-81ED-4DB2-BD59-A6C34878D82A}">
                    <a16:rowId xmlns:a16="http://schemas.microsoft.com/office/drawing/2014/main" val="332725310"/>
                  </a:ext>
                </a:extLst>
              </a:tr>
              <a:tr h="446648">
                <a:tc vMerge="1">
                  <a:txBody>
                    <a:bodyPr/>
                    <a:lstStyle/>
                    <a:p>
                      <a:endParaRPr lang="en-US"/>
                    </a:p>
                  </a:txBody>
                  <a:tcPr/>
                </a:tc>
                <a:tc>
                  <a:txBody>
                    <a:bodyPr/>
                    <a:lstStyle/>
                    <a:p>
                      <a:pPr marL="0" marR="0" algn="ctr">
                        <a:spcBef>
                          <a:spcPts val="0"/>
                        </a:spcBef>
                        <a:spcAft>
                          <a:spcPts val="0"/>
                        </a:spcAft>
                        <a:tabLst>
                          <a:tab pos="1205230" algn="l"/>
                        </a:tabLst>
                      </a:pPr>
                      <a:r>
                        <a:rPr lang="en-US" sz="1800" b="1" kern="100" dirty="0">
                          <a:effectLst/>
                        </a:rPr>
                        <a:t>4 (Highest)</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0</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1</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a:effectLst/>
                        </a:rPr>
                        <a:t>11</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tc>
                  <a:txBody>
                    <a:bodyPr/>
                    <a:lstStyle/>
                    <a:p>
                      <a:pPr marL="0" marR="0" algn="ctr">
                        <a:spcBef>
                          <a:spcPts val="0"/>
                        </a:spcBef>
                        <a:spcAft>
                          <a:spcPts val="0"/>
                        </a:spcAft>
                        <a:tabLst>
                          <a:tab pos="1205230" algn="l"/>
                        </a:tabLst>
                      </a:pPr>
                      <a:r>
                        <a:rPr lang="en-US" sz="1800" kern="100" dirty="0">
                          <a:effectLst/>
                        </a:rPr>
                        <a:t>0/12 = 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805" marR="65805" marT="0" marB="0" anchor="ctr"/>
                </a:tc>
                <a:extLst>
                  <a:ext uri="{0D108BD9-81ED-4DB2-BD59-A6C34878D82A}">
                    <a16:rowId xmlns:a16="http://schemas.microsoft.com/office/drawing/2014/main" val="1215871207"/>
                  </a:ext>
                </a:extLst>
              </a:tr>
            </a:tbl>
          </a:graphicData>
        </a:graphic>
      </p:graphicFrame>
      <p:sp>
        <p:nvSpPr>
          <p:cNvPr id="9" name="TextBox 8">
            <a:extLst>
              <a:ext uri="{FF2B5EF4-FFF2-40B4-BE49-F238E27FC236}">
                <a16:creationId xmlns:a16="http://schemas.microsoft.com/office/drawing/2014/main" id="{C71845D9-2857-0E78-48DF-9E97CA1457EE}"/>
              </a:ext>
            </a:extLst>
          </p:cNvPr>
          <p:cNvSpPr txBox="1"/>
          <p:nvPr/>
        </p:nvSpPr>
        <p:spPr>
          <a:xfrm>
            <a:off x="6959479" y="1934221"/>
            <a:ext cx="6096000" cy="369332"/>
          </a:xfrm>
          <a:prstGeom prst="rect">
            <a:avLst/>
          </a:prstGeom>
          <a:noFill/>
        </p:spPr>
        <p:txBody>
          <a:bodyPr wrap="square">
            <a:spAutoFit/>
          </a:bodyPr>
          <a:lstStyle/>
          <a:p>
            <a:r>
              <a:rPr lang="en-US" sz="1800" dirty="0"/>
              <a:t>Confusion Matrix for RF on Test </a:t>
            </a:r>
            <a:r>
              <a:rPr lang="en-US" dirty="0"/>
              <a:t>D</a:t>
            </a:r>
            <a:r>
              <a:rPr lang="en-US" sz="1800" dirty="0"/>
              <a:t>ataset</a:t>
            </a:r>
          </a:p>
        </p:txBody>
      </p:sp>
    </p:spTree>
    <p:extLst>
      <p:ext uri="{BB962C8B-B14F-4D97-AF65-F5344CB8AC3E}">
        <p14:creationId xmlns:p14="http://schemas.microsoft.com/office/powerpoint/2010/main" val="3327238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59434-A6F3-CBF5-7CE4-BF7616ECF2F5}"/>
              </a:ext>
            </a:extLst>
          </p:cNvPr>
          <p:cNvSpPr>
            <a:spLocks noGrp="1"/>
          </p:cNvSpPr>
          <p:nvPr>
            <p:ph type="title"/>
          </p:nvPr>
        </p:nvSpPr>
        <p:spPr/>
        <p:txBody>
          <a:bodyPr/>
          <a:lstStyle/>
          <a:p>
            <a:r>
              <a:rPr lang="en-US" dirty="0"/>
              <a:t>Proper Metric and ML algorithms</a:t>
            </a:r>
            <a:br>
              <a:rPr lang="en-US" dirty="0"/>
            </a:br>
            <a:r>
              <a:rPr lang="en-US" dirty="0"/>
              <a:t>Macro F1 SCORE</a:t>
            </a:r>
          </a:p>
        </p:txBody>
      </p:sp>
      <p:graphicFrame>
        <p:nvGraphicFramePr>
          <p:cNvPr id="8" name="Table 7">
            <a:extLst>
              <a:ext uri="{FF2B5EF4-FFF2-40B4-BE49-F238E27FC236}">
                <a16:creationId xmlns:a16="http://schemas.microsoft.com/office/drawing/2014/main" id="{E1A9F5C3-A50B-8EFC-37C5-90EB47B459D2}"/>
              </a:ext>
            </a:extLst>
          </p:cNvPr>
          <p:cNvGraphicFramePr>
            <a:graphicFrameLocks noGrp="1"/>
          </p:cNvGraphicFramePr>
          <p:nvPr>
            <p:extLst>
              <p:ext uri="{D42A27DB-BD31-4B8C-83A1-F6EECF244321}">
                <p14:modId xmlns:p14="http://schemas.microsoft.com/office/powerpoint/2010/main" val="1433797524"/>
              </p:ext>
            </p:extLst>
          </p:nvPr>
        </p:nvGraphicFramePr>
        <p:xfrm>
          <a:off x="5133109" y="2470475"/>
          <a:ext cx="6608619" cy="3193338"/>
        </p:xfrm>
        <a:graphic>
          <a:graphicData uri="http://schemas.openxmlformats.org/drawingml/2006/table">
            <a:tbl>
              <a:tblPr firstRow="1" firstCol="1" bandRow="1">
                <a:tableStyleId>{5C22544A-7EE6-4342-B048-85BDC9FD1C3A}</a:tableStyleId>
              </a:tblPr>
              <a:tblGrid>
                <a:gridCol w="342900">
                  <a:extLst>
                    <a:ext uri="{9D8B030D-6E8A-4147-A177-3AD203B41FA5}">
                      <a16:colId xmlns:a16="http://schemas.microsoft.com/office/drawing/2014/main" val="122018419"/>
                    </a:ext>
                  </a:extLst>
                </a:gridCol>
                <a:gridCol w="1091046">
                  <a:extLst>
                    <a:ext uri="{9D8B030D-6E8A-4147-A177-3AD203B41FA5}">
                      <a16:colId xmlns:a16="http://schemas.microsoft.com/office/drawing/2014/main" val="1525716454"/>
                    </a:ext>
                  </a:extLst>
                </a:gridCol>
                <a:gridCol w="384463">
                  <a:extLst>
                    <a:ext uri="{9D8B030D-6E8A-4147-A177-3AD203B41FA5}">
                      <a16:colId xmlns:a16="http://schemas.microsoft.com/office/drawing/2014/main" val="1301146463"/>
                    </a:ext>
                  </a:extLst>
                </a:gridCol>
                <a:gridCol w="446809">
                  <a:extLst>
                    <a:ext uri="{9D8B030D-6E8A-4147-A177-3AD203B41FA5}">
                      <a16:colId xmlns:a16="http://schemas.microsoft.com/office/drawing/2014/main" val="551564264"/>
                    </a:ext>
                  </a:extLst>
                </a:gridCol>
                <a:gridCol w="498764">
                  <a:extLst>
                    <a:ext uri="{9D8B030D-6E8A-4147-A177-3AD203B41FA5}">
                      <a16:colId xmlns:a16="http://schemas.microsoft.com/office/drawing/2014/main" val="1765070860"/>
                    </a:ext>
                  </a:extLst>
                </a:gridCol>
                <a:gridCol w="394854">
                  <a:extLst>
                    <a:ext uri="{9D8B030D-6E8A-4147-A177-3AD203B41FA5}">
                      <a16:colId xmlns:a16="http://schemas.microsoft.com/office/drawing/2014/main" val="768835801"/>
                    </a:ext>
                  </a:extLst>
                </a:gridCol>
                <a:gridCol w="1132610">
                  <a:extLst>
                    <a:ext uri="{9D8B030D-6E8A-4147-A177-3AD203B41FA5}">
                      <a16:colId xmlns:a16="http://schemas.microsoft.com/office/drawing/2014/main" val="1406054674"/>
                    </a:ext>
                  </a:extLst>
                </a:gridCol>
                <a:gridCol w="1143000">
                  <a:extLst>
                    <a:ext uri="{9D8B030D-6E8A-4147-A177-3AD203B41FA5}">
                      <a16:colId xmlns:a16="http://schemas.microsoft.com/office/drawing/2014/main" val="3603011373"/>
                    </a:ext>
                  </a:extLst>
                </a:gridCol>
                <a:gridCol w="1174173">
                  <a:extLst>
                    <a:ext uri="{9D8B030D-6E8A-4147-A177-3AD203B41FA5}">
                      <a16:colId xmlns:a16="http://schemas.microsoft.com/office/drawing/2014/main" val="2804739598"/>
                    </a:ext>
                  </a:extLst>
                </a:gridCol>
              </a:tblGrid>
              <a:tr h="337761">
                <a:tc rowSpan="6">
                  <a:txBody>
                    <a:bodyPr/>
                    <a:lstStyle/>
                    <a:p>
                      <a:pPr marL="71755" marR="71755" algn="ctr">
                        <a:spcBef>
                          <a:spcPts val="0"/>
                        </a:spcBef>
                        <a:spcAft>
                          <a:spcPts val="0"/>
                        </a:spcAft>
                        <a:tabLst>
                          <a:tab pos="1205230" algn="l"/>
                        </a:tabLst>
                      </a:pPr>
                      <a:r>
                        <a:rPr lang="en-US" sz="1800" kern="100" dirty="0">
                          <a:effectLst/>
                        </a:rPr>
                        <a:t>Actual Risk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vert="vert270"/>
                </a:tc>
                <a:tc gridSpan="6">
                  <a:txBody>
                    <a:bodyPr/>
                    <a:lstStyle/>
                    <a:p>
                      <a:pPr marL="0" marR="0" algn="ctr">
                        <a:spcBef>
                          <a:spcPts val="0"/>
                        </a:spcBef>
                        <a:spcAft>
                          <a:spcPts val="0"/>
                        </a:spcAft>
                        <a:tabLst>
                          <a:tab pos="1205230" algn="l"/>
                        </a:tabLst>
                      </a:pPr>
                      <a:r>
                        <a:rPr lang="en-US" sz="1800" kern="100" dirty="0">
                          <a:effectLst/>
                        </a:rPr>
                        <a:t>Predicted Risk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a:spcBef>
                          <a:spcPts val="0"/>
                        </a:spcBef>
                        <a:spcAft>
                          <a:spcPts val="0"/>
                        </a:spcAft>
                        <a:tabLst>
                          <a:tab pos="1205230" algn="l"/>
                        </a:tabLst>
                      </a:pPr>
                      <a:r>
                        <a:rPr lang="en-US" sz="1800" kern="100" dirty="0">
                          <a:effectLst/>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4504217"/>
                  </a:ext>
                </a:extLst>
              </a:tr>
              <a:tr h="623558">
                <a:tc vMerge="1">
                  <a:txBody>
                    <a:bodyPr/>
                    <a:lstStyle/>
                    <a:p>
                      <a:endParaRPr lang="en-US"/>
                    </a:p>
                  </a:txBody>
                  <a:tcPr/>
                </a:tc>
                <a:tc>
                  <a:txBody>
                    <a:bodyPr/>
                    <a:lstStyle/>
                    <a:p>
                      <a:pPr marL="0" marR="0" algn="ctr">
                        <a:spcBef>
                          <a:spcPts val="0"/>
                        </a:spcBef>
                        <a:spcAft>
                          <a:spcPts val="0"/>
                        </a:spcAft>
                        <a:tabLst>
                          <a:tab pos="1205230" algn="l"/>
                        </a:tabLst>
                      </a:pPr>
                      <a:r>
                        <a:rPr lang="en-US" sz="1800" kern="100" dirty="0">
                          <a:effectLst/>
                        </a:rPr>
                        <a:t>Category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3</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4</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Precision for each class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Recall for each class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F1 for each class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4884130"/>
                  </a:ext>
                </a:extLst>
              </a:tr>
              <a:tr h="311779">
                <a:tc vMerge="1">
                  <a:txBody>
                    <a:bodyPr/>
                    <a:lstStyle/>
                    <a:p>
                      <a:endParaRPr lang="en-US"/>
                    </a:p>
                  </a:txBody>
                  <a:tcPr/>
                </a:tc>
                <a:tc>
                  <a:txBody>
                    <a:bodyPr/>
                    <a:lstStyle/>
                    <a:p>
                      <a:pPr marL="0" marR="0" algn="ctr">
                        <a:spcBef>
                          <a:spcPts val="0"/>
                        </a:spcBef>
                        <a:spcAft>
                          <a:spcPts val="0"/>
                        </a:spcAft>
                        <a:tabLst>
                          <a:tab pos="1205230" algn="l"/>
                        </a:tabLst>
                      </a:pPr>
                      <a:r>
                        <a:rPr lang="en-US" sz="1800" kern="100" dirty="0">
                          <a:effectLst/>
                        </a:rPr>
                        <a:t>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60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26</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9</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0</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60/83 = 72.29%</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60/95 = 63.16%</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67.42%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33020404"/>
                  </a:ext>
                </a:extLst>
              </a:tr>
              <a:tr h="311779">
                <a:tc vMerge="1">
                  <a:txBody>
                    <a:bodyPr/>
                    <a:lstStyle/>
                    <a:p>
                      <a:endParaRPr lang="en-US"/>
                    </a:p>
                  </a:txBody>
                  <a:tcPr/>
                </a:tc>
                <a:tc>
                  <a:txBody>
                    <a:bodyPr/>
                    <a:lstStyle/>
                    <a:p>
                      <a:pPr marL="0" marR="0" algn="ctr">
                        <a:spcBef>
                          <a:spcPts val="0"/>
                        </a:spcBef>
                        <a:spcAft>
                          <a:spcPts val="0"/>
                        </a:spcAft>
                        <a:tabLst>
                          <a:tab pos="1205230" algn="l"/>
                        </a:tabLst>
                      </a:pPr>
                      <a:r>
                        <a:rPr lang="en-US" sz="1800" kern="100">
                          <a:effectLst/>
                        </a:rPr>
                        <a:t>2</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17</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77</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35</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0</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77/128 = 60.16%</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77/129 = 59.69</a:t>
                      </a:r>
                      <a:r>
                        <a:rPr lang="en-US" sz="1800" u="sng" kern="100">
                          <a:effectLst/>
                        </a:rPr>
                        <a: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59.92%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91408839"/>
                  </a:ext>
                </a:extLst>
              </a:tr>
              <a:tr h="623558">
                <a:tc vMerge="1">
                  <a:txBody>
                    <a:bodyPr/>
                    <a:lstStyle/>
                    <a:p>
                      <a:endParaRPr lang="en-US"/>
                    </a:p>
                  </a:txBody>
                  <a:tcPr/>
                </a:tc>
                <a:tc>
                  <a:txBody>
                    <a:bodyPr/>
                    <a:lstStyle/>
                    <a:p>
                      <a:pPr marL="0" marR="0" algn="ctr">
                        <a:spcBef>
                          <a:spcPts val="0"/>
                        </a:spcBef>
                        <a:spcAft>
                          <a:spcPts val="0"/>
                        </a:spcAft>
                        <a:tabLst>
                          <a:tab pos="1205230" algn="l"/>
                        </a:tabLst>
                      </a:pPr>
                      <a:r>
                        <a:rPr lang="en-US" sz="1800" kern="100">
                          <a:effectLst/>
                        </a:rPr>
                        <a:t>3</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6</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24</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122</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122/177 = 68.93 %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122/153 = 79.74%</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73.94%</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5955573"/>
                  </a:ext>
                </a:extLst>
              </a:tr>
              <a:tr h="311779">
                <a:tc vMerge="1">
                  <a:txBody>
                    <a:bodyPr/>
                    <a:lstStyle/>
                    <a:p>
                      <a:endParaRPr lang="en-US"/>
                    </a:p>
                  </a:txBody>
                  <a:tcPr/>
                </a:tc>
                <a:tc>
                  <a:txBody>
                    <a:bodyPr/>
                    <a:lstStyle/>
                    <a:p>
                      <a:pPr marL="0" marR="0" algn="ctr">
                        <a:spcBef>
                          <a:spcPts val="0"/>
                        </a:spcBef>
                        <a:spcAft>
                          <a:spcPts val="0"/>
                        </a:spcAft>
                        <a:tabLst>
                          <a:tab pos="1205230" algn="l"/>
                        </a:tabLst>
                      </a:pPr>
                      <a:r>
                        <a:rPr lang="en-US" sz="1800" kern="100" dirty="0">
                          <a:effectLst/>
                        </a:rPr>
                        <a:t>4</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0</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1</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11</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a:effectLst/>
                        </a:rPr>
                        <a:t>0</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0/1 = 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0/12 = 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800" kern="100" dirty="0">
                          <a:effectLst/>
                        </a:rPr>
                        <a:t>0%</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05353599"/>
                  </a:ext>
                </a:extLst>
              </a:tr>
            </a:tbl>
          </a:graphicData>
        </a:graphic>
      </p:graphicFrame>
      <p:sp>
        <p:nvSpPr>
          <p:cNvPr id="10" name="TextBox 9">
            <a:extLst>
              <a:ext uri="{FF2B5EF4-FFF2-40B4-BE49-F238E27FC236}">
                <a16:creationId xmlns:a16="http://schemas.microsoft.com/office/drawing/2014/main" id="{97225E2A-08AF-ACCF-9ADC-D795E4E1CBF1}"/>
              </a:ext>
            </a:extLst>
          </p:cNvPr>
          <p:cNvSpPr txBox="1"/>
          <p:nvPr/>
        </p:nvSpPr>
        <p:spPr>
          <a:xfrm>
            <a:off x="6683106" y="2080361"/>
            <a:ext cx="6115722" cy="369332"/>
          </a:xfrm>
          <a:prstGeom prst="rect">
            <a:avLst/>
          </a:prstGeom>
          <a:noFill/>
        </p:spPr>
        <p:txBody>
          <a:bodyPr wrap="square">
            <a:spAutoFit/>
          </a:bodyPr>
          <a:lstStyle/>
          <a:p>
            <a:r>
              <a:rPr lang="en-US" sz="1800" dirty="0"/>
              <a:t>Confusion Matrix for RF on Test </a:t>
            </a:r>
            <a:r>
              <a:rPr lang="en-US" dirty="0"/>
              <a:t>D</a:t>
            </a:r>
            <a:r>
              <a:rPr lang="en-US" sz="1800" dirty="0"/>
              <a:t>ataset</a:t>
            </a:r>
          </a:p>
        </p:txBody>
      </p:sp>
      <mc:AlternateContent xmlns:mc="http://schemas.openxmlformats.org/markup-compatibility/2006" xmlns:a14="http://schemas.microsoft.com/office/drawing/2010/main">
        <mc:Choice Requires="a14">
          <p:sp>
            <p:nvSpPr>
              <p:cNvPr id="5" name="Content Placeholder 6">
                <a:extLst>
                  <a:ext uri="{FF2B5EF4-FFF2-40B4-BE49-F238E27FC236}">
                    <a16:creationId xmlns:a16="http://schemas.microsoft.com/office/drawing/2014/main" id="{39B09AAF-51BB-A43A-56BF-04A82B40542B}"/>
                  </a:ext>
                </a:extLst>
              </p:cNvPr>
              <p:cNvSpPr txBox="1">
                <a:spLocks/>
              </p:cNvSpPr>
              <p:nvPr/>
            </p:nvSpPr>
            <p:spPr>
              <a:xfrm>
                <a:off x="358400" y="2186734"/>
                <a:ext cx="4961745" cy="462578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F1 score for each class: </a:t>
                </a:r>
                <a14:m>
                  <m:oMath xmlns:m="http://schemas.openxmlformats.org/officeDocument/2006/math">
                    <m:r>
                      <a:rPr lang="en-US" i="1" kern="100" smtClean="0">
                        <a:latin typeface="Cambria Math" panose="02040503050406030204" pitchFamily="18" charset="0"/>
                        <a:ea typeface="Calibri" panose="020F0502020204030204" pitchFamily="34" charset="0"/>
                        <a:cs typeface="Times New Roman" panose="02020603050405020304" pitchFamily="18" charset="0"/>
                      </a:rPr>
                      <m:t>𝐹</m:t>
                    </m:r>
                    <m:r>
                      <a:rPr lang="en-US" i="1" kern="100" smtClean="0">
                        <a:latin typeface="Cambria Math" panose="02040503050406030204" pitchFamily="18" charset="0"/>
                        <a:ea typeface="Calibri" panose="020F0502020204030204" pitchFamily="34" charset="0"/>
                        <a:cs typeface="Times New Roman" panose="02020603050405020304" pitchFamily="18" charset="0"/>
                      </a:rPr>
                      <m:t>1= </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a:latin typeface="Cambria Math" panose="02040503050406030204" pitchFamily="18" charset="0"/>
                            <a:ea typeface="Calibri" panose="020F0502020204030204" pitchFamily="34" charset="0"/>
                            <a:cs typeface="Times New Roman" panose="02020603050405020304" pitchFamily="18" charset="0"/>
                          </a:rPr>
                          <m:t>2∗</m:t>
                        </m:r>
                        <m:r>
                          <a:rPr lang="en-US" i="1" kern="100">
                            <a:latin typeface="Cambria Math" panose="02040503050406030204" pitchFamily="18" charset="0"/>
                            <a:ea typeface="Calibri" panose="020F0502020204030204" pitchFamily="34" charset="0"/>
                            <a:cs typeface="Times New Roman" panose="02020603050405020304" pitchFamily="18" charset="0"/>
                          </a:rPr>
                          <m:t>𝑃𝑟𝑒𝑐𝑖𝑠𝑖𝑜𝑛</m:t>
                        </m:r>
                        <m:r>
                          <a:rPr lang="en-US" i="1" kern="100">
                            <a:latin typeface="Cambria Math" panose="02040503050406030204" pitchFamily="18" charset="0"/>
                            <a:ea typeface="Calibri" panose="020F0502020204030204" pitchFamily="34" charset="0"/>
                            <a:cs typeface="Times New Roman" panose="02020603050405020304" pitchFamily="18" charset="0"/>
                          </a:rPr>
                          <m:t>∗</m:t>
                        </m:r>
                        <m:r>
                          <a:rPr lang="en-US" i="1" kern="100">
                            <a:latin typeface="Cambria Math" panose="02040503050406030204" pitchFamily="18" charset="0"/>
                            <a:ea typeface="Calibri" panose="020F0502020204030204" pitchFamily="34" charset="0"/>
                            <a:cs typeface="Times New Roman" panose="02020603050405020304" pitchFamily="18" charset="0"/>
                          </a:rPr>
                          <m:t>𝑅𝑒𝑐𝑎𝑙𝑙</m:t>
                        </m:r>
                      </m:num>
                      <m:den>
                        <m:r>
                          <a:rPr lang="en-US" i="1" kern="100">
                            <a:latin typeface="Cambria Math" panose="02040503050406030204" pitchFamily="18" charset="0"/>
                            <a:ea typeface="Calibri" panose="020F0502020204030204" pitchFamily="34" charset="0"/>
                            <a:cs typeface="Times New Roman" panose="02020603050405020304" pitchFamily="18" charset="0"/>
                          </a:rPr>
                          <m:t>𝑃𝑟𝑒𝑐𝑖𝑠𝑖𝑜𝑛</m:t>
                        </m:r>
                        <m:r>
                          <a:rPr lang="en-US" i="1" kern="100">
                            <a:latin typeface="Cambria Math" panose="02040503050406030204" pitchFamily="18" charset="0"/>
                            <a:ea typeface="Calibri" panose="020F0502020204030204" pitchFamily="34" charset="0"/>
                            <a:cs typeface="Times New Roman" panose="02020603050405020304" pitchFamily="18" charset="0"/>
                          </a:rPr>
                          <m:t>+</m:t>
                        </m:r>
                        <m:r>
                          <a:rPr lang="en-US" i="1" kern="100">
                            <a:latin typeface="Cambria Math" panose="02040503050406030204" pitchFamily="18" charset="0"/>
                            <a:ea typeface="Calibri" panose="020F0502020204030204" pitchFamily="34" charset="0"/>
                            <a:cs typeface="Times New Roman" panose="02020603050405020304" pitchFamily="18" charset="0"/>
                          </a:rPr>
                          <m:t>𝑅𝑒𝑐𝑎𝑙𝑙</m:t>
                        </m:r>
                      </m:den>
                    </m:f>
                  </m:oMath>
                </a14:m>
                <a:endParaRPr lang="en-US" kern="100" dirty="0">
                  <a:latin typeface="Calibri" panose="020F0502020204030204" pitchFamily="34" charset="0"/>
                  <a:ea typeface="Calibri" panose="020F0502020204030204" pitchFamily="34" charset="0"/>
                  <a:cs typeface="Times New Roman" panose="02020603050405020304" pitchFamily="18" charset="0"/>
                </a:endParaRPr>
              </a:p>
              <a:p>
                <a14:m>
                  <m:oMath xmlns:m="http://schemas.openxmlformats.org/officeDocument/2006/math">
                    <m:sSub>
                      <m:sSubPr>
                        <m:ctrlPr>
                          <a:rPr lang="en-US"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𝑃𝑟𝑒𝑐𝑖𝑠𝑠𝑖𝑜𝑛</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r>
                      <a:rPr lang="en-US" i="1" kern="100">
                        <a:latin typeface="Cambria Math" panose="02040503050406030204" pitchFamily="18" charset="0"/>
                        <a:ea typeface="Calibri" panose="020F0502020204030204" pitchFamily="34" charset="0"/>
                        <a:cs typeface="Times New Roman" panose="02020603050405020304" pitchFamily="18" charset="0"/>
                      </a:rPr>
                      <m:t>= </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𝑇𝑃</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num>
                      <m:den>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𝑇𝑃</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r>
                          <a:rPr lang="en-US" i="1" kern="100">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𝐹𝑃</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den>
                    </m:f>
                  </m:oMath>
                </a14:m>
                <a:endParaRPr lang="en-US" kern="100" dirty="0">
                  <a:latin typeface="Calibri" panose="020F0502020204030204" pitchFamily="34" charset="0"/>
                  <a:ea typeface="Calibri" panose="020F0502020204030204" pitchFamily="34" charset="0"/>
                  <a:cs typeface="Times New Roman" panose="02020603050405020304" pitchFamily="18" charset="0"/>
                </a:endParaRPr>
              </a:p>
              <a:p>
                <a14:m>
                  <m:oMath xmlns:m="http://schemas.openxmlformats.org/officeDocument/2006/math">
                    <m:sSub>
                      <m:sSubPr>
                        <m:ctrlPr>
                          <a:rPr lang="en-US"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𝑅𝑒𝑐𝑎𝑙𝑙</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r>
                      <a:rPr lang="en-US" i="1" kern="100">
                        <a:latin typeface="Cambria Math" panose="02040503050406030204" pitchFamily="18" charset="0"/>
                        <a:ea typeface="Calibri" panose="020F0502020204030204" pitchFamily="34" charset="0"/>
                        <a:cs typeface="Times New Roman" panose="02020603050405020304" pitchFamily="18" charset="0"/>
                      </a:rPr>
                      <m:t>= </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𝑇𝑃</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num>
                      <m:den>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𝑇𝑃</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r>
                          <a:rPr lang="en-US" i="1" kern="100">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𝐹𝑁</m:t>
                            </m:r>
                          </m:e>
                          <m:sub>
                            <m:r>
                              <a:rPr lang="en-US" i="1" kern="100">
                                <a:latin typeface="Cambria Math" panose="02040503050406030204" pitchFamily="18" charset="0"/>
                                <a:ea typeface="Calibri" panose="020F0502020204030204" pitchFamily="34" charset="0"/>
                                <a:cs typeface="Times New Roman" panose="02020603050405020304" pitchFamily="18" charset="0"/>
                              </a:rPr>
                              <m:t>𝑐𝑙𝑎𝑠𝑠</m:t>
                            </m:r>
                            <m:r>
                              <a:rPr lang="en-US" i="1" kern="100">
                                <a:latin typeface="Cambria Math" panose="02040503050406030204" pitchFamily="18" charset="0"/>
                                <a:ea typeface="Calibri" panose="020F0502020204030204" pitchFamily="34" charset="0"/>
                                <a:cs typeface="Times New Roman" panose="02020603050405020304" pitchFamily="18" charset="0"/>
                              </a:rPr>
                              <m:t> </m:t>
                            </m:r>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den>
                    </m:f>
                  </m:oMath>
                </a14:m>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0"/>
                  </a:spcAft>
                  <a:tabLst>
                    <a:tab pos="1205230" algn="l"/>
                  </a:tabLst>
                </a:pPr>
                <a14:m>
                  <m:oMath xmlns:m="http://schemas.openxmlformats.org/officeDocument/2006/math">
                    <m:r>
                      <a:rPr lang="en-US" i="1" kern="100" smtClean="0">
                        <a:latin typeface="Cambria Math" panose="02040503050406030204" pitchFamily="18" charset="0"/>
                        <a:ea typeface="Calibri" panose="020F0502020204030204" pitchFamily="34" charset="0"/>
                        <a:cs typeface="Times New Roman" panose="02020603050405020304" pitchFamily="18" charset="0"/>
                      </a:rPr>
                      <m:t>𝑀𝑎𝑐𝑟𝑜</m:t>
                    </m:r>
                    <m:r>
                      <a:rPr lang="en-US" i="1" kern="100" smtClean="0">
                        <a:latin typeface="Cambria Math" panose="02040503050406030204" pitchFamily="18" charset="0"/>
                        <a:ea typeface="Calibri" panose="020F0502020204030204" pitchFamily="34" charset="0"/>
                        <a:cs typeface="Times New Roman" panose="02020603050405020304" pitchFamily="18" charset="0"/>
                      </a:rPr>
                      <m:t> </m:t>
                    </m:r>
                    <m:r>
                      <a:rPr lang="en-US" i="1" kern="100" smtClean="0">
                        <a:latin typeface="Cambria Math" panose="02040503050406030204" pitchFamily="18" charset="0"/>
                        <a:ea typeface="Calibri" panose="020F0502020204030204" pitchFamily="34" charset="0"/>
                        <a:cs typeface="Times New Roman" panose="02020603050405020304" pitchFamily="18" charset="0"/>
                      </a:rPr>
                      <m:t>𝐹</m:t>
                    </m:r>
                    <m:r>
                      <a:rPr lang="en-US" i="1" kern="100" smtClean="0">
                        <a:latin typeface="Cambria Math" panose="02040503050406030204" pitchFamily="18" charset="0"/>
                        <a:ea typeface="Calibri" panose="020F0502020204030204" pitchFamily="34" charset="0"/>
                        <a:cs typeface="Times New Roman" panose="02020603050405020304" pitchFamily="18" charset="0"/>
                      </a:rPr>
                      <m:t>1= </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ctrlPr>
                              <a:rPr lang="en-US" i="1" kern="100">
                                <a:latin typeface="Cambria Math" panose="02040503050406030204" pitchFamily="18" charset="0"/>
                                <a:ea typeface="Calibri" panose="020F0502020204030204" pitchFamily="34" charset="0"/>
                                <a:cs typeface="Times New Roman" panose="02020603050405020304" pitchFamily="18" charset="0"/>
                              </a:rPr>
                            </m:ctrlPr>
                          </m:naryPr>
                          <m:sub>
                            <m:r>
                              <a:rPr lang="en-US" i="1" kern="100">
                                <a:latin typeface="Cambria Math" panose="02040503050406030204" pitchFamily="18" charset="0"/>
                                <a:ea typeface="Calibri" panose="020F0502020204030204" pitchFamily="34" charset="0"/>
                                <a:cs typeface="Times New Roman" panose="02020603050405020304" pitchFamily="18" charset="0"/>
                              </a:rPr>
                              <m:t>𝑖</m:t>
                            </m:r>
                            <m:r>
                              <a:rPr lang="en-US" i="1" kern="100">
                                <a:latin typeface="Cambria Math" panose="02040503050406030204" pitchFamily="18" charset="0"/>
                                <a:ea typeface="Calibri" panose="020F0502020204030204" pitchFamily="34" charset="0"/>
                                <a:cs typeface="Times New Roman" panose="02020603050405020304" pitchFamily="18" charset="0"/>
                              </a:rPr>
                              <m:t>=1</m:t>
                            </m:r>
                          </m:sub>
                          <m:sup>
                            <m:r>
                              <a:rPr lang="en-US" i="1" kern="100">
                                <a:latin typeface="Cambria Math" panose="02040503050406030204" pitchFamily="18" charset="0"/>
                                <a:ea typeface="Calibri" panose="020F0502020204030204" pitchFamily="34" charset="0"/>
                                <a:cs typeface="Times New Roman" panose="02020603050405020304" pitchFamily="18" charset="0"/>
                              </a:rPr>
                              <m:t>𝑘</m:t>
                            </m:r>
                          </m:sup>
                          <m:e>
                            <m:sSub>
                              <m:sSubPr>
                                <m:ctrlPr>
                                  <a:rPr lang="en-US" i="1" kern="100">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latin typeface="Cambria Math" panose="02040503050406030204" pitchFamily="18" charset="0"/>
                                    <a:ea typeface="Calibri" panose="020F0502020204030204" pitchFamily="34" charset="0"/>
                                    <a:cs typeface="Times New Roman" panose="02020603050405020304" pitchFamily="18" charset="0"/>
                                  </a:rPr>
                                  <m:t>𝐹</m:t>
                                </m:r>
                                <m:r>
                                  <a:rPr lang="en-US" i="1" kern="100">
                                    <a:latin typeface="Cambria Math" panose="02040503050406030204" pitchFamily="18" charset="0"/>
                                    <a:ea typeface="Calibri" panose="020F0502020204030204" pitchFamily="34" charset="0"/>
                                    <a:cs typeface="Times New Roman" panose="02020603050405020304" pitchFamily="18" charset="0"/>
                                  </a:rPr>
                                  <m:t>1</m:t>
                                </m:r>
                              </m:e>
                              <m:sub>
                                <m:r>
                                  <a:rPr lang="en-US" i="1" kern="100">
                                    <a:latin typeface="Cambria Math" panose="02040503050406030204" pitchFamily="18" charset="0"/>
                                    <a:ea typeface="Calibri" panose="020F0502020204030204" pitchFamily="34" charset="0"/>
                                    <a:cs typeface="Times New Roman" panose="02020603050405020304" pitchFamily="18" charset="0"/>
                                  </a:rPr>
                                  <m:t>𝑘</m:t>
                                </m:r>
                              </m:sub>
                            </m:sSub>
                          </m:e>
                        </m:nary>
                      </m:num>
                      <m:den>
                        <m:r>
                          <a:rPr lang="en-US" i="1" kern="100">
                            <a:latin typeface="Cambria Math" panose="02040503050406030204" pitchFamily="18" charset="0"/>
                            <a:ea typeface="Calibri" panose="020F0502020204030204" pitchFamily="34" charset="0"/>
                            <a:cs typeface="Times New Roman" panose="02020603050405020304" pitchFamily="18" charset="0"/>
                          </a:rPr>
                          <m:t>𝑘</m:t>
                        </m:r>
                      </m:den>
                    </m:f>
                  </m:oMath>
                </a14:m>
                <a:r>
                  <a:rPr lang="en-US" kern="100" dirty="0">
                    <a:latin typeface="Calibri" panose="020F0502020204030204" pitchFamily="34" charset="0"/>
                    <a:ea typeface="Calibri" panose="020F0502020204030204" pitchFamily="34" charset="0"/>
                    <a:cs typeface="Times New Roman" panose="02020603050405020304" pitchFamily="18" charset="0"/>
                  </a:rPr>
                  <a:t> , k is number of classes</a:t>
                </a:r>
              </a:p>
              <a:p>
                <a:pPr marL="0" indent="0">
                  <a:spcBef>
                    <a:spcPts val="0"/>
                  </a:spcBef>
                  <a:spcAft>
                    <a:spcPts val="0"/>
                  </a:spcAft>
                  <a:buFont typeface="Wingdings 2" panose="05020102010507070707" pitchFamily="18" charset="2"/>
                  <a:buNone/>
                  <a:tabLst>
                    <a:tab pos="1205230" algn="l"/>
                  </a:tabLs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0"/>
                  </a:spcAft>
                  <a:tabLst>
                    <a:tab pos="1205230" algn="l"/>
                  </a:tabLst>
                </a:pPr>
                <a14:m>
                  <m:oMath xmlns:m="http://schemas.openxmlformats.org/officeDocument/2006/math">
                    <m:r>
                      <a:rPr lang="en-US" i="1" kern="100" smtClean="0">
                        <a:latin typeface="Cambria Math" panose="02040503050406030204" pitchFamily="18" charset="0"/>
                        <a:ea typeface="Calibri" panose="020F0502020204030204" pitchFamily="34" charset="0"/>
                        <a:cs typeface="Times New Roman" panose="02020603050405020304" pitchFamily="18" charset="0"/>
                      </a:rPr>
                      <m:t>𝑀𝑎𝑐𝑟𝑜</m:t>
                    </m:r>
                    <m:r>
                      <a:rPr lang="en-US" i="1" kern="100" smtClean="0">
                        <a:latin typeface="Cambria Math" panose="02040503050406030204" pitchFamily="18" charset="0"/>
                        <a:ea typeface="Calibri" panose="020F0502020204030204" pitchFamily="34" charset="0"/>
                        <a:cs typeface="Times New Roman" panose="02020603050405020304" pitchFamily="18" charset="0"/>
                      </a:rPr>
                      <m:t> </m:t>
                    </m:r>
                    <m:sSub>
                      <m:sSubPr>
                        <m:ctrlPr>
                          <a:rPr lang="en-US" i="1" kern="100" smtClean="0">
                            <a:latin typeface="Cambria Math" panose="02040503050406030204" pitchFamily="18" charset="0"/>
                            <a:cs typeface="Times New Roman" panose="02020603050405020304" pitchFamily="18" charset="0"/>
                          </a:rPr>
                        </m:ctrlPr>
                      </m:sSubPr>
                      <m:e>
                        <m:r>
                          <a:rPr lang="en-US" i="1" kern="100" smtClean="0">
                            <a:latin typeface="Cambria Math" panose="02040503050406030204" pitchFamily="18" charset="0"/>
                            <a:cs typeface="Times New Roman" panose="02020603050405020304" pitchFamily="18" charset="0"/>
                          </a:rPr>
                          <m:t>𝐹</m:t>
                        </m:r>
                        <m:r>
                          <a:rPr lang="en-US" i="1" kern="100" smtClean="0">
                            <a:latin typeface="Cambria Math" panose="02040503050406030204" pitchFamily="18" charset="0"/>
                            <a:cs typeface="Times New Roman" panose="02020603050405020304" pitchFamily="18" charset="0"/>
                          </a:rPr>
                          <m:t>1</m:t>
                        </m:r>
                      </m:e>
                      <m:sub>
                        <m:r>
                          <a:rPr lang="en-US" i="1" kern="100" smtClean="0">
                            <a:latin typeface="Cambria Math" panose="02040503050406030204" pitchFamily="18" charset="0"/>
                            <a:cs typeface="Times New Roman" panose="02020603050405020304" pitchFamily="18" charset="0"/>
                          </a:rPr>
                          <m:t>𝑅𝐹</m:t>
                        </m:r>
                      </m:sub>
                    </m:sSub>
                    <m:r>
                      <a:rPr lang="en-US" i="1" kern="100" smtClean="0">
                        <a:latin typeface="Cambria Math" panose="02040503050406030204" pitchFamily="18" charset="0"/>
                        <a:ea typeface="Calibri" panose="020F0502020204030204" pitchFamily="34" charset="0"/>
                        <a:cs typeface="Times New Roman" panose="02020603050405020304" pitchFamily="18" charset="0"/>
                      </a:rPr>
                      <m:t>= </m:t>
                    </m:r>
                    <m:f>
                      <m:fPr>
                        <m:ctrlPr>
                          <a:rPr lang="en-US" i="1" kern="100">
                            <a:latin typeface="Cambria Math" panose="02040503050406030204" pitchFamily="18" charset="0"/>
                            <a:ea typeface="Calibri" panose="020F0502020204030204" pitchFamily="34" charset="0"/>
                            <a:cs typeface="Times New Roman" panose="02020603050405020304" pitchFamily="18" charset="0"/>
                          </a:rPr>
                        </m:ctrlPr>
                      </m:fPr>
                      <m:num>
                        <m:r>
                          <a:rPr lang="en-US" i="1" kern="100" smtClean="0">
                            <a:latin typeface="Cambria Math" panose="02040503050406030204" pitchFamily="18" charset="0"/>
                            <a:ea typeface="Calibri" panose="020F0502020204030204" pitchFamily="34" charset="0"/>
                            <a:cs typeface="Times New Roman" panose="02020603050405020304" pitchFamily="18" charset="0"/>
                          </a:rPr>
                          <m:t>0.6742+0.5993+0.7394+0</m:t>
                        </m:r>
                      </m:num>
                      <m:den>
                        <m:r>
                          <a:rPr lang="en-US" i="1" kern="100" smtClean="0">
                            <a:latin typeface="Cambria Math" panose="02040503050406030204" pitchFamily="18" charset="0"/>
                            <a:ea typeface="Calibri" panose="020F0502020204030204" pitchFamily="34" charset="0"/>
                            <a:cs typeface="Times New Roman" panose="02020603050405020304" pitchFamily="18" charset="0"/>
                          </a:rPr>
                          <m:t>4</m:t>
                        </m:r>
                      </m:den>
                    </m:f>
                  </m:oMath>
                </a14:m>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spcBef>
                    <a:spcPts val="0"/>
                  </a:spcBef>
                  <a:spcAft>
                    <a:spcPts val="0"/>
                  </a:spcAft>
                  <a:buFont typeface="Wingdings 2" panose="05020102010507070707" pitchFamily="18" charset="2"/>
                  <a:buNone/>
                  <a:tabLst>
                    <a:tab pos="1205230" algn="l"/>
                  </a:tabLs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0"/>
                  </a:spcAft>
                  <a:tabLst>
                    <a:tab pos="1205230" algn="l"/>
                  </a:tabLst>
                </a:pPr>
                <a14:m>
                  <m:oMath xmlns:m="http://schemas.openxmlformats.org/officeDocument/2006/math">
                    <m:r>
                      <a:rPr lang="en-US" i="1" kern="100">
                        <a:latin typeface="Cambria Math" panose="02040503050406030204" pitchFamily="18" charset="0"/>
                        <a:ea typeface="Calibri" panose="020F0502020204030204" pitchFamily="34" charset="0"/>
                        <a:cs typeface="Times New Roman" panose="02020603050405020304" pitchFamily="18" charset="0"/>
                      </a:rPr>
                      <m:t>𝑀𝑎𝑐𝑟𝑜</m:t>
                    </m:r>
                    <m:r>
                      <a:rPr lang="en-US" i="1" kern="100">
                        <a:latin typeface="Cambria Math" panose="02040503050406030204" pitchFamily="18" charset="0"/>
                        <a:ea typeface="Calibri" panose="020F0502020204030204" pitchFamily="34" charset="0"/>
                        <a:cs typeface="Times New Roman" panose="02020603050405020304" pitchFamily="18" charset="0"/>
                      </a:rPr>
                      <m:t> </m:t>
                    </m:r>
                    <m:sSub>
                      <m:sSubPr>
                        <m:ctrlPr>
                          <a:rPr lang="en-US" i="1" kern="100">
                            <a:latin typeface="Cambria Math" panose="02040503050406030204" pitchFamily="18" charset="0"/>
                            <a:cs typeface="Times New Roman" panose="02020603050405020304" pitchFamily="18" charset="0"/>
                          </a:rPr>
                        </m:ctrlPr>
                      </m:sSubPr>
                      <m:e>
                        <m:r>
                          <a:rPr lang="en-US" i="1" kern="100">
                            <a:latin typeface="Cambria Math" panose="02040503050406030204" pitchFamily="18" charset="0"/>
                            <a:cs typeface="Times New Roman" panose="02020603050405020304" pitchFamily="18" charset="0"/>
                          </a:rPr>
                          <m:t>𝐹</m:t>
                        </m:r>
                        <m:r>
                          <a:rPr lang="en-US" i="1" kern="100">
                            <a:latin typeface="Cambria Math" panose="02040503050406030204" pitchFamily="18" charset="0"/>
                            <a:cs typeface="Times New Roman" panose="02020603050405020304" pitchFamily="18" charset="0"/>
                          </a:rPr>
                          <m:t>1</m:t>
                        </m:r>
                      </m:e>
                      <m:sub>
                        <m:r>
                          <a:rPr lang="en-US" i="1" kern="100">
                            <a:latin typeface="Cambria Math" panose="02040503050406030204" pitchFamily="18" charset="0"/>
                            <a:cs typeface="Times New Roman" panose="02020603050405020304" pitchFamily="18" charset="0"/>
                          </a:rPr>
                          <m:t>𝑅𝐹</m:t>
                        </m:r>
                      </m:sub>
                    </m:sSub>
                    <m:r>
                      <a:rPr lang="en-US" i="1" kern="100" smtClean="0">
                        <a:latin typeface="Cambria Math" panose="02040503050406030204" pitchFamily="18" charset="0"/>
                        <a:ea typeface="Calibri" panose="020F0502020204030204" pitchFamily="34" charset="0"/>
                        <a:cs typeface="Times New Roman" panose="02020603050405020304" pitchFamily="18" charset="0"/>
                      </a:rPr>
                      <m:t>=</m:t>
                    </m:r>
                  </m:oMath>
                </a14:m>
                <a:r>
                  <a:rPr lang="en-US" kern="100" dirty="0">
                    <a:latin typeface="Calibri" panose="020F0502020204030204" pitchFamily="34" charset="0"/>
                    <a:ea typeface="Calibri" panose="020F0502020204030204" pitchFamily="34" charset="0"/>
                    <a:cs typeface="Times New Roman" panose="02020603050405020304" pitchFamily="18" charset="0"/>
                  </a:rPr>
                  <a:t> 0.5032</a:t>
                </a:r>
              </a:p>
              <a:p>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5" name="Content Placeholder 6">
                <a:extLst>
                  <a:ext uri="{FF2B5EF4-FFF2-40B4-BE49-F238E27FC236}">
                    <a16:creationId xmlns:a16="http://schemas.microsoft.com/office/drawing/2014/main" id="{39B09AAF-51BB-A43A-56BF-04A82B40542B}"/>
                  </a:ext>
                </a:extLst>
              </p:cNvPr>
              <p:cNvSpPr txBox="1">
                <a:spLocks noRot="1" noChangeAspect="1" noMove="1" noResize="1" noEditPoints="1" noAdjustHandles="1" noChangeArrowheads="1" noChangeShapeType="1" noTextEdit="1"/>
              </p:cNvSpPr>
              <p:nvPr/>
            </p:nvSpPr>
            <p:spPr>
              <a:xfrm>
                <a:off x="358400" y="2186734"/>
                <a:ext cx="4961745" cy="4625788"/>
              </a:xfrm>
              <a:prstGeom prst="rect">
                <a:avLst/>
              </a:prstGeom>
              <a:blipFill>
                <a:blip r:embed="rId3"/>
                <a:stretch>
                  <a:fillRect l="-510"/>
                </a:stretch>
              </a:blipFill>
            </p:spPr>
            <p:txBody>
              <a:bodyPr/>
              <a:lstStyle/>
              <a:p>
                <a:r>
                  <a:rPr lang="en-US">
                    <a:noFill/>
                  </a:rPr>
                  <a:t> </a:t>
                </a:r>
              </a:p>
            </p:txBody>
          </p:sp>
        </mc:Fallback>
      </mc:AlternateContent>
    </p:spTree>
    <p:extLst>
      <p:ext uri="{BB962C8B-B14F-4D97-AF65-F5344CB8AC3E}">
        <p14:creationId xmlns:p14="http://schemas.microsoft.com/office/powerpoint/2010/main" val="1265889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7438-D685-8581-531D-81906A9D68AF}"/>
              </a:ext>
            </a:extLst>
          </p:cNvPr>
          <p:cNvSpPr>
            <a:spLocks noGrp="1"/>
          </p:cNvSpPr>
          <p:nvPr>
            <p:ph type="title"/>
          </p:nvPr>
        </p:nvSpPr>
        <p:spPr/>
        <p:txBody>
          <a:bodyPr/>
          <a:lstStyle/>
          <a:p>
            <a:r>
              <a:rPr lang="en-US" dirty="0"/>
              <a:t>Proper Metric and ML algorithms</a:t>
            </a:r>
            <a:br>
              <a:rPr lang="en-US" dirty="0"/>
            </a:br>
            <a:r>
              <a:rPr lang="en-US" dirty="0"/>
              <a:t>Macro F1 SCORE</a:t>
            </a:r>
          </a:p>
        </p:txBody>
      </p:sp>
      <p:pic>
        <p:nvPicPr>
          <p:cNvPr id="5" name="Content Placeholder 4">
            <a:extLst>
              <a:ext uri="{FF2B5EF4-FFF2-40B4-BE49-F238E27FC236}">
                <a16:creationId xmlns:a16="http://schemas.microsoft.com/office/drawing/2014/main" id="{8EAFBDB7-4DB8-413E-E477-E17DD5DCC6A1}"/>
              </a:ext>
            </a:extLst>
          </p:cNvPr>
          <p:cNvPicPr>
            <a:picLocks noGrp="1" noChangeAspect="1"/>
          </p:cNvPicPr>
          <p:nvPr>
            <p:ph idx="1"/>
          </p:nvPr>
        </p:nvPicPr>
        <p:blipFill rotWithShape="1">
          <a:blip r:embed="rId2"/>
          <a:srcRect r="18462"/>
          <a:stretch/>
        </p:blipFill>
        <p:spPr>
          <a:xfrm>
            <a:off x="3410553" y="2207646"/>
            <a:ext cx="4284939" cy="3678303"/>
          </a:xfrm>
        </p:spPr>
      </p:pic>
      <p:pic>
        <p:nvPicPr>
          <p:cNvPr id="7" name="Picture 6">
            <a:extLst>
              <a:ext uri="{FF2B5EF4-FFF2-40B4-BE49-F238E27FC236}">
                <a16:creationId xmlns:a16="http://schemas.microsoft.com/office/drawing/2014/main" id="{F0D8AF3A-277E-BDCB-5062-F54ACDDD872C}"/>
              </a:ext>
            </a:extLst>
          </p:cNvPr>
          <p:cNvPicPr>
            <a:picLocks noChangeAspect="1"/>
          </p:cNvPicPr>
          <p:nvPr/>
        </p:nvPicPr>
        <p:blipFill rotWithShape="1">
          <a:blip r:embed="rId3"/>
          <a:srcRect r="18938"/>
          <a:stretch/>
        </p:blipFill>
        <p:spPr>
          <a:xfrm>
            <a:off x="7552157" y="2207645"/>
            <a:ext cx="4193405" cy="3678303"/>
          </a:xfrm>
          <a:prstGeom prst="rect">
            <a:avLst/>
          </a:prstGeom>
        </p:spPr>
      </p:pic>
      <p:sp>
        <p:nvSpPr>
          <p:cNvPr id="3" name="Content Placeholder 2">
            <a:extLst>
              <a:ext uri="{FF2B5EF4-FFF2-40B4-BE49-F238E27FC236}">
                <a16:creationId xmlns:a16="http://schemas.microsoft.com/office/drawing/2014/main" id="{818D144F-2E77-4476-36AF-6E031DA3EDF1}"/>
              </a:ext>
            </a:extLst>
          </p:cNvPr>
          <p:cNvSpPr txBox="1">
            <a:spLocks/>
          </p:cNvSpPr>
          <p:nvPr/>
        </p:nvSpPr>
        <p:spPr>
          <a:xfrm>
            <a:off x="382932" y="2294274"/>
            <a:ext cx="3034038"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l"/>
            <a:r>
              <a:rPr lang="en-US" b="0" i="0" dirty="0">
                <a:solidFill>
                  <a:srgbClr val="242424"/>
                </a:solidFill>
                <a:effectLst/>
              </a:rPr>
              <a:t>The F1 Score measures how well the model balances between correctly identifying class (precision) and catching all observations that belong to this class (recall).</a:t>
            </a:r>
            <a:endParaRPr lang="en-US" dirty="0">
              <a:solidFill>
                <a:srgbClr val="383838"/>
              </a:solidFill>
            </a:endParaRPr>
          </a:p>
          <a:p>
            <a:r>
              <a:rPr lang="en-US" b="0" i="0" dirty="0">
                <a:solidFill>
                  <a:srgbClr val="383838"/>
                </a:solidFill>
                <a:effectLst/>
              </a:rPr>
              <a:t>FP and FN are equally costly.</a:t>
            </a:r>
            <a:endParaRPr lang="en-US" dirty="0">
              <a:solidFill>
                <a:srgbClr val="383838"/>
              </a:solidFill>
            </a:endParaRPr>
          </a:p>
          <a:p>
            <a:r>
              <a:rPr lang="en-US" dirty="0">
                <a:solidFill>
                  <a:srgbClr val="383838"/>
                </a:solidFill>
              </a:rPr>
              <a:t>Correctly classifying every class is key.</a:t>
            </a:r>
            <a:endParaRPr lang="en-US" b="0" i="0" dirty="0">
              <a:solidFill>
                <a:srgbClr val="383838"/>
              </a:solidFill>
              <a:effectLst/>
            </a:endParaRPr>
          </a:p>
          <a:p>
            <a:endParaRPr lang="en-US" dirty="0"/>
          </a:p>
        </p:txBody>
      </p:sp>
    </p:spTree>
    <p:extLst>
      <p:ext uri="{BB962C8B-B14F-4D97-AF65-F5344CB8AC3E}">
        <p14:creationId xmlns:p14="http://schemas.microsoft.com/office/powerpoint/2010/main" val="3091786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C2EBD-9145-1A93-F0FF-61F7F95921FE}"/>
              </a:ext>
            </a:extLst>
          </p:cNvPr>
          <p:cNvSpPr>
            <a:spLocks noGrp="1"/>
          </p:cNvSpPr>
          <p:nvPr>
            <p:ph type="title"/>
          </p:nvPr>
        </p:nvSpPr>
        <p:spPr/>
        <p:txBody>
          <a:bodyPr/>
          <a:lstStyle/>
          <a:p>
            <a:r>
              <a:rPr lang="en-US" dirty="0"/>
              <a:t>Standardization of predictors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90D7AC-3B07-E1EF-DC8E-C6592C5E865B}"/>
                  </a:ext>
                </a:extLst>
              </p:cNvPr>
              <p:cNvSpPr>
                <a:spLocks noGrp="1"/>
              </p:cNvSpPr>
              <p:nvPr>
                <p:ph idx="1"/>
              </p:nvPr>
            </p:nvSpPr>
            <p:spPr>
              <a:xfrm>
                <a:off x="425748" y="2180495"/>
                <a:ext cx="4751203" cy="3678303"/>
              </a:xfrm>
            </p:spPr>
            <p:txBody>
              <a:bodyPr>
                <a:normAutofit lnSpcReduction="10000"/>
              </a:bodyPr>
              <a:lstStyle/>
              <a:p>
                <a14:m>
                  <m:oMath xmlns:m="http://schemas.openxmlformats.org/officeDocument/2006/math">
                    <m:sSub>
                      <m:sSubPr>
                        <m:ctrlPr>
                          <a:rPr lang="en-US"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𝑠𝑡𝑎𝑛𝑑𝑎𝑟𝑑𝑖𝑧𝑒𝑑</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e>
                        </m:acc>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num>
                      <m:den>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sub>
                        </m:sSub>
                      </m:den>
                    </m:f>
                  </m:oMath>
                </a14:m>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Standardized variable has mean 0 and std 1.</a:t>
                </a:r>
              </a:p>
              <a:p>
                <a:r>
                  <a:rPr lang="en-US" dirty="0"/>
                  <a:t>Ensures that all features contribute equally to the model. </a:t>
                </a:r>
              </a:p>
              <a:p>
                <a:r>
                  <a:rPr lang="en-US" dirty="0"/>
                  <a:t>When one feature has large and a wide range of numerical values, it may have too high of an impact on the prediction while other smaller features’ contribution can be minimal.</a:t>
                </a:r>
              </a:p>
              <a:p>
                <a:r>
                  <a:rPr lang="en-US" dirty="0"/>
                  <a:t>Performance improvement - certain algorithms converge faster when features are scaled.</a:t>
                </a:r>
              </a:p>
            </p:txBody>
          </p:sp>
        </mc:Choice>
        <mc:Fallback xmlns="">
          <p:sp>
            <p:nvSpPr>
              <p:cNvPr id="3" name="Content Placeholder 2">
                <a:extLst>
                  <a:ext uri="{FF2B5EF4-FFF2-40B4-BE49-F238E27FC236}">
                    <a16:creationId xmlns:a16="http://schemas.microsoft.com/office/drawing/2014/main" id="{5D90D7AC-3B07-E1EF-DC8E-C6592C5E865B}"/>
                  </a:ext>
                </a:extLst>
              </p:cNvPr>
              <p:cNvSpPr>
                <a:spLocks noGrp="1" noRot="1" noChangeAspect="1" noMove="1" noResize="1" noEditPoints="1" noAdjustHandles="1" noChangeArrowheads="1" noChangeShapeType="1" noTextEdit="1"/>
              </p:cNvSpPr>
              <p:nvPr>
                <p:ph idx="1"/>
              </p:nvPr>
            </p:nvSpPr>
            <p:spPr>
              <a:xfrm>
                <a:off x="425748" y="2180495"/>
                <a:ext cx="4751203" cy="3678303"/>
              </a:xfrm>
              <a:blipFill>
                <a:blip r:embed="rId3"/>
                <a:stretch>
                  <a:fillRect l="-267" r="-1867" b="-68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A29B453-ABA7-4F0E-507B-03537C1BA292}"/>
              </a:ext>
            </a:extLst>
          </p:cNvPr>
          <p:cNvPicPr>
            <a:picLocks noChangeAspect="1"/>
          </p:cNvPicPr>
          <p:nvPr/>
        </p:nvPicPr>
        <p:blipFill rotWithShape="1">
          <a:blip r:embed="rId4"/>
          <a:srcRect l="10426"/>
          <a:stretch/>
        </p:blipFill>
        <p:spPr>
          <a:xfrm>
            <a:off x="5566884" y="2457719"/>
            <a:ext cx="6199368" cy="2125265"/>
          </a:xfrm>
          <a:prstGeom prst="rect">
            <a:avLst/>
          </a:prstGeom>
        </p:spPr>
      </p:pic>
      <p:sp>
        <p:nvSpPr>
          <p:cNvPr id="7" name="TextBox 6">
            <a:extLst>
              <a:ext uri="{FF2B5EF4-FFF2-40B4-BE49-F238E27FC236}">
                <a16:creationId xmlns:a16="http://schemas.microsoft.com/office/drawing/2014/main" id="{3F3C1486-0E46-6C65-72FD-1E3CC852547B}"/>
              </a:ext>
            </a:extLst>
          </p:cNvPr>
          <p:cNvSpPr txBox="1"/>
          <p:nvPr/>
        </p:nvSpPr>
        <p:spPr>
          <a:xfrm>
            <a:off x="6859606" y="2119165"/>
            <a:ext cx="3778599" cy="338554"/>
          </a:xfrm>
          <a:prstGeom prst="rect">
            <a:avLst/>
          </a:prstGeom>
          <a:noFill/>
        </p:spPr>
        <p:txBody>
          <a:bodyPr wrap="none" rtlCol="0">
            <a:spAutoFit/>
          </a:bodyPr>
          <a:lstStyle/>
          <a:p>
            <a:r>
              <a:rPr lang="en-US" sz="1600" dirty="0"/>
              <a:t>Statistical Summary for Selected Predictors</a:t>
            </a:r>
          </a:p>
        </p:txBody>
      </p:sp>
      <p:sp>
        <p:nvSpPr>
          <p:cNvPr id="8" name="Content Placeholder 2">
            <a:extLst>
              <a:ext uri="{FF2B5EF4-FFF2-40B4-BE49-F238E27FC236}">
                <a16:creationId xmlns:a16="http://schemas.microsoft.com/office/drawing/2014/main" id="{B90785BB-8E85-2ED6-5666-51C0F60F4CA1}"/>
              </a:ext>
            </a:extLst>
          </p:cNvPr>
          <p:cNvSpPr txBox="1">
            <a:spLocks/>
          </p:cNvSpPr>
          <p:nvPr/>
        </p:nvSpPr>
        <p:spPr>
          <a:xfrm>
            <a:off x="5595760" y="4019647"/>
            <a:ext cx="6141616" cy="274346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Some variables such as </a:t>
            </a:r>
            <a:r>
              <a:rPr lang="en-US" dirty="0" err="1"/>
              <a:t>daysofSalesOutstanding</a:t>
            </a:r>
            <a:r>
              <a:rPr lang="en-US" dirty="0"/>
              <a:t>, </a:t>
            </a:r>
            <a:r>
              <a:rPr lang="en-US" dirty="0" err="1"/>
              <a:t>fixedAssetTurnover</a:t>
            </a:r>
            <a:r>
              <a:rPr lang="en-US" dirty="0"/>
              <a:t>, </a:t>
            </a:r>
            <a:r>
              <a:rPr lang="en-US" dirty="0" err="1"/>
              <a:t>cashPerShare</a:t>
            </a:r>
            <a:r>
              <a:rPr lang="en-US" dirty="0"/>
              <a:t>, </a:t>
            </a:r>
            <a:r>
              <a:rPr lang="en-US" dirty="0" err="1"/>
              <a:t>enterpriseValueMultiple</a:t>
            </a:r>
            <a:r>
              <a:rPr lang="en-US" dirty="0"/>
              <a:t> differ significantly in their range from other financial indicators.</a:t>
            </a:r>
          </a:p>
        </p:txBody>
      </p:sp>
    </p:spTree>
    <p:extLst>
      <p:ext uri="{BB962C8B-B14F-4D97-AF65-F5344CB8AC3E}">
        <p14:creationId xmlns:p14="http://schemas.microsoft.com/office/powerpoint/2010/main" val="1340932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9E84D-C851-B4BD-E5D5-5928FC1FFF42}"/>
              </a:ext>
            </a:extLst>
          </p:cNvPr>
          <p:cNvSpPr>
            <a:spLocks noGrp="1"/>
          </p:cNvSpPr>
          <p:nvPr>
            <p:ph type="title"/>
          </p:nvPr>
        </p:nvSpPr>
        <p:spPr/>
        <p:txBody>
          <a:bodyPr/>
          <a:lstStyle/>
          <a:p>
            <a:r>
              <a:rPr lang="en-US" dirty="0"/>
              <a:t>Standardization of predictors</a:t>
            </a:r>
          </a:p>
        </p:txBody>
      </p:sp>
      <p:sp>
        <p:nvSpPr>
          <p:cNvPr id="12" name="Content Placeholder 11">
            <a:extLst>
              <a:ext uri="{FF2B5EF4-FFF2-40B4-BE49-F238E27FC236}">
                <a16:creationId xmlns:a16="http://schemas.microsoft.com/office/drawing/2014/main" id="{C6C14B3A-AB67-C049-A34D-E7C6EE6EB84C}"/>
              </a:ext>
            </a:extLst>
          </p:cNvPr>
          <p:cNvSpPr txBox="1">
            <a:spLocks noGrp="1"/>
          </p:cNvSpPr>
          <p:nvPr>
            <p:ph idx="1"/>
          </p:nvPr>
        </p:nvSpPr>
        <p:spPr>
          <a:xfrm>
            <a:off x="443897" y="2206592"/>
            <a:ext cx="3906838" cy="1597360"/>
          </a:xfrm>
          <a:prstGeom prst="rect">
            <a:avLst/>
          </a:prstGeom>
          <a:noFill/>
        </p:spPr>
        <p:txBody>
          <a:bodyPr wrap="square">
            <a:spAutoFit/>
          </a:bodyPr>
          <a:lstStyle/>
          <a:p>
            <a:r>
              <a:rPr lang="en-US" dirty="0"/>
              <a:t>LR (Macro F1 +0.03)</a:t>
            </a:r>
          </a:p>
          <a:p>
            <a:r>
              <a:rPr lang="en-US" dirty="0"/>
              <a:t>RF (Macro F1 +0.01)</a:t>
            </a:r>
          </a:p>
          <a:p>
            <a:r>
              <a:rPr lang="en-US" dirty="0"/>
              <a:t>KNN (Macro F1 +0.01)</a:t>
            </a:r>
          </a:p>
          <a:p>
            <a:endParaRPr lang="en-US" dirty="0"/>
          </a:p>
        </p:txBody>
      </p:sp>
      <p:pic>
        <p:nvPicPr>
          <p:cNvPr id="17" name="Picture 16">
            <a:extLst>
              <a:ext uri="{FF2B5EF4-FFF2-40B4-BE49-F238E27FC236}">
                <a16:creationId xmlns:a16="http://schemas.microsoft.com/office/drawing/2014/main" id="{BB843866-A329-508C-B237-C5313DE79B31}"/>
              </a:ext>
            </a:extLst>
          </p:cNvPr>
          <p:cNvPicPr>
            <a:picLocks noChangeAspect="1"/>
          </p:cNvPicPr>
          <p:nvPr/>
        </p:nvPicPr>
        <p:blipFill>
          <a:blip r:embed="rId3"/>
          <a:stretch>
            <a:fillRect/>
          </a:stretch>
        </p:blipFill>
        <p:spPr>
          <a:xfrm>
            <a:off x="3859731" y="1838425"/>
            <a:ext cx="7958957" cy="5019575"/>
          </a:xfrm>
          <a:prstGeom prst="rect">
            <a:avLst/>
          </a:prstGeom>
        </p:spPr>
      </p:pic>
    </p:spTree>
    <p:extLst>
      <p:ext uri="{BB962C8B-B14F-4D97-AF65-F5344CB8AC3E}">
        <p14:creationId xmlns:p14="http://schemas.microsoft.com/office/powerpoint/2010/main" val="1878639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6A95-40B2-E6E4-C43D-DA40326057A3}"/>
              </a:ext>
            </a:extLst>
          </p:cNvPr>
          <p:cNvSpPr>
            <a:spLocks noGrp="1"/>
          </p:cNvSpPr>
          <p:nvPr>
            <p:ph type="title"/>
          </p:nvPr>
        </p:nvSpPr>
        <p:spPr/>
        <p:txBody>
          <a:bodyPr/>
          <a:lstStyle/>
          <a:p>
            <a:r>
              <a:rPr lang="en-US" dirty="0"/>
              <a:t>Standardization of predictors</a:t>
            </a:r>
          </a:p>
        </p:txBody>
      </p:sp>
      <p:sp>
        <p:nvSpPr>
          <p:cNvPr id="12" name="Content Placeholder 11">
            <a:extLst>
              <a:ext uri="{FF2B5EF4-FFF2-40B4-BE49-F238E27FC236}">
                <a16:creationId xmlns:a16="http://schemas.microsoft.com/office/drawing/2014/main" id="{80CD271B-1FAE-7163-F7A4-E7541A378EF9}"/>
              </a:ext>
            </a:extLst>
          </p:cNvPr>
          <p:cNvSpPr txBox="1">
            <a:spLocks noGrp="1"/>
          </p:cNvSpPr>
          <p:nvPr>
            <p:ph idx="1"/>
          </p:nvPr>
        </p:nvSpPr>
        <p:spPr>
          <a:xfrm>
            <a:off x="466825" y="2220977"/>
            <a:ext cx="5349875" cy="2416046"/>
          </a:xfrm>
          <a:prstGeom prst="rect">
            <a:avLst/>
          </a:prstGeom>
          <a:noFill/>
        </p:spPr>
        <p:txBody>
          <a:bodyPr wrap="square" rtlCol="0">
            <a:spAutoFit/>
          </a:bodyPr>
          <a:lstStyle/>
          <a:p>
            <a:r>
              <a:rPr lang="en-US" dirty="0"/>
              <a:t>LR (Macro F1 -0.01)</a:t>
            </a:r>
          </a:p>
          <a:p>
            <a:r>
              <a:rPr lang="en-US" dirty="0"/>
              <a:t>KNN (Macro F1 +0.09)</a:t>
            </a:r>
          </a:p>
          <a:p>
            <a:r>
              <a:rPr lang="en-US" dirty="0"/>
              <a:t>RF (Macro F1 -0.01)</a:t>
            </a:r>
          </a:p>
          <a:p>
            <a:endParaRPr lang="en-US" dirty="0"/>
          </a:p>
          <a:p>
            <a:endParaRPr lang="en-US" dirty="0"/>
          </a:p>
          <a:p>
            <a:endParaRPr lang="en-US" dirty="0"/>
          </a:p>
        </p:txBody>
      </p:sp>
      <p:pic>
        <p:nvPicPr>
          <p:cNvPr id="15" name="Picture 14">
            <a:extLst>
              <a:ext uri="{FF2B5EF4-FFF2-40B4-BE49-F238E27FC236}">
                <a16:creationId xmlns:a16="http://schemas.microsoft.com/office/drawing/2014/main" id="{FB204391-ACC3-D728-A9C1-A41D81986415}"/>
              </a:ext>
            </a:extLst>
          </p:cNvPr>
          <p:cNvPicPr>
            <a:picLocks noChangeAspect="1"/>
          </p:cNvPicPr>
          <p:nvPr/>
        </p:nvPicPr>
        <p:blipFill>
          <a:blip r:embed="rId2"/>
          <a:stretch>
            <a:fillRect/>
          </a:stretch>
        </p:blipFill>
        <p:spPr>
          <a:xfrm>
            <a:off x="3509010" y="1830256"/>
            <a:ext cx="8301188" cy="5027744"/>
          </a:xfrm>
          <a:prstGeom prst="rect">
            <a:avLst/>
          </a:prstGeom>
        </p:spPr>
      </p:pic>
    </p:spTree>
    <p:extLst>
      <p:ext uri="{BB962C8B-B14F-4D97-AF65-F5344CB8AC3E}">
        <p14:creationId xmlns:p14="http://schemas.microsoft.com/office/powerpoint/2010/main" val="3454814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4A85-2125-81B7-EBFC-BCC75574BFF1}"/>
              </a:ext>
            </a:extLst>
          </p:cNvPr>
          <p:cNvSpPr>
            <a:spLocks noGrp="1"/>
          </p:cNvSpPr>
          <p:nvPr>
            <p:ph type="title"/>
          </p:nvPr>
        </p:nvSpPr>
        <p:spPr/>
        <p:txBody>
          <a:bodyPr/>
          <a:lstStyle/>
          <a:p>
            <a:r>
              <a:rPr lang="en-US" dirty="0"/>
              <a:t>Multicollinearity</a:t>
            </a:r>
          </a:p>
        </p:txBody>
      </p:sp>
      <p:sp>
        <p:nvSpPr>
          <p:cNvPr id="3" name="Content Placeholder 2">
            <a:extLst>
              <a:ext uri="{FF2B5EF4-FFF2-40B4-BE49-F238E27FC236}">
                <a16:creationId xmlns:a16="http://schemas.microsoft.com/office/drawing/2014/main" id="{83F5CC75-2114-4D4D-129F-24A5E307D83D}"/>
              </a:ext>
            </a:extLst>
          </p:cNvPr>
          <p:cNvSpPr>
            <a:spLocks noGrp="1"/>
          </p:cNvSpPr>
          <p:nvPr>
            <p:ph idx="1"/>
          </p:nvPr>
        </p:nvSpPr>
        <p:spPr>
          <a:xfrm>
            <a:off x="425329" y="1715956"/>
            <a:ext cx="3894556" cy="4043928"/>
          </a:xfrm>
        </p:spPr>
        <p:txBody>
          <a:bodyPr>
            <a:normAutofit/>
          </a:bodyPr>
          <a:lstStyle/>
          <a:p>
            <a:r>
              <a:rPr lang="en-US" dirty="0"/>
              <a:t>Pearson’s correlation coefficient</a:t>
            </a:r>
          </a:p>
          <a:p>
            <a:r>
              <a:rPr lang="en-US" dirty="0"/>
              <a:t>Some set of predictors have a correlation coefficient &gt; 0.9</a:t>
            </a:r>
          </a:p>
          <a:p>
            <a:pPr lvl="1"/>
            <a:r>
              <a:rPr lang="en-US" dirty="0" err="1"/>
              <a:t>ebitPerRevenue</a:t>
            </a:r>
            <a:r>
              <a:rPr lang="en-US" dirty="0"/>
              <a:t> &amp; </a:t>
            </a:r>
            <a:r>
              <a:rPr lang="en-US" dirty="0" err="1"/>
              <a:t>preTaxProfitMargin</a:t>
            </a:r>
            <a:r>
              <a:rPr lang="en-US" dirty="0"/>
              <a:t> = 0.98</a:t>
            </a:r>
          </a:p>
          <a:p>
            <a:pPr lvl="1"/>
            <a:r>
              <a:rPr lang="en-US" dirty="0" err="1"/>
              <a:t>debtEquityRatio</a:t>
            </a:r>
            <a:r>
              <a:rPr lang="en-US" dirty="0"/>
              <a:t> &amp; </a:t>
            </a:r>
            <a:r>
              <a:rPr lang="en-US" dirty="0" err="1"/>
              <a:t>companyEquityMultiplier</a:t>
            </a:r>
            <a:r>
              <a:rPr lang="en-US" dirty="0"/>
              <a:t> = 0.99</a:t>
            </a:r>
          </a:p>
        </p:txBody>
      </p:sp>
      <p:pic>
        <p:nvPicPr>
          <p:cNvPr id="5" name="Content Placeholder 4">
            <a:extLst>
              <a:ext uri="{FF2B5EF4-FFF2-40B4-BE49-F238E27FC236}">
                <a16:creationId xmlns:a16="http://schemas.microsoft.com/office/drawing/2014/main" id="{CFF07E00-45C1-F3D2-F304-9BF4F3906B5C}"/>
              </a:ext>
            </a:extLst>
          </p:cNvPr>
          <p:cNvPicPr>
            <a:picLocks noChangeAspect="1"/>
          </p:cNvPicPr>
          <p:nvPr/>
        </p:nvPicPr>
        <p:blipFill>
          <a:blip r:embed="rId2"/>
          <a:stretch>
            <a:fillRect/>
          </a:stretch>
        </p:blipFill>
        <p:spPr>
          <a:xfrm>
            <a:off x="4466443" y="1953928"/>
            <a:ext cx="6499621" cy="5190676"/>
          </a:xfrm>
          <a:prstGeom prst="rect">
            <a:avLst/>
          </a:prstGeom>
        </p:spPr>
      </p:pic>
    </p:spTree>
    <p:extLst>
      <p:ext uri="{BB962C8B-B14F-4D97-AF65-F5344CB8AC3E}">
        <p14:creationId xmlns:p14="http://schemas.microsoft.com/office/powerpoint/2010/main" val="259954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6A771-5D5D-6833-DDAD-1080451800D3}"/>
              </a:ext>
            </a:extLst>
          </p:cNvPr>
          <p:cNvSpPr>
            <a:spLocks noGrp="1"/>
          </p:cNvSpPr>
          <p:nvPr>
            <p:ph type="title"/>
          </p:nvPr>
        </p:nvSpPr>
        <p:spPr/>
        <p:txBody>
          <a:bodyPr/>
          <a:lstStyle/>
          <a:p>
            <a:r>
              <a:rPr lang="en-US" dirty="0"/>
              <a:t>Multicollinearity</a:t>
            </a:r>
          </a:p>
        </p:txBody>
      </p:sp>
      <p:pic>
        <p:nvPicPr>
          <p:cNvPr id="4" name="Picture 3">
            <a:extLst>
              <a:ext uri="{FF2B5EF4-FFF2-40B4-BE49-F238E27FC236}">
                <a16:creationId xmlns:a16="http://schemas.microsoft.com/office/drawing/2014/main" id="{B4FA3FF9-7D4C-28B6-2A45-F433AE093418}"/>
              </a:ext>
            </a:extLst>
          </p:cNvPr>
          <p:cNvPicPr>
            <a:picLocks noChangeAspect="1"/>
          </p:cNvPicPr>
          <p:nvPr/>
        </p:nvPicPr>
        <p:blipFill rotWithShape="1">
          <a:blip r:embed="rId2"/>
          <a:srcRect l="-8040" t="19683" r="11743" b="20635"/>
          <a:stretch/>
        </p:blipFill>
        <p:spPr>
          <a:xfrm>
            <a:off x="7596738" y="1865290"/>
            <a:ext cx="4162927" cy="4957010"/>
          </a:xfrm>
          <a:prstGeom prst="rect">
            <a:avLst/>
          </a:prstGeom>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E63B2BF-CA26-DBC6-7917-AE0893E1CC71}"/>
                  </a:ext>
                </a:extLst>
              </p:cNvPr>
              <p:cNvSpPr txBox="1">
                <a:spLocks noGrp="1"/>
              </p:cNvSpPr>
              <p:nvPr>
                <p:ph idx="1"/>
              </p:nvPr>
            </p:nvSpPr>
            <p:spPr>
              <a:xfrm>
                <a:off x="401566" y="2661562"/>
                <a:ext cx="7257553" cy="3549498"/>
              </a:xfrm>
              <a:prstGeom prst="rect">
                <a:avLst/>
              </a:prstGeom>
              <a:noFill/>
            </p:spPr>
            <p:txBody>
              <a:bodyPr wrap="square" rtlCol="0">
                <a:spAutoFit/>
              </a:bodyPr>
              <a:lstStyle/>
              <a:p>
                <a14:m>
                  <m:oMath xmlns:m="http://schemas.openxmlformats.org/officeDocument/2006/math">
                    <m:sSub>
                      <m:sSubPr>
                        <m:ctrlP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𝑉𝐼𝐹</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kern="100">
                            <a:effectLst/>
                            <a:latin typeface="Cambria Math" panose="02040503050406030204" pitchFamily="18" charset="0"/>
                            <a:ea typeface="Calibri" panose="020F0502020204030204" pitchFamily="34" charset="0"/>
                            <a:cs typeface="Times New Roman" panose="02020603050405020304" pitchFamily="18" charset="0"/>
                          </a:rPr>
                          <m:t>1 </m:t>
                        </m:r>
                      </m:num>
                      <m:den>
                        <m:r>
                          <a:rPr lang="en-US" i="1" kern="100">
                            <a:effectLst/>
                            <a:latin typeface="Cambria Math" panose="02040503050406030204" pitchFamily="18" charset="0"/>
                            <a:ea typeface="Calibri" panose="020F0502020204030204" pitchFamily="34" charset="0"/>
                            <a:cs typeface="Times New Roman" panose="02020603050405020304" pitchFamily="18" charset="0"/>
                          </a:rPr>
                          <m:t>1− </m:t>
                        </m:r>
                        <m:sSubSup>
                          <m:sSubSupPr>
                            <m:ctrlPr>
                              <a:rPr lang="en-US"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𝑖</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a14:m>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Some predictors such as </a:t>
                </a:r>
                <a:r>
                  <a:rPr lang="en-US" dirty="0" err="1"/>
                  <a:t>preTaxProfitMargin</a:t>
                </a:r>
                <a:r>
                  <a:rPr lang="en-US" dirty="0"/>
                  <a:t> (VIF = 39.5), </a:t>
                </a:r>
                <a:r>
                  <a:rPr lang="en-US" dirty="0" err="1"/>
                  <a:t>debtEquityRatio</a:t>
                </a:r>
                <a:r>
                  <a:rPr lang="en-US" dirty="0"/>
                  <a:t> (VIF = 103.52 ),  </a:t>
                </a:r>
                <a:r>
                  <a:rPr lang="en-US" dirty="0" err="1"/>
                  <a:t>companyEquityMultiplier</a:t>
                </a:r>
                <a:r>
                  <a:rPr lang="en-US" dirty="0"/>
                  <a:t> (VIF = 101.57) and </a:t>
                </a:r>
                <a:r>
                  <a:rPr lang="en-US" dirty="0" err="1"/>
                  <a:t>ebitPerRevenue</a:t>
                </a:r>
                <a:r>
                  <a:rPr lang="en-US" dirty="0"/>
                  <a:t> (40.46) show severe multicollinearity (VIF&gt;16).</a:t>
                </a:r>
              </a:p>
              <a:p>
                <a:r>
                  <a:rPr lang="en-US" dirty="0"/>
                  <a:t>Need to do subset selection.</a:t>
                </a:r>
              </a:p>
              <a:p>
                <a:endParaRPr lang="en-US" dirty="0"/>
              </a:p>
              <a:p>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5" name="Content Placeholder 4">
                <a:extLst>
                  <a:ext uri="{FF2B5EF4-FFF2-40B4-BE49-F238E27FC236}">
                    <a16:creationId xmlns:a16="http://schemas.microsoft.com/office/drawing/2014/main" id="{BE63B2BF-CA26-DBC6-7917-AE0893E1CC71}"/>
                  </a:ext>
                </a:extLst>
              </p:cNvPr>
              <p:cNvSpPr txBox="1">
                <a:spLocks noGrp="1" noRot="1" noChangeAspect="1" noMove="1" noResize="1" noEditPoints="1" noAdjustHandles="1" noChangeArrowheads="1" noChangeShapeType="1" noTextEdit="1"/>
              </p:cNvSpPr>
              <p:nvPr>
                <p:ph idx="1"/>
              </p:nvPr>
            </p:nvSpPr>
            <p:spPr>
              <a:xfrm>
                <a:off x="401566" y="2661562"/>
                <a:ext cx="7257553" cy="3549498"/>
              </a:xfrm>
              <a:prstGeom prst="rect">
                <a:avLst/>
              </a:prstGeom>
              <a:blipFill>
                <a:blip r:embed="rId3"/>
                <a:stretch>
                  <a:fillRect l="-175" r="-1573"/>
                </a:stretch>
              </a:blipFill>
            </p:spPr>
            <p:txBody>
              <a:bodyPr/>
              <a:lstStyle/>
              <a:p>
                <a:r>
                  <a:rPr lang="en-US">
                    <a:noFill/>
                  </a:rPr>
                  <a:t> </a:t>
                </a:r>
              </a:p>
            </p:txBody>
          </p:sp>
        </mc:Fallback>
      </mc:AlternateContent>
    </p:spTree>
    <p:extLst>
      <p:ext uri="{BB962C8B-B14F-4D97-AF65-F5344CB8AC3E}">
        <p14:creationId xmlns:p14="http://schemas.microsoft.com/office/powerpoint/2010/main" val="3006083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A2F1-2F19-201F-C0F9-A55286804172}"/>
              </a:ext>
            </a:extLst>
          </p:cNvPr>
          <p:cNvSpPr>
            <a:spLocks noGrp="1"/>
          </p:cNvSpPr>
          <p:nvPr>
            <p:ph type="title"/>
          </p:nvPr>
        </p:nvSpPr>
        <p:spPr/>
        <p:txBody>
          <a:bodyPr/>
          <a:lstStyle/>
          <a:p>
            <a:r>
              <a:rPr lang="en-US" dirty="0"/>
              <a:t>Feature Selection (ANOVA F test)</a:t>
            </a:r>
          </a:p>
        </p:txBody>
      </p:sp>
      <mc:AlternateContent xmlns:mc="http://schemas.openxmlformats.org/markup-compatibility/2006" xmlns:a14="http://schemas.microsoft.com/office/drawing/2010/main">
        <mc:Choice Requires="a14">
          <p:sp>
            <p:nvSpPr>
              <p:cNvPr id="13" name="Content Placeholder 12">
                <a:extLst>
                  <a:ext uri="{FF2B5EF4-FFF2-40B4-BE49-F238E27FC236}">
                    <a16:creationId xmlns:a16="http://schemas.microsoft.com/office/drawing/2014/main" id="{BED714F7-76B8-52D4-AADE-10D6C1D7AD6E}"/>
                  </a:ext>
                </a:extLst>
              </p:cNvPr>
              <p:cNvSpPr>
                <a:spLocks noGrp="1"/>
              </p:cNvSpPr>
              <p:nvPr>
                <p:ph idx="1"/>
              </p:nvPr>
            </p:nvSpPr>
            <p:spPr>
              <a:xfrm>
                <a:off x="430702" y="2180496"/>
                <a:ext cx="6481089" cy="3678303"/>
              </a:xfrm>
            </p:spPr>
            <p:txBody>
              <a:bodyPr>
                <a:normAutofit lnSpcReduction="10000"/>
              </a:bodyPr>
              <a:lstStyle/>
              <a:p>
                <a14:m>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𝐹</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i="1">
                            <a:effectLst/>
                            <a:latin typeface="Cambria Math" panose="020405030504060302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𝑆𝑆𝐵</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𝑆𝑆𝑊</m:t>
                        </m:r>
                      </m:den>
                    </m:f>
                  </m:oMath>
                </a14:m>
                <a:r>
                  <a:rPr lang="en-US" dirty="0">
                    <a:effectLst/>
                  </a:rPr>
                  <a:t> </a:t>
                </a:r>
                <a:endParaRPr lang="en-US" dirty="0"/>
              </a:p>
              <a:p>
                <a14:m>
                  <m:oMath xmlns:m="http://schemas.openxmlformats.org/officeDocument/2006/math">
                    <m:r>
                      <a:rPr lang="en-US" sz="1800" i="1" kern="100" smtClean="0">
                        <a:effectLst/>
                        <a:latin typeface="Cambria Math" panose="02040503050406030204" pitchFamily="18" charset="0"/>
                        <a:ea typeface="Calibri" panose="020F0502020204030204" pitchFamily="34" charset="0"/>
                        <a:cs typeface="Times New Roman" panose="02020603050405020304" pitchFamily="18" charset="0"/>
                      </a:rPr>
                      <m:t>𝑆𝑆𝐵</m:t>
                    </m:r>
                    <m:r>
                      <a:rPr lang="en-US" sz="1800" i="1" kern="100" smtClean="0">
                        <a:effectLst/>
                        <a:latin typeface="Cambria Math" panose="02040503050406030204" pitchFamily="18" charset="0"/>
                        <a:ea typeface="Calibri" panose="020F0502020204030204" pitchFamily="34" charset="0"/>
                        <a:cs typeface="Times New Roman" panose="02020603050405020304" pitchFamily="18" charset="0"/>
                      </a:rPr>
                      <m:t>= </m:t>
                    </m:r>
                    <m:sSup>
                      <m:sSup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𝑛</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e>
                            </m:ba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𝑐𝑙𝑎𝑠𝑠</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1</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e>
                            </m:ba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𝑜𝑣𝑒𝑟𝑎𝑙𝑙</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0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𝑚</m:t>
                    </m:r>
                    <m:r>
                      <a:rPr lang="en-US" sz="1800" i="1" kern="10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𝑋</m:t>
                                    </m:r>
                                  </m:e>
                                </m:bar>
                              </m:e>
                              <m: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𝑐𝑙𝑎𝑠𝑠</m:t>
                                </m:r>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2</m:t>
                                </m:r>
                              </m:sub>
                            </m:s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𝑋</m:t>
                                    </m:r>
                                  </m:e>
                                </m:bar>
                              </m:e>
                              <m: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𝑜𝑣𝑒𝑟𝑎𝑙𝑙</m:t>
                                </m:r>
                              </m:sub>
                            </m:sSub>
                          </m:e>
                        </m:d>
                      </m:e>
                      <m:sup>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dirty="0"/>
                  <a:t>, sum of squares between classes (for 2 classes)</a:t>
                </a:r>
                <a:endParaRPr lang="en-US" dirty="0">
                  <a:effectLst/>
                </a:endParaRPr>
              </a:p>
              <a:p>
                <a14:m>
                  <m:oMath xmlns:m="http://schemas.openxmlformats.org/officeDocument/2006/math">
                    <m:r>
                      <a:rPr lang="en-US" sz="1800" i="1" kern="100" smtClean="0">
                        <a:effectLst/>
                        <a:latin typeface="Cambria Math" panose="02040503050406030204" pitchFamily="18" charset="0"/>
                        <a:ea typeface="Calibri" panose="020F0502020204030204" pitchFamily="34" charset="0"/>
                        <a:cs typeface="Times New Roman" panose="02020603050405020304" pitchFamily="18" charset="0"/>
                      </a:rPr>
                      <m:t>𝑆𝑆𝑊</m:t>
                    </m:r>
                    <m:r>
                      <a:rPr lang="en-US" sz="1800" i="1" kern="100"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𝑛</m:t>
                            </m:r>
                          </m:sup>
                          <m:e>
                            <m:sSup>
                              <m:sSup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𝑋</m:t>
                                        </m:r>
                                      </m:e>
                                    </m:ba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𝑐𝑙𝑎𝑠𝑠</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1</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e>
                              <m:sup>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𝑚</m:t>
                                </m:r>
                              </m:sup>
                              <m:e>
                                <m:sSup>
                                  <m:sSup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𝑗</m:t>
                                        </m:r>
                                      </m:sub>
                                    </m:s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𝑋</m:t>
                                            </m:r>
                                          </m:e>
                                        </m:bar>
                                      </m:e>
                                      <m: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𝑐𝑙𝑎𝑠𝑠</m:t>
                                        </m:r>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2</m:t>
                                        </m:r>
                                      </m:sub>
                                    </m:sSub>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e>
                                  <m:sup>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nary>
                          </m:e>
                        </m:nary>
                      </m:num>
                      <m:den>
                        <m:d>
                          <m:d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𝑛</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−1</m:t>
                            </m:r>
                          </m:e>
                        </m:d>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𝑚</m:t>
                        </m:r>
                        <m:r>
                          <a:rPr lang="en-US" sz="1800" i="1" kern="10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−1)</m:t>
                        </m:r>
                      </m:den>
                    </m:f>
                  </m:oMath>
                </a14:m>
                <a:r>
                  <a:rPr lang="en-US" dirty="0"/>
                  <a:t>,</a:t>
                </a:r>
              </a:p>
              <a:p>
                <a:pPr marL="324000" lvl="1" indent="0">
                  <a:buNone/>
                </a:pPr>
                <a:r>
                  <a:rPr lang="en-US" sz="1800" dirty="0"/>
                  <a:t>sum of squares within classes (for 2 classes)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If F is </a:t>
                </a:r>
                <a:r>
                  <a:rPr lang="en-US" b="1" dirty="0"/>
                  <a:t>large</a:t>
                </a:r>
                <a:r>
                  <a:rPr lang="en-US" dirty="0"/>
                  <a:t>, it means that the feature X differs significantly between classes → </a:t>
                </a:r>
                <a:r>
                  <a:rPr lang="en-US" b="1" dirty="0"/>
                  <a:t>good predictor</a:t>
                </a:r>
                <a:r>
                  <a:rPr lang="en-US" dirty="0"/>
                  <a:t>.</a:t>
                </a:r>
              </a:p>
              <a:p>
                <a:r>
                  <a:rPr lang="en-US" dirty="0"/>
                  <a:t>If F is </a:t>
                </a:r>
                <a:r>
                  <a:rPr lang="en-US" b="1" dirty="0"/>
                  <a:t>small</a:t>
                </a:r>
                <a:r>
                  <a:rPr lang="en-US" dirty="0"/>
                  <a:t>, it means that the feature has similar values across classes → </a:t>
                </a:r>
                <a:r>
                  <a:rPr lang="en-US" b="1" dirty="0"/>
                  <a:t>weak predictor</a:t>
                </a:r>
                <a:r>
                  <a:rPr lang="en-US" dirty="0"/>
                  <a:t>.</a:t>
                </a:r>
              </a:p>
            </p:txBody>
          </p:sp>
        </mc:Choice>
        <mc:Fallback xmlns="">
          <p:sp>
            <p:nvSpPr>
              <p:cNvPr id="13" name="Content Placeholder 12">
                <a:extLst>
                  <a:ext uri="{FF2B5EF4-FFF2-40B4-BE49-F238E27FC236}">
                    <a16:creationId xmlns:a16="http://schemas.microsoft.com/office/drawing/2014/main" id="{BED714F7-76B8-52D4-AADE-10D6C1D7AD6E}"/>
                  </a:ext>
                </a:extLst>
              </p:cNvPr>
              <p:cNvSpPr>
                <a:spLocks noGrp="1" noRot="1" noChangeAspect="1" noMove="1" noResize="1" noEditPoints="1" noAdjustHandles="1" noChangeArrowheads="1" noChangeShapeType="1" noTextEdit="1"/>
              </p:cNvSpPr>
              <p:nvPr>
                <p:ph idx="1"/>
              </p:nvPr>
            </p:nvSpPr>
            <p:spPr>
              <a:xfrm>
                <a:off x="430702" y="2180496"/>
                <a:ext cx="6481089" cy="3678303"/>
              </a:xfrm>
              <a:blipFill>
                <a:blip r:embed="rId2"/>
                <a:stretch>
                  <a:fillRect l="-391"/>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3CF3AC67-0DBC-FA17-14B2-A045AA9327F2}"/>
              </a:ext>
            </a:extLst>
          </p:cNvPr>
          <p:cNvPicPr>
            <a:picLocks noChangeAspect="1"/>
          </p:cNvPicPr>
          <p:nvPr/>
        </p:nvPicPr>
        <p:blipFill>
          <a:blip r:embed="rId3"/>
          <a:stretch>
            <a:fillRect/>
          </a:stretch>
        </p:blipFill>
        <p:spPr>
          <a:xfrm>
            <a:off x="7299950" y="2087392"/>
            <a:ext cx="4461348" cy="4140335"/>
          </a:xfrm>
          <a:prstGeom prst="rect">
            <a:avLst/>
          </a:prstGeom>
        </p:spPr>
      </p:pic>
      <p:sp>
        <p:nvSpPr>
          <p:cNvPr id="16" name="TextBox 15">
            <a:extLst>
              <a:ext uri="{FF2B5EF4-FFF2-40B4-BE49-F238E27FC236}">
                <a16:creationId xmlns:a16="http://schemas.microsoft.com/office/drawing/2014/main" id="{C55E68A6-550D-68E1-8676-7CA168E77D95}"/>
              </a:ext>
            </a:extLst>
          </p:cNvPr>
          <p:cNvSpPr txBox="1"/>
          <p:nvPr/>
        </p:nvSpPr>
        <p:spPr>
          <a:xfrm>
            <a:off x="9235755" y="6227727"/>
            <a:ext cx="2145011" cy="646331"/>
          </a:xfrm>
          <a:prstGeom prst="rect">
            <a:avLst/>
          </a:prstGeom>
          <a:noFill/>
        </p:spPr>
        <p:txBody>
          <a:bodyPr wrap="none" rtlCol="0">
            <a:spAutoFit/>
          </a:bodyPr>
          <a:lstStyle/>
          <a:p>
            <a:r>
              <a:rPr lang="en-US" dirty="0"/>
              <a:t>X</a:t>
            </a:r>
            <a:r>
              <a:rPr lang="en-US" baseline="-25000" dirty="0"/>
              <a:t>2</a:t>
            </a:r>
            <a:r>
              <a:rPr lang="en-US" dirty="0"/>
              <a:t> – good predictor, </a:t>
            </a:r>
          </a:p>
          <a:p>
            <a:r>
              <a:rPr lang="en-US" dirty="0"/>
              <a:t>high F score</a:t>
            </a:r>
          </a:p>
        </p:txBody>
      </p:sp>
      <p:sp>
        <p:nvSpPr>
          <p:cNvPr id="17" name="TextBox 16">
            <a:extLst>
              <a:ext uri="{FF2B5EF4-FFF2-40B4-BE49-F238E27FC236}">
                <a16:creationId xmlns:a16="http://schemas.microsoft.com/office/drawing/2014/main" id="{A0121200-FDE7-8FD4-F200-6942337558FC}"/>
              </a:ext>
            </a:extLst>
          </p:cNvPr>
          <p:cNvSpPr txBox="1"/>
          <p:nvPr/>
        </p:nvSpPr>
        <p:spPr>
          <a:xfrm rot="16200000">
            <a:off x="5619795" y="3507632"/>
            <a:ext cx="3131153" cy="646331"/>
          </a:xfrm>
          <a:prstGeom prst="rect">
            <a:avLst/>
          </a:prstGeom>
          <a:noFill/>
        </p:spPr>
        <p:txBody>
          <a:bodyPr wrap="square" rtlCol="0">
            <a:spAutoFit/>
          </a:bodyPr>
          <a:lstStyle/>
          <a:p>
            <a:r>
              <a:rPr lang="en-US" dirty="0"/>
              <a:t>X</a:t>
            </a:r>
            <a:r>
              <a:rPr lang="en-US" baseline="-25000" dirty="0"/>
              <a:t>1</a:t>
            </a:r>
            <a:r>
              <a:rPr lang="en-US" dirty="0"/>
              <a:t> – bad predictor, low F score</a:t>
            </a:r>
          </a:p>
          <a:p>
            <a:endParaRPr lang="en-US" dirty="0"/>
          </a:p>
        </p:txBody>
      </p:sp>
    </p:spTree>
    <p:extLst>
      <p:ext uri="{BB962C8B-B14F-4D97-AF65-F5344CB8AC3E}">
        <p14:creationId xmlns:p14="http://schemas.microsoft.com/office/powerpoint/2010/main" val="553516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8A4F-96D9-B309-89D5-6ABDC943279E}"/>
              </a:ext>
            </a:extLst>
          </p:cNvPr>
          <p:cNvSpPr>
            <a:spLocks noGrp="1"/>
          </p:cNvSpPr>
          <p:nvPr>
            <p:ph type="title"/>
          </p:nvPr>
        </p:nvSpPr>
        <p:spPr/>
        <p:txBody>
          <a:bodyPr/>
          <a:lstStyle/>
          <a:p>
            <a:r>
              <a:rPr lang="en-US" dirty="0"/>
              <a:t>Feature Selection (ANOVA F test)</a:t>
            </a:r>
          </a:p>
        </p:txBody>
      </p:sp>
      <p:pic>
        <p:nvPicPr>
          <p:cNvPr id="4" name="Content Placeholder 11">
            <a:extLst>
              <a:ext uri="{FF2B5EF4-FFF2-40B4-BE49-F238E27FC236}">
                <a16:creationId xmlns:a16="http://schemas.microsoft.com/office/drawing/2014/main" id="{EB6B1093-0B0B-1326-98C6-EB532B90F8E9}"/>
              </a:ext>
            </a:extLst>
          </p:cNvPr>
          <p:cNvPicPr>
            <a:picLocks noChangeAspect="1"/>
          </p:cNvPicPr>
          <p:nvPr/>
        </p:nvPicPr>
        <p:blipFill rotWithShape="1">
          <a:blip r:embed="rId2"/>
          <a:srcRect l="2427"/>
          <a:stretch/>
        </p:blipFill>
        <p:spPr>
          <a:xfrm>
            <a:off x="5539449" y="1715956"/>
            <a:ext cx="6234989" cy="5142044"/>
          </a:xfrm>
          <a:prstGeom prst="rect">
            <a:avLst/>
          </a:prstGeom>
        </p:spPr>
      </p:pic>
      <p:pic>
        <p:nvPicPr>
          <p:cNvPr id="5" name="Picture 4">
            <a:extLst>
              <a:ext uri="{FF2B5EF4-FFF2-40B4-BE49-F238E27FC236}">
                <a16:creationId xmlns:a16="http://schemas.microsoft.com/office/drawing/2014/main" id="{A70EBF69-9AE6-EA01-C46B-B47339586BAF}"/>
              </a:ext>
            </a:extLst>
          </p:cNvPr>
          <p:cNvPicPr>
            <a:picLocks noChangeAspect="1"/>
          </p:cNvPicPr>
          <p:nvPr/>
        </p:nvPicPr>
        <p:blipFill rotWithShape="1">
          <a:blip r:embed="rId3"/>
          <a:srcRect l="2139"/>
          <a:stretch/>
        </p:blipFill>
        <p:spPr>
          <a:xfrm>
            <a:off x="125129" y="1715956"/>
            <a:ext cx="5515275" cy="5142044"/>
          </a:xfrm>
          <a:prstGeom prst="rect">
            <a:avLst/>
          </a:prstGeom>
        </p:spPr>
      </p:pic>
    </p:spTree>
    <p:extLst>
      <p:ext uri="{BB962C8B-B14F-4D97-AF65-F5344CB8AC3E}">
        <p14:creationId xmlns:p14="http://schemas.microsoft.com/office/powerpoint/2010/main" val="3467115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A01EA-2627-7D7B-1B29-2E56448CB1BF}"/>
              </a:ext>
            </a:extLst>
          </p:cNvPr>
          <p:cNvSpPr>
            <a:spLocks noGrp="1"/>
          </p:cNvSpPr>
          <p:nvPr>
            <p:ph type="title"/>
          </p:nvPr>
        </p:nvSpPr>
        <p:spPr/>
        <p:txBody>
          <a:bodyPr/>
          <a:lstStyle/>
          <a:p>
            <a:r>
              <a:rPr lang="en-US" dirty="0"/>
              <a:t>Feature Selection (ANOVA F test)</a:t>
            </a:r>
          </a:p>
        </p:txBody>
      </p:sp>
      <p:sp>
        <p:nvSpPr>
          <p:cNvPr id="4" name="Content Placeholder 2">
            <a:extLst>
              <a:ext uri="{FF2B5EF4-FFF2-40B4-BE49-F238E27FC236}">
                <a16:creationId xmlns:a16="http://schemas.microsoft.com/office/drawing/2014/main" id="{79C65773-CD56-2B14-16FE-2BD0EE3C91F0}"/>
              </a:ext>
            </a:extLst>
          </p:cNvPr>
          <p:cNvSpPr>
            <a:spLocks noGrp="1"/>
          </p:cNvSpPr>
          <p:nvPr>
            <p:ph idx="1"/>
          </p:nvPr>
        </p:nvSpPr>
        <p:spPr/>
        <p:txBody>
          <a:bodyPr>
            <a:normAutofit/>
          </a:bodyPr>
          <a:lstStyle/>
          <a:p>
            <a:r>
              <a:rPr lang="en-US" dirty="0"/>
              <a:t>Looking at ANOVA F-test results, </a:t>
            </a:r>
            <a:r>
              <a:rPr lang="en-US" b="1" dirty="0"/>
              <a:t>16 predictors were selected out of 2</a:t>
            </a:r>
            <a:r>
              <a:rPr lang="en-US" dirty="0"/>
              <a:t>5:  '</a:t>
            </a:r>
            <a:r>
              <a:rPr lang="en-US" dirty="0" err="1"/>
              <a:t>returnOnCapitalEmployed</a:t>
            </a:r>
            <a:r>
              <a:rPr lang="en-US" dirty="0"/>
              <a:t>', '</a:t>
            </a:r>
            <a:r>
              <a:rPr lang="en-US" dirty="0" err="1"/>
              <a:t>returnOnAssets</a:t>
            </a:r>
            <a:r>
              <a:rPr lang="en-US" dirty="0"/>
              <a:t>', '</a:t>
            </a:r>
            <a:r>
              <a:rPr lang="en-US" dirty="0" err="1"/>
              <a:t>pretaxProfitMargin</a:t>
            </a:r>
            <a:r>
              <a:rPr lang="en-US" dirty="0"/>
              <a:t>', '</a:t>
            </a:r>
            <a:r>
              <a:rPr lang="en-US" dirty="0" err="1"/>
              <a:t>ebitPerRevenue</a:t>
            </a:r>
            <a:r>
              <a:rPr lang="en-US" dirty="0"/>
              <a:t>’, '</a:t>
            </a:r>
            <a:r>
              <a:rPr lang="en-US" dirty="0" err="1"/>
              <a:t>netProfitMargin</a:t>
            </a:r>
            <a:r>
              <a:rPr lang="en-US" dirty="0"/>
              <a:t>', '</a:t>
            </a:r>
            <a:r>
              <a:rPr lang="en-US" dirty="0" err="1"/>
              <a:t>returnOnEquity</a:t>
            </a:r>
            <a:r>
              <a:rPr lang="en-US" dirty="0"/>
              <a:t>', '</a:t>
            </a:r>
            <a:r>
              <a:rPr lang="en-US" dirty="0" err="1"/>
              <a:t>operatingProfitMargin</a:t>
            </a:r>
            <a:r>
              <a:rPr lang="en-US" dirty="0"/>
              <a:t>', '</a:t>
            </a:r>
            <a:r>
              <a:rPr lang="en-US" dirty="0" err="1"/>
              <a:t>operatingCashFlowPerShare</a:t>
            </a:r>
            <a:r>
              <a:rPr lang="en-US" dirty="0"/>
              <a:t>’, '</a:t>
            </a:r>
            <a:r>
              <a:rPr lang="en-US" dirty="0" err="1"/>
              <a:t>debtRatio</a:t>
            </a:r>
            <a:r>
              <a:rPr lang="en-US" dirty="0"/>
              <a:t>’, '</a:t>
            </a:r>
            <a:r>
              <a:rPr lang="en-US" dirty="0" err="1"/>
              <a:t>freeCashFlowPerShare</a:t>
            </a:r>
            <a:r>
              <a:rPr lang="en-US" dirty="0"/>
              <a:t>', '</a:t>
            </a:r>
            <a:r>
              <a:rPr lang="en-US" dirty="0" err="1"/>
              <a:t>effectiveTaxRate</a:t>
            </a:r>
            <a:r>
              <a:rPr lang="en-US" dirty="0"/>
              <a:t>', '</a:t>
            </a:r>
            <a:r>
              <a:rPr lang="en-US" dirty="0" err="1"/>
              <a:t>quickRatio</a:t>
            </a:r>
            <a:r>
              <a:rPr lang="en-US" dirty="0"/>
              <a:t>’, '</a:t>
            </a:r>
            <a:r>
              <a:rPr lang="en-US" dirty="0" err="1"/>
              <a:t>operatingCashFlowSalesRatio</a:t>
            </a:r>
            <a:r>
              <a:rPr lang="en-US" dirty="0"/>
              <a:t>’, '</a:t>
            </a:r>
            <a:r>
              <a:rPr lang="en-US" dirty="0" err="1"/>
              <a:t>currentRatio</a:t>
            </a:r>
            <a:r>
              <a:rPr lang="en-US" dirty="0"/>
              <a:t>', '</a:t>
            </a:r>
            <a:r>
              <a:rPr lang="en-US" dirty="0" err="1"/>
              <a:t>cashRatio</a:t>
            </a:r>
            <a:r>
              <a:rPr lang="en-US" dirty="0"/>
              <a:t>', '</a:t>
            </a:r>
            <a:r>
              <a:rPr lang="en-US" dirty="0" err="1"/>
              <a:t>grossProfitMargin</a:t>
            </a:r>
            <a:r>
              <a:rPr lang="en-US" dirty="0"/>
              <a:t>’</a:t>
            </a:r>
          </a:p>
          <a:p>
            <a:pPr marL="0" indent="0">
              <a:buNone/>
            </a:pPr>
            <a:endParaRPr lang="en-US" dirty="0"/>
          </a:p>
          <a:p>
            <a:r>
              <a:rPr lang="en-US" dirty="0"/>
              <a:t>+ Sector (categorical)</a:t>
            </a:r>
          </a:p>
          <a:p>
            <a:endParaRPr lang="en-US" dirty="0"/>
          </a:p>
          <a:p>
            <a:r>
              <a:rPr lang="en-US" dirty="0"/>
              <a:t>The problem is multicollinearity between some of predictors (Appendix 6-7, Correlation matrix and VIF).</a:t>
            </a:r>
          </a:p>
        </p:txBody>
      </p:sp>
    </p:spTree>
    <p:extLst>
      <p:ext uri="{BB962C8B-B14F-4D97-AF65-F5344CB8AC3E}">
        <p14:creationId xmlns:p14="http://schemas.microsoft.com/office/powerpoint/2010/main" val="2744398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250D0-3ADC-7CC9-B6CB-5AEB3D8F3BF3}"/>
              </a:ext>
            </a:extLst>
          </p:cNvPr>
          <p:cNvSpPr>
            <a:spLocks noGrp="1"/>
          </p:cNvSpPr>
          <p:nvPr>
            <p:ph type="title"/>
          </p:nvPr>
        </p:nvSpPr>
        <p:spPr/>
        <p:txBody>
          <a:bodyPr/>
          <a:lstStyle/>
          <a:p>
            <a:r>
              <a:rPr lang="en-US" dirty="0"/>
              <a:t>Feature Selection (ANOVA F TEST + multicollinearity)</a:t>
            </a:r>
          </a:p>
        </p:txBody>
      </p:sp>
      <p:sp>
        <p:nvSpPr>
          <p:cNvPr id="3" name="Content Placeholder 2">
            <a:extLst>
              <a:ext uri="{FF2B5EF4-FFF2-40B4-BE49-F238E27FC236}">
                <a16:creationId xmlns:a16="http://schemas.microsoft.com/office/drawing/2014/main" id="{57CBD562-04F9-933D-EF8C-33F8BE30555D}"/>
              </a:ext>
            </a:extLst>
          </p:cNvPr>
          <p:cNvSpPr>
            <a:spLocks noGrp="1"/>
          </p:cNvSpPr>
          <p:nvPr>
            <p:ph idx="1"/>
          </p:nvPr>
        </p:nvSpPr>
        <p:spPr>
          <a:xfrm>
            <a:off x="471055" y="1920471"/>
            <a:ext cx="11139753" cy="4582160"/>
          </a:xfrm>
        </p:spPr>
        <p:txBody>
          <a:bodyPr>
            <a:noAutofit/>
          </a:bodyPr>
          <a:lstStyle/>
          <a:p>
            <a:r>
              <a:rPr lang="en-US" dirty="0"/>
              <a:t>Looking at ANOVA F test results and correlation matrix, found different combinations of uncorrelated predictors.</a:t>
            </a:r>
          </a:p>
          <a:p>
            <a:r>
              <a:rPr lang="en-US" dirty="0"/>
              <a:t>Evaluated ML models using this set of predictors and compared with Macro F1 scores of ML models when all 26 predictors are used. </a:t>
            </a:r>
          </a:p>
          <a:p>
            <a:r>
              <a:rPr lang="en-US" dirty="0"/>
              <a:t>Optimal subset of uncorrelated variables is 13 predictors (out of 26) :'</a:t>
            </a:r>
            <a:r>
              <a:rPr lang="en-US" dirty="0" err="1"/>
              <a:t>returnOnCapitalEmployed</a:t>
            </a:r>
            <a:r>
              <a:rPr lang="en-US" dirty="0"/>
              <a:t>', '</a:t>
            </a:r>
            <a:r>
              <a:rPr lang="en-US" dirty="0" err="1"/>
              <a:t>pretaxProfitMargin</a:t>
            </a:r>
            <a:r>
              <a:rPr lang="en-US" dirty="0"/>
              <a:t>', '</a:t>
            </a:r>
            <a:r>
              <a:rPr lang="en-US" dirty="0" err="1"/>
              <a:t>returnOnEquity</a:t>
            </a:r>
            <a:r>
              <a:rPr lang="en-US" dirty="0"/>
              <a:t>', '</a:t>
            </a:r>
            <a:r>
              <a:rPr lang="en-US" dirty="0" err="1"/>
              <a:t>operatingCashFlowPerShare</a:t>
            </a:r>
            <a:r>
              <a:rPr lang="en-US" dirty="0"/>
              <a:t>’, '</a:t>
            </a:r>
            <a:r>
              <a:rPr lang="en-US" dirty="0" err="1"/>
              <a:t>debtRatio</a:t>
            </a:r>
            <a:r>
              <a:rPr lang="en-US" dirty="0"/>
              <a:t>', '</a:t>
            </a:r>
            <a:r>
              <a:rPr lang="en-US" dirty="0" err="1"/>
              <a:t>freeCashFlowPerShare</a:t>
            </a:r>
            <a:r>
              <a:rPr lang="en-US" dirty="0"/>
              <a:t>', '</a:t>
            </a:r>
            <a:r>
              <a:rPr lang="en-US" dirty="0" err="1"/>
              <a:t>effectiveTaxRate</a:t>
            </a:r>
            <a:r>
              <a:rPr lang="en-US" dirty="0"/>
              <a:t>', '</a:t>
            </a:r>
            <a:r>
              <a:rPr lang="en-US" dirty="0" err="1"/>
              <a:t>quickRatio</a:t>
            </a:r>
            <a:r>
              <a:rPr lang="en-US" dirty="0"/>
              <a:t>', '</a:t>
            </a:r>
            <a:r>
              <a:rPr lang="en-US" dirty="0" err="1"/>
              <a:t>operatingCashFlowSalesRatio</a:t>
            </a:r>
            <a:r>
              <a:rPr lang="en-US" dirty="0"/>
              <a:t>’, '</a:t>
            </a:r>
            <a:r>
              <a:rPr lang="en-US" dirty="0" err="1"/>
              <a:t>currentRatio</a:t>
            </a:r>
            <a:r>
              <a:rPr lang="en-US" dirty="0"/>
              <a:t>', '</a:t>
            </a:r>
            <a:r>
              <a:rPr lang="en-US" dirty="0" err="1"/>
              <a:t>cashRatio</a:t>
            </a:r>
            <a:r>
              <a:rPr lang="en-US" dirty="0"/>
              <a:t>', '</a:t>
            </a:r>
            <a:r>
              <a:rPr lang="en-US" dirty="0" err="1"/>
              <a:t>grossProfitMargin</a:t>
            </a:r>
            <a:r>
              <a:rPr lang="en-US" dirty="0"/>
              <a:t>', 'Sector’</a:t>
            </a:r>
          </a:p>
          <a:p>
            <a:r>
              <a:rPr lang="en-US" dirty="0"/>
              <a:t>See VIF and correlation matrix in Appendix 8</a:t>
            </a:r>
          </a:p>
          <a:p>
            <a:endParaRPr lang="en-US" dirty="0"/>
          </a:p>
        </p:txBody>
      </p:sp>
    </p:spTree>
    <p:extLst>
      <p:ext uri="{BB962C8B-B14F-4D97-AF65-F5344CB8AC3E}">
        <p14:creationId xmlns:p14="http://schemas.microsoft.com/office/powerpoint/2010/main" val="2907006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81CA3-0CEB-6FA5-ED2E-5F04B8416252}"/>
              </a:ext>
            </a:extLst>
          </p:cNvPr>
          <p:cNvSpPr>
            <a:spLocks noGrp="1"/>
          </p:cNvSpPr>
          <p:nvPr>
            <p:ph type="title"/>
          </p:nvPr>
        </p:nvSpPr>
        <p:spPr/>
        <p:txBody>
          <a:bodyPr/>
          <a:lstStyle/>
          <a:p>
            <a:r>
              <a:rPr lang="en-US" dirty="0"/>
              <a:t>Feature Selection (ANOVA F TEST + multicollinearity)</a:t>
            </a:r>
          </a:p>
        </p:txBody>
      </p:sp>
      <p:sp>
        <p:nvSpPr>
          <p:cNvPr id="3" name="Content Placeholder 2">
            <a:extLst>
              <a:ext uri="{FF2B5EF4-FFF2-40B4-BE49-F238E27FC236}">
                <a16:creationId xmlns:a16="http://schemas.microsoft.com/office/drawing/2014/main" id="{E8A3B680-7945-BA7D-48D9-D796ABD197D7}"/>
              </a:ext>
            </a:extLst>
          </p:cNvPr>
          <p:cNvSpPr>
            <a:spLocks noGrp="1"/>
          </p:cNvSpPr>
          <p:nvPr>
            <p:ph idx="1"/>
          </p:nvPr>
        </p:nvSpPr>
        <p:spPr>
          <a:xfrm>
            <a:off x="352894" y="2130137"/>
            <a:ext cx="3124071" cy="4488652"/>
          </a:xfrm>
        </p:spPr>
        <p:txBody>
          <a:bodyPr>
            <a:normAutofit lnSpcReduction="10000"/>
          </a:bodyPr>
          <a:lstStyle/>
          <a:p>
            <a:r>
              <a:rPr lang="en-US" dirty="0"/>
              <a:t>Risk level  Macro F1 difference:</a:t>
            </a:r>
          </a:p>
          <a:p>
            <a:pPr marL="324000" lvl="1" indent="0">
              <a:buNone/>
            </a:pPr>
            <a:r>
              <a:rPr lang="en-US" sz="1800" dirty="0"/>
              <a:t>GB (-0.09), KNN ( -0.05),</a:t>
            </a:r>
          </a:p>
          <a:p>
            <a:pPr marL="324000" lvl="1" indent="0">
              <a:buNone/>
            </a:pPr>
            <a:r>
              <a:rPr lang="en-US" sz="1800" dirty="0"/>
              <a:t>LDA (-0.04), LR (-0.03), RF (+0.02)  </a:t>
            </a:r>
          </a:p>
          <a:p>
            <a:r>
              <a:rPr lang="en-US" dirty="0"/>
              <a:t>Rating Macro F1 difference:</a:t>
            </a:r>
          </a:p>
          <a:p>
            <a:pPr marL="324000" lvl="1" indent="0">
              <a:buNone/>
            </a:pPr>
            <a:r>
              <a:rPr lang="en-US" sz="1800" dirty="0"/>
              <a:t>GB (-0.09), KNN ( -0.06),  RF (-0.03), LDA (-0.02),  LR (-0.01)</a:t>
            </a:r>
            <a:endParaRPr lang="en-US" dirty="0"/>
          </a:p>
          <a:p>
            <a:r>
              <a:rPr lang="en-US" dirty="0"/>
              <a:t>Overall: Macro F1 score dropped significantly for all MLs </a:t>
            </a:r>
          </a:p>
          <a:p>
            <a:r>
              <a:rPr lang="en-US" dirty="0"/>
              <a:t>What if we can find a better set of predictors?</a:t>
            </a:r>
          </a:p>
          <a:p>
            <a:pPr marL="0" indent="0">
              <a:buNone/>
            </a:pPr>
            <a:endParaRPr lang="en-US" dirty="0"/>
          </a:p>
        </p:txBody>
      </p:sp>
      <p:pic>
        <p:nvPicPr>
          <p:cNvPr id="16" name="Picture 15">
            <a:extLst>
              <a:ext uri="{FF2B5EF4-FFF2-40B4-BE49-F238E27FC236}">
                <a16:creationId xmlns:a16="http://schemas.microsoft.com/office/drawing/2014/main" id="{891DC83A-6D15-3B52-7739-7D2E6E719C1B}"/>
              </a:ext>
            </a:extLst>
          </p:cNvPr>
          <p:cNvPicPr>
            <a:picLocks noChangeAspect="1"/>
          </p:cNvPicPr>
          <p:nvPr/>
        </p:nvPicPr>
        <p:blipFill>
          <a:blip r:embed="rId2"/>
          <a:stretch>
            <a:fillRect/>
          </a:stretch>
        </p:blipFill>
        <p:spPr>
          <a:xfrm>
            <a:off x="3362665" y="2130137"/>
            <a:ext cx="4036652" cy="4244825"/>
          </a:xfrm>
          <a:prstGeom prst="rect">
            <a:avLst/>
          </a:prstGeom>
        </p:spPr>
      </p:pic>
      <p:pic>
        <p:nvPicPr>
          <p:cNvPr id="18" name="Picture 17">
            <a:extLst>
              <a:ext uri="{FF2B5EF4-FFF2-40B4-BE49-F238E27FC236}">
                <a16:creationId xmlns:a16="http://schemas.microsoft.com/office/drawing/2014/main" id="{92A47223-C201-29A7-B527-F18A526C2734}"/>
              </a:ext>
            </a:extLst>
          </p:cNvPr>
          <p:cNvPicPr>
            <a:picLocks noChangeAspect="1"/>
          </p:cNvPicPr>
          <p:nvPr/>
        </p:nvPicPr>
        <p:blipFill>
          <a:blip r:embed="rId3"/>
          <a:stretch>
            <a:fillRect/>
          </a:stretch>
        </p:blipFill>
        <p:spPr>
          <a:xfrm>
            <a:off x="7399317" y="2130136"/>
            <a:ext cx="4332019" cy="4244825"/>
          </a:xfrm>
          <a:prstGeom prst="rect">
            <a:avLst/>
          </a:prstGeom>
        </p:spPr>
      </p:pic>
    </p:spTree>
    <p:extLst>
      <p:ext uri="{BB962C8B-B14F-4D97-AF65-F5344CB8AC3E}">
        <p14:creationId xmlns:p14="http://schemas.microsoft.com/office/powerpoint/2010/main" val="925318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4D10-05A8-F687-0DAA-CB0F852ED537}"/>
              </a:ext>
            </a:extLst>
          </p:cNvPr>
          <p:cNvSpPr>
            <a:spLocks noGrp="1"/>
          </p:cNvSpPr>
          <p:nvPr>
            <p:ph type="title"/>
          </p:nvPr>
        </p:nvSpPr>
        <p:spPr/>
        <p:txBody>
          <a:bodyPr/>
          <a:lstStyle/>
          <a:p>
            <a:r>
              <a:rPr lang="en-US" dirty="0"/>
              <a:t>Feature Selection (Backward elimination)</a:t>
            </a:r>
          </a:p>
        </p:txBody>
      </p:sp>
      <p:sp>
        <p:nvSpPr>
          <p:cNvPr id="17" name="Content Placeholder 16">
            <a:extLst>
              <a:ext uri="{FF2B5EF4-FFF2-40B4-BE49-F238E27FC236}">
                <a16:creationId xmlns:a16="http://schemas.microsoft.com/office/drawing/2014/main" id="{A7182B87-1801-0C5F-1535-9B96FB6C905E}"/>
              </a:ext>
            </a:extLst>
          </p:cNvPr>
          <p:cNvSpPr>
            <a:spLocks noGrp="1"/>
          </p:cNvSpPr>
          <p:nvPr>
            <p:ph idx="1"/>
          </p:nvPr>
        </p:nvSpPr>
        <p:spPr>
          <a:xfrm>
            <a:off x="421640" y="1827716"/>
            <a:ext cx="11348720" cy="5142044"/>
          </a:xfrm>
        </p:spPr>
        <p:txBody>
          <a:bodyPr>
            <a:normAutofit/>
          </a:bodyPr>
          <a:lstStyle/>
          <a:p>
            <a:r>
              <a:rPr lang="en-US" dirty="0"/>
              <a:t>Performed using Gradient Boosting and Risk level as classification category while optimizing for macro-averaged F1-score. </a:t>
            </a:r>
          </a:p>
          <a:p>
            <a:r>
              <a:rPr lang="en-US" dirty="0"/>
              <a:t>For each subset of features, the model is evaluated using 5-fold cross-validation (see Appendix 9 for explanation of CV and Backward Elimination)</a:t>
            </a:r>
          </a:p>
          <a:p>
            <a:r>
              <a:rPr lang="en-US" dirty="0"/>
              <a:t>Optimal subset from Backward elimination (11 predictors):  </a:t>
            </a:r>
          </a:p>
          <a:p>
            <a:pPr lvl="1"/>
            <a:r>
              <a:rPr lang="en-US" i="1" dirty="0"/>
              <a:t>‘Sector’, '</a:t>
            </a:r>
            <a:r>
              <a:rPr lang="en-US" i="1" dirty="0" err="1"/>
              <a:t>currentRatio</a:t>
            </a:r>
            <a:r>
              <a:rPr lang="en-US" i="1" dirty="0"/>
              <a:t>’, '</a:t>
            </a:r>
            <a:r>
              <a:rPr lang="en-US" i="1" dirty="0" err="1"/>
              <a:t>grossProfitMargin</a:t>
            </a:r>
            <a:r>
              <a:rPr lang="en-US" i="1" dirty="0"/>
              <a:t>’, '</a:t>
            </a:r>
            <a:r>
              <a:rPr lang="en-US" i="1" dirty="0" err="1"/>
              <a:t>returnOnCapitalEmployed</a:t>
            </a:r>
            <a:r>
              <a:rPr lang="en-US" i="1" dirty="0"/>
              <a:t>’, '</a:t>
            </a:r>
            <a:r>
              <a:rPr lang="en-US" i="1" dirty="0" err="1"/>
              <a:t>assetTurnover</a:t>
            </a:r>
            <a:r>
              <a:rPr lang="en-US" i="1" dirty="0"/>
              <a:t>’, '</a:t>
            </a:r>
            <a:r>
              <a:rPr lang="en-US" i="1" dirty="0" err="1"/>
              <a:t>fixedAssetTurnover</a:t>
            </a:r>
            <a:r>
              <a:rPr lang="en-US" i="1" dirty="0"/>
              <a:t>', '</a:t>
            </a:r>
            <a:r>
              <a:rPr lang="en-US" i="1" dirty="0" err="1"/>
              <a:t>debtEquityRatio</a:t>
            </a:r>
            <a:r>
              <a:rPr lang="en-US" i="1" dirty="0"/>
              <a:t>', '</a:t>
            </a:r>
            <a:r>
              <a:rPr lang="en-US" i="1" dirty="0" err="1"/>
              <a:t>debtRatio</a:t>
            </a:r>
            <a:r>
              <a:rPr lang="en-US" i="1" dirty="0"/>
              <a:t>’, '</a:t>
            </a:r>
            <a:r>
              <a:rPr lang="en-US" i="1" dirty="0" err="1"/>
              <a:t>enterpriseValueMultiple</a:t>
            </a:r>
            <a:r>
              <a:rPr lang="en-US" i="1" dirty="0"/>
              <a:t>’, '</a:t>
            </a:r>
            <a:r>
              <a:rPr lang="en-US" i="1" dirty="0" err="1"/>
              <a:t>operatingCashFlowPerShare</a:t>
            </a:r>
            <a:r>
              <a:rPr lang="en-US" i="1" dirty="0"/>
              <a:t>’, '</a:t>
            </a:r>
            <a:r>
              <a:rPr lang="en-US" i="1" dirty="0" err="1"/>
              <a:t>operatingCashFlowSalesRatio</a:t>
            </a:r>
            <a:r>
              <a:rPr lang="en-US" i="1" dirty="0"/>
              <a:t>’</a:t>
            </a:r>
          </a:p>
          <a:p>
            <a:endParaRPr lang="en-US" dirty="0"/>
          </a:p>
          <a:p>
            <a:endParaRPr lang="en-US" sz="1400" dirty="0"/>
          </a:p>
        </p:txBody>
      </p:sp>
    </p:spTree>
    <p:extLst>
      <p:ext uri="{BB962C8B-B14F-4D97-AF65-F5344CB8AC3E}">
        <p14:creationId xmlns:p14="http://schemas.microsoft.com/office/powerpoint/2010/main" val="2442217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9E360-09F2-A04A-1173-477BBEAB09D5}"/>
              </a:ext>
            </a:extLst>
          </p:cNvPr>
          <p:cNvSpPr>
            <a:spLocks noGrp="1"/>
          </p:cNvSpPr>
          <p:nvPr>
            <p:ph type="title"/>
          </p:nvPr>
        </p:nvSpPr>
        <p:spPr/>
        <p:txBody>
          <a:bodyPr/>
          <a:lstStyle/>
          <a:p>
            <a:r>
              <a:rPr lang="en-US" dirty="0"/>
              <a:t>Feature Selection (Backward elimination)</a:t>
            </a:r>
          </a:p>
        </p:txBody>
      </p:sp>
      <p:sp>
        <p:nvSpPr>
          <p:cNvPr id="3" name="Content Placeholder 2">
            <a:extLst>
              <a:ext uri="{FF2B5EF4-FFF2-40B4-BE49-F238E27FC236}">
                <a16:creationId xmlns:a16="http://schemas.microsoft.com/office/drawing/2014/main" id="{AD1D0434-B406-CF2A-56F2-F3B408BD1FAD}"/>
              </a:ext>
            </a:extLst>
          </p:cNvPr>
          <p:cNvSpPr>
            <a:spLocks noGrp="1"/>
          </p:cNvSpPr>
          <p:nvPr>
            <p:ph idx="1"/>
          </p:nvPr>
        </p:nvSpPr>
        <p:spPr>
          <a:xfrm>
            <a:off x="452282" y="2042541"/>
            <a:ext cx="3252355" cy="4128120"/>
          </a:xfrm>
        </p:spPr>
        <p:txBody>
          <a:bodyPr>
            <a:normAutofit/>
          </a:bodyPr>
          <a:lstStyle/>
          <a:p>
            <a:r>
              <a:rPr lang="en-US" dirty="0"/>
              <a:t>VIF in [1,2]</a:t>
            </a:r>
          </a:p>
          <a:p>
            <a:r>
              <a:rPr lang="en-US" dirty="0"/>
              <a:t>Absolute value of Pearson correlation coefficient &lt; 0.6 for all pairs of predictors</a:t>
            </a:r>
          </a:p>
          <a:p>
            <a:pPr marL="0" indent="0">
              <a:buNone/>
            </a:pPr>
            <a:endParaRPr lang="en-US" sz="1200" dirty="0"/>
          </a:p>
        </p:txBody>
      </p:sp>
      <p:pic>
        <p:nvPicPr>
          <p:cNvPr id="5" name="Picture 4">
            <a:extLst>
              <a:ext uri="{FF2B5EF4-FFF2-40B4-BE49-F238E27FC236}">
                <a16:creationId xmlns:a16="http://schemas.microsoft.com/office/drawing/2014/main" id="{16930CD8-7DDF-B43E-7F0A-5E0949050470}"/>
              </a:ext>
            </a:extLst>
          </p:cNvPr>
          <p:cNvPicPr>
            <a:picLocks noChangeAspect="1"/>
          </p:cNvPicPr>
          <p:nvPr/>
        </p:nvPicPr>
        <p:blipFill>
          <a:blip r:embed="rId2"/>
          <a:stretch>
            <a:fillRect/>
          </a:stretch>
        </p:blipFill>
        <p:spPr>
          <a:xfrm>
            <a:off x="6780658" y="1856120"/>
            <a:ext cx="5054587" cy="5001880"/>
          </a:xfrm>
          <a:prstGeom prst="rect">
            <a:avLst/>
          </a:prstGeom>
        </p:spPr>
      </p:pic>
      <p:pic>
        <p:nvPicPr>
          <p:cNvPr id="17" name="Picture 16">
            <a:extLst>
              <a:ext uri="{FF2B5EF4-FFF2-40B4-BE49-F238E27FC236}">
                <a16:creationId xmlns:a16="http://schemas.microsoft.com/office/drawing/2014/main" id="{FFB0C07C-D282-A52A-1D21-A2AA157BC2DA}"/>
              </a:ext>
            </a:extLst>
          </p:cNvPr>
          <p:cNvPicPr>
            <a:picLocks noChangeAspect="1"/>
          </p:cNvPicPr>
          <p:nvPr/>
        </p:nvPicPr>
        <p:blipFill rotWithShape="1">
          <a:blip r:embed="rId3"/>
          <a:srcRect r="17516"/>
          <a:stretch/>
        </p:blipFill>
        <p:spPr>
          <a:xfrm>
            <a:off x="3454944" y="2496777"/>
            <a:ext cx="2899687" cy="2933700"/>
          </a:xfrm>
          <a:prstGeom prst="rect">
            <a:avLst/>
          </a:prstGeom>
        </p:spPr>
      </p:pic>
    </p:spTree>
    <p:extLst>
      <p:ext uri="{BB962C8B-B14F-4D97-AF65-F5344CB8AC3E}">
        <p14:creationId xmlns:p14="http://schemas.microsoft.com/office/powerpoint/2010/main" val="5616152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35759-49E1-E0CE-471C-44316653A63D}"/>
              </a:ext>
            </a:extLst>
          </p:cNvPr>
          <p:cNvSpPr>
            <a:spLocks noGrp="1"/>
          </p:cNvSpPr>
          <p:nvPr>
            <p:ph type="title"/>
          </p:nvPr>
        </p:nvSpPr>
        <p:spPr/>
        <p:txBody>
          <a:bodyPr/>
          <a:lstStyle/>
          <a:p>
            <a:r>
              <a:rPr lang="en-US" dirty="0"/>
              <a:t>Feature Selection (Backward elimination)</a:t>
            </a:r>
          </a:p>
        </p:txBody>
      </p:sp>
      <p:sp>
        <p:nvSpPr>
          <p:cNvPr id="3" name="Content Placeholder 2">
            <a:extLst>
              <a:ext uri="{FF2B5EF4-FFF2-40B4-BE49-F238E27FC236}">
                <a16:creationId xmlns:a16="http://schemas.microsoft.com/office/drawing/2014/main" id="{34DC61FB-EE2F-99E4-EC6C-868471E5D1AC}"/>
              </a:ext>
            </a:extLst>
          </p:cNvPr>
          <p:cNvSpPr>
            <a:spLocks noGrp="1"/>
          </p:cNvSpPr>
          <p:nvPr>
            <p:ph idx="1"/>
          </p:nvPr>
        </p:nvSpPr>
        <p:spPr>
          <a:xfrm>
            <a:off x="335357" y="2161096"/>
            <a:ext cx="2916998" cy="4696904"/>
          </a:xfrm>
        </p:spPr>
        <p:txBody>
          <a:bodyPr>
            <a:normAutofit/>
          </a:bodyPr>
          <a:lstStyle/>
          <a:p>
            <a:endParaRPr lang="en-US" sz="1700" dirty="0"/>
          </a:p>
          <a:p>
            <a:r>
              <a:rPr lang="en-US" sz="1700" dirty="0"/>
              <a:t>Risk level  Macro F1 difference:</a:t>
            </a:r>
          </a:p>
          <a:p>
            <a:pPr marL="324000" lvl="1" indent="0">
              <a:buNone/>
            </a:pPr>
            <a:r>
              <a:rPr lang="en-US" sz="1700" dirty="0"/>
              <a:t>GB (-0.05) , LR (-0.02), KNN ( +0.01), RF (+0.06)  </a:t>
            </a:r>
          </a:p>
          <a:p>
            <a:r>
              <a:rPr lang="en-US" sz="1700" dirty="0"/>
              <a:t>Rating Macro F1 difference:</a:t>
            </a:r>
          </a:p>
          <a:p>
            <a:pPr marL="324000" lvl="1" indent="0">
              <a:buNone/>
            </a:pPr>
            <a:r>
              <a:rPr lang="en-US" sz="1700" dirty="0"/>
              <a:t>GB (-0.05), KNN ( -0.02),  RF (+0.02), LDA (+0.02) </a:t>
            </a:r>
          </a:p>
          <a:p>
            <a:r>
              <a:rPr lang="en-US" sz="1700" dirty="0"/>
              <a:t>Overall:  Macro F1 score dropped no more than 0.05. For some ML it even increased slightly.</a:t>
            </a:r>
          </a:p>
          <a:p>
            <a:r>
              <a:rPr lang="en-US" sz="1700" dirty="0"/>
              <a:t>Number of predictors reduced from 26 to 11.</a:t>
            </a:r>
          </a:p>
          <a:p>
            <a:pPr marL="0" indent="0">
              <a:buNone/>
            </a:pPr>
            <a:endParaRPr lang="en-US" dirty="0"/>
          </a:p>
          <a:p>
            <a:endParaRPr lang="en-US" dirty="0"/>
          </a:p>
        </p:txBody>
      </p:sp>
      <p:pic>
        <p:nvPicPr>
          <p:cNvPr id="10" name="Picture 9">
            <a:extLst>
              <a:ext uri="{FF2B5EF4-FFF2-40B4-BE49-F238E27FC236}">
                <a16:creationId xmlns:a16="http://schemas.microsoft.com/office/drawing/2014/main" id="{CEB670E8-384F-CD70-7352-8CAF9E1122BC}"/>
              </a:ext>
            </a:extLst>
          </p:cNvPr>
          <p:cNvPicPr>
            <a:picLocks noChangeAspect="1"/>
          </p:cNvPicPr>
          <p:nvPr/>
        </p:nvPicPr>
        <p:blipFill>
          <a:blip r:embed="rId2"/>
          <a:stretch>
            <a:fillRect/>
          </a:stretch>
        </p:blipFill>
        <p:spPr>
          <a:xfrm>
            <a:off x="3015097" y="2065531"/>
            <a:ext cx="4087059" cy="4164936"/>
          </a:xfrm>
          <a:prstGeom prst="rect">
            <a:avLst/>
          </a:prstGeom>
        </p:spPr>
      </p:pic>
      <p:pic>
        <p:nvPicPr>
          <p:cNvPr id="14" name="Picture 13">
            <a:extLst>
              <a:ext uri="{FF2B5EF4-FFF2-40B4-BE49-F238E27FC236}">
                <a16:creationId xmlns:a16="http://schemas.microsoft.com/office/drawing/2014/main" id="{3185C2AA-CF41-4249-DC05-960D9A227CE7}"/>
              </a:ext>
            </a:extLst>
          </p:cNvPr>
          <p:cNvPicPr>
            <a:picLocks noChangeAspect="1"/>
          </p:cNvPicPr>
          <p:nvPr/>
        </p:nvPicPr>
        <p:blipFill>
          <a:blip r:embed="rId3"/>
          <a:stretch>
            <a:fillRect/>
          </a:stretch>
        </p:blipFill>
        <p:spPr>
          <a:xfrm>
            <a:off x="7211291" y="1990908"/>
            <a:ext cx="4572615" cy="4164936"/>
          </a:xfrm>
          <a:prstGeom prst="rect">
            <a:avLst/>
          </a:prstGeom>
        </p:spPr>
      </p:pic>
    </p:spTree>
    <p:extLst>
      <p:ext uri="{BB962C8B-B14F-4D97-AF65-F5344CB8AC3E}">
        <p14:creationId xmlns:p14="http://schemas.microsoft.com/office/powerpoint/2010/main" val="1971271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73E5-ECFA-1F4D-60EF-6AE8AE68D253}"/>
              </a:ext>
            </a:extLst>
          </p:cNvPr>
          <p:cNvSpPr>
            <a:spLocks noGrp="1"/>
          </p:cNvSpPr>
          <p:nvPr>
            <p:ph type="title"/>
          </p:nvPr>
        </p:nvSpPr>
        <p:spPr/>
        <p:txBody>
          <a:bodyPr/>
          <a:lstStyle/>
          <a:p>
            <a:r>
              <a:rPr lang="en-US" dirty="0"/>
              <a:t>Parameter Tuning (performance of models)</a:t>
            </a:r>
          </a:p>
        </p:txBody>
      </p:sp>
      <p:sp>
        <p:nvSpPr>
          <p:cNvPr id="3" name="Content Placeholder 2">
            <a:extLst>
              <a:ext uri="{FF2B5EF4-FFF2-40B4-BE49-F238E27FC236}">
                <a16:creationId xmlns:a16="http://schemas.microsoft.com/office/drawing/2014/main" id="{3977F9F0-A146-0394-5B7B-359557566ED6}"/>
              </a:ext>
            </a:extLst>
          </p:cNvPr>
          <p:cNvSpPr>
            <a:spLocks noGrp="1"/>
          </p:cNvSpPr>
          <p:nvPr>
            <p:ph idx="1"/>
          </p:nvPr>
        </p:nvSpPr>
        <p:spPr>
          <a:xfrm>
            <a:off x="375708" y="2382730"/>
            <a:ext cx="3313065" cy="4316112"/>
          </a:xfrm>
        </p:spPr>
        <p:txBody>
          <a:bodyPr>
            <a:normAutofit fontScale="92500"/>
          </a:bodyPr>
          <a:lstStyle/>
          <a:p>
            <a:r>
              <a:rPr lang="en-US" dirty="0"/>
              <a:t>Best parameters for each model are in Appendix 12</a:t>
            </a:r>
          </a:p>
          <a:p>
            <a:r>
              <a:rPr lang="en-US" dirty="0"/>
              <a:t>Risk level Macro F1 difference:</a:t>
            </a:r>
          </a:p>
          <a:p>
            <a:pPr marL="0" indent="0">
              <a:buNone/>
            </a:pPr>
            <a:r>
              <a:rPr lang="en-US" dirty="0"/>
              <a:t>     RF (+0.02), GB (+0.02) </a:t>
            </a:r>
          </a:p>
          <a:p>
            <a:r>
              <a:rPr lang="en-US" dirty="0"/>
              <a:t>Rating Macro F1 difference:</a:t>
            </a:r>
          </a:p>
          <a:p>
            <a:pPr marL="0" indent="0">
              <a:buNone/>
            </a:pPr>
            <a:r>
              <a:rPr lang="en-US" dirty="0"/>
              <a:t>     GB (+0.04) </a:t>
            </a:r>
          </a:p>
          <a:p>
            <a:r>
              <a:rPr lang="en-US" dirty="0"/>
              <a:t>Overall: Macro F1 score significantly increased for ensemble ML models such as RF,  GB. </a:t>
            </a:r>
          </a:p>
          <a:p>
            <a:r>
              <a:rPr lang="en-US" dirty="0"/>
              <a:t>What if we use the same predictors and hyperparameters for balanced dataset?</a:t>
            </a:r>
          </a:p>
        </p:txBody>
      </p:sp>
      <p:pic>
        <p:nvPicPr>
          <p:cNvPr id="12" name="Picture 11">
            <a:extLst>
              <a:ext uri="{FF2B5EF4-FFF2-40B4-BE49-F238E27FC236}">
                <a16:creationId xmlns:a16="http://schemas.microsoft.com/office/drawing/2014/main" id="{A9B0A9DA-8CB9-FDE4-5305-1178966A31CB}"/>
              </a:ext>
            </a:extLst>
          </p:cNvPr>
          <p:cNvPicPr>
            <a:picLocks noChangeAspect="1"/>
          </p:cNvPicPr>
          <p:nvPr/>
        </p:nvPicPr>
        <p:blipFill>
          <a:blip r:embed="rId2"/>
          <a:stretch>
            <a:fillRect/>
          </a:stretch>
        </p:blipFill>
        <p:spPr>
          <a:xfrm>
            <a:off x="3209126" y="2382730"/>
            <a:ext cx="4156641" cy="4467520"/>
          </a:xfrm>
          <a:prstGeom prst="rect">
            <a:avLst/>
          </a:prstGeom>
        </p:spPr>
      </p:pic>
      <p:pic>
        <p:nvPicPr>
          <p:cNvPr id="18" name="Picture 17">
            <a:extLst>
              <a:ext uri="{FF2B5EF4-FFF2-40B4-BE49-F238E27FC236}">
                <a16:creationId xmlns:a16="http://schemas.microsoft.com/office/drawing/2014/main" id="{19F49583-A498-C774-E704-18A67E072AB7}"/>
              </a:ext>
            </a:extLst>
          </p:cNvPr>
          <p:cNvPicPr>
            <a:picLocks noChangeAspect="1"/>
          </p:cNvPicPr>
          <p:nvPr/>
        </p:nvPicPr>
        <p:blipFill>
          <a:blip r:embed="rId3"/>
          <a:stretch>
            <a:fillRect/>
          </a:stretch>
        </p:blipFill>
        <p:spPr>
          <a:xfrm>
            <a:off x="7659651" y="2382730"/>
            <a:ext cx="4156641" cy="4467520"/>
          </a:xfrm>
          <a:prstGeom prst="rect">
            <a:avLst/>
          </a:prstGeom>
        </p:spPr>
      </p:pic>
      <p:sp>
        <p:nvSpPr>
          <p:cNvPr id="5" name="TextBox 4">
            <a:extLst>
              <a:ext uri="{FF2B5EF4-FFF2-40B4-BE49-F238E27FC236}">
                <a16:creationId xmlns:a16="http://schemas.microsoft.com/office/drawing/2014/main" id="{4F566AB1-127B-0180-395F-7403BB047139}"/>
              </a:ext>
            </a:extLst>
          </p:cNvPr>
          <p:cNvSpPr txBox="1"/>
          <p:nvPr/>
        </p:nvSpPr>
        <p:spPr>
          <a:xfrm>
            <a:off x="-96165" y="1823553"/>
            <a:ext cx="12072601" cy="646331"/>
          </a:xfrm>
          <a:prstGeom prst="rect">
            <a:avLst/>
          </a:prstGeom>
          <a:noFill/>
        </p:spPr>
        <p:txBody>
          <a:bodyPr wrap="square">
            <a:spAutoFit/>
          </a:bodyPr>
          <a:lstStyle/>
          <a:p>
            <a:pPr lvl="1"/>
            <a:r>
              <a:rPr lang="en-US" i="1" dirty="0"/>
              <a:t>Models were trained using all possible hyperparameters combinations and evaluated on Macro average F1 score using 5 fold cross validation. (Appendix 10-11 )</a:t>
            </a:r>
          </a:p>
        </p:txBody>
      </p:sp>
    </p:spTree>
    <p:extLst>
      <p:ext uri="{BB962C8B-B14F-4D97-AF65-F5344CB8AC3E}">
        <p14:creationId xmlns:p14="http://schemas.microsoft.com/office/powerpoint/2010/main" val="1548194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06D-F140-A2D4-B95D-60D378B8FB55}"/>
              </a:ext>
            </a:extLst>
          </p:cNvPr>
          <p:cNvSpPr>
            <a:spLocks noGrp="1"/>
          </p:cNvSpPr>
          <p:nvPr>
            <p:ph type="title"/>
          </p:nvPr>
        </p:nvSpPr>
        <p:spPr/>
        <p:txBody>
          <a:bodyPr/>
          <a:lstStyle/>
          <a:p>
            <a:r>
              <a:rPr lang="en-US" dirty="0"/>
              <a:t>Oversampling </a:t>
            </a:r>
          </a:p>
        </p:txBody>
      </p:sp>
      <p:sp>
        <p:nvSpPr>
          <p:cNvPr id="3" name="Content Placeholder 2">
            <a:extLst>
              <a:ext uri="{FF2B5EF4-FFF2-40B4-BE49-F238E27FC236}">
                <a16:creationId xmlns:a16="http://schemas.microsoft.com/office/drawing/2014/main" id="{934D6349-544F-BA3F-EB3D-67EAB5DE4485}"/>
              </a:ext>
            </a:extLst>
          </p:cNvPr>
          <p:cNvSpPr>
            <a:spLocks noGrp="1"/>
          </p:cNvSpPr>
          <p:nvPr>
            <p:ph idx="1"/>
          </p:nvPr>
        </p:nvSpPr>
        <p:spPr>
          <a:xfrm>
            <a:off x="394277" y="2394324"/>
            <a:ext cx="3816636" cy="3678303"/>
          </a:xfrm>
        </p:spPr>
        <p:txBody>
          <a:bodyPr/>
          <a:lstStyle/>
          <a:p>
            <a:r>
              <a:rPr lang="en-US" dirty="0"/>
              <a:t>In Risk level, the minority class “Highest Risk” is only 3%.</a:t>
            </a:r>
          </a:p>
          <a:p>
            <a:r>
              <a:rPr lang="en-US" dirty="0"/>
              <a:t>In Credit Rating, the minority classes “AA” and “CCC” are only 5% and 3 %, respectively. </a:t>
            </a:r>
          </a:p>
          <a:p>
            <a:r>
              <a:rPr lang="en-US" dirty="0"/>
              <a:t>We apply an oversampling technique to have an equal number of observations in each class. </a:t>
            </a:r>
          </a:p>
          <a:p>
            <a:endParaRPr lang="en-US" dirty="0"/>
          </a:p>
          <a:p>
            <a:endParaRPr lang="en-US" dirty="0"/>
          </a:p>
        </p:txBody>
      </p:sp>
      <p:graphicFrame>
        <p:nvGraphicFramePr>
          <p:cNvPr id="4" name="Chart 3">
            <a:extLst>
              <a:ext uri="{FF2B5EF4-FFF2-40B4-BE49-F238E27FC236}">
                <a16:creationId xmlns:a16="http://schemas.microsoft.com/office/drawing/2014/main" id="{57DFBC4C-DE80-3CFF-0D94-98FCC29BE59C}"/>
              </a:ext>
            </a:extLst>
          </p:cNvPr>
          <p:cNvGraphicFramePr>
            <a:graphicFrameLocks/>
          </p:cNvGraphicFramePr>
          <p:nvPr>
            <p:extLst>
              <p:ext uri="{D42A27DB-BD31-4B8C-83A1-F6EECF244321}">
                <p14:modId xmlns:p14="http://schemas.microsoft.com/office/powerpoint/2010/main" val="2677094937"/>
              </p:ext>
            </p:extLst>
          </p:nvPr>
        </p:nvGraphicFramePr>
        <p:xfrm>
          <a:off x="7554034" y="2237362"/>
          <a:ext cx="4392911" cy="451363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21DA0780-6300-CD47-94B9-52273FB3D1FB}"/>
              </a:ext>
            </a:extLst>
          </p:cNvPr>
          <p:cNvGraphicFramePr>
            <a:graphicFrameLocks/>
          </p:cNvGraphicFramePr>
          <p:nvPr>
            <p:extLst>
              <p:ext uri="{D42A27DB-BD31-4B8C-83A1-F6EECF244321}">
                <p14:modId xmlns:p14="http://schemas.microsoft.com/office/powerpoint/2010/main" val="3041899347"/>
              </p:ext>
            </p:extLst>
          </p:nvPr>
        </p:nvGraphicFramePr>
        <p:xfrm>
          <a:off x="3432979" y="1497814"/>
          <a:ext cx="5475264" cy="52531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62436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933AF-1492-81A5-611C-848BCE832387}"/>
              </a:ext>
            </a:extLst>
          </p:cNvPr>
          <p:cNvSpPr>
            <a:spLocks noGrp="1"/>
          </p:cNvSpPr>
          <p:nvPr>
            <p:ph type="title"/>
          </p:nvPr>
        </p:nvSpPr>
        <p:spPr/>
        <p:txBody>
          <a:bodyPr/>
          <a:lstStyle/>
          <a:p>
            <a:r>
              <a:rPr lang="en-US" dirty="0"/>
              <a:t>Oversampling  (SMOTE)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F7CACD3-387E-83A4-4293-B9060C3AEACF}"/>
                  </a:ext>
                </a:extLst>
              </p:cNvPr>
              <p:cNvSpPr>
                <a:spLocks noGrp="1"/>
              </p:cNvSpPr>
              <p:nvPr>
                <p:ph idx="1"/>
              </p:nvPr>
            </p:nvSpPr>
            <p:spPr>
              <a:xfrm>
                <a:off x="446110" y="1849581"/>
                <a:ext cx="11029615" cy="4717474"/>
              </a:xfrm>
            </p:spPr>
            <p:txBody>
              <a:bodyPr/>
              <a:lstStyle/>
              <a:p>
                <a:r>
                  <a:rPr lang="en-US" sz="2000" dirty="0"/>
                  <a:t>Oversampling technique that is based on KNN algorithm</a:t>
                </a:r>
              </a:p>
              <a:p>
                <a:r>
                  <a:rPr lang="en-US" sz="2000" dirty="0"/>
                  <a:t>For each minority class instance, SMOTE finds its </a:t>
                </a:r>
                <a:r>
                  <a:rPr lang="en-US" sz="2000" b="1" dirty="0"/>
                  <a:t>5 nearest neighbors</a:t>
                </a:r>
                <a:r>
                  <a:rPr lang="en-US" sz="2000" dirty="0"/>
                  <a:t> in feature space.</a:t>
                </a:r>
              </a:p>
              <a:p>
                <a:r>
                  <a:rPr lang="en-US" sz="2000" b="1" dirty="0"/>
                  <a:t>Technique Explanation:</a:t>
                </a:r>
                <a:endParaRPr lang="en-US" sz="2000" dirty="0"/>
              </a:p>
              <a:p>
                <a:pPr lvl="1"/>
                <a:r>
                  <a:rPr lang="en-US" sz="2000" dirty="0"/>
                  <a:t>Choose minority class point x</a:t>
                </a:r>
                <a:r>
                  <a:rPr lang="en-US" sz="2000" baseline="-25000" dirty="0"/>
                  <a:t>i </a:t>
                </a:r>
                <a:endParaRPr lang="en-US" sz="2000" dirty="0"/>
              </a:p>
              <a:p>
                <a:pPr lvl="1"/>
                <a:r>
                  <a:rPr lang="en-US" sz="2000" dirty="0"/>
                  <a:t>Find 5 nearest neighbors of x</a:t>
                </a:r>
                <a:r>
                  <a:rPr lang="en-US" sz="2000" baseline="-25000" dirty="0"/>
                  <a:t>i </a:t>
                </a:r>
                <a:r>
                  <a:rPr lang="en-US" sz="2000" dirty="0"/>
                  <a:t>. Pick one random point out of 5 neighbors  </a:t>
                </a:r>
                <a:r>
                  <a:rPr lang="en-US" sz="2000" dirty="0" err="1"/>
                  <a:t>x</a:t>
                </a:r>
                <a:r>
                  <a:rPr lang="en-US" sz="2000" baseline="-25000" dirty="0" err="1"/>
                  <a:t>n</a:t>
                </a:r>
                <a:r>
                  <a:rPr lang="en-US" sz="2000" dirty="0"/>
                  <a:t> .</a:t>
                </a:r>
              </a:p>
              <a:p>
                <a:pPr lvl="1"/>
                <a:r>
                  <a:rPr lang="en-US" sz="2000" dirty="0"/>
                  <a:t>Create new synthetic point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𝑛𝑒𝑤</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𝑛</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e>
                    </m:d>
                  </m:oMath>
                </a14:m>
                <a:r>
                  <a:rPr lang="en-US" sz="2000" dirty="0"/>
                  <a:t>, where </a:t>
                </a:r>
                <a14:m>
                  <m:oMath xmlns:m="http://schemas.openxmlformats.org/officeDocument/2006/math">
                    <m:r>
                      <a:rPr lang="en-US" sz="2000" i="1">
                        <a:latin typeface="Cambria Math" panose="02040503050406030204" pitchFamily="18" charset="0"/>
                        <a:ea typeface="Cambria Math" panose="02040503050406030204" pitchFamily="18" charset="0"/>
                      </a:rPr>
                      <m:t>𝜆</m:t>
                    </m:r>
                  </m:oMath>
                </a14:m>
                <a:r>
                  <a:rPr lang="en-US" sz="2000" dirty="0"/>
                  <a:t> is random picked number between 0 and 1.</a:t>
                </a:r>
              </a:p>
              <a:p>
                <a:r>
                  <a:rPr lang="en-US" sz="2000" dirty="0"/>
                  <a:t>SMOTE continues generating synthetic samples </a:t>
                </a:r>
                <a:r>
                  <a:rPr lang="en-US" sz="2000" b="1" dirty="0"/>
                  <a:t>until the minority class is balanced</a:t>
                </a:r>
                <a:r>
                  <a:rPr lang="en-US" sz="2000" dirty="0"/>
                  <a:t> with the majority classes</a:t>
                </a:r>
                <a:r>
                  <a:rPr lang="en-US" dirty="0"/>
                  <a:t>.</a:t>
                </a:r>
              </a:p>
            </p:txBody>
          </p:sp>
        </mc:Choice>
        <mc:Fallback>
          <p:sp>
            <p:nvSpPr>
              <p:cNvPr id="3" name="Content Placeholder 2">
                <a:extLst>
                  <a:ext uri="{FF2B5EF4-FFF2-40B4-BE49-F238E27FC236}">
                    <a16:creationId xmlns:a16="http://schemas.microsoft.com/office/drawing/2014/main" id="{1F7CACD3-387E-83A4-4293-B9060C3AEACF}"/>
                  </a:ext>
                </a:extLst>
              </p:cNvPr>
              <p:cNvSpPr>
                <a:spLocks noGrp="1" noRot="1" noChangeAspect="1" noMove="1" noResize="1" noEditPoints="1" noAdjustHandles="1" noChangeArrowheads="1" noChangeShapeType="1" noTextEdit="1"/>
              </p:cNvSpPr>
              <p:nvPr>
                <p:ph idx="1"/>
              </p:nvPr>
            </p:nvSpPr>
            <p:spPr>
              <a:xfrm>
                <a:off x="446110" y="1849581"/>
                <a:ext cx="11029615" cy="4717474"/>
              </a:xfrm>
              <a:blipFill>
                <a:blip r:embed="rId2"/>
                <a:stretch>
                  <a:fillRect l="-345"/>
                </a:stretch>
              </a:blipFill>
            </p:spPr>
            <p:txBody>
              <a:bodyPr/>
              <a:lstStyle/>
              <a:p>
                <a:r>
                  <a:rPr lang="en-US">
                    <a:noFill/>
                  </a:rPr>
                  <a:t> </a:t>
                </a:r>
              </a:p>
            </p:txBody>
          </p:sp>
        </mc:Fallback>
      </mc:AlternateContent>
    </p:spTree>
    <p:extLst>
      <p:ext uri="{BB962C8B-B14F-4D97-AF65-F5344CB8AC3E}">
        <p14:creationId xmlns:p14="http://schemas.microsoft.com/office/powerpoint/2010/main" val="815193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85745-ACA2-F4A6-7890-F6DEBBF50893}"/>
              </a:ext>
            </a:extLst>
          </p:cNvPr>
          <p:cNvSpPr>
            <a:spLocks noGrp="1"/>
          </p:cNvSpPr>
          <p:nvPr>
            <p:ph type="title"/>
          </p:nvPr>
        </p:nvSpPr>
        <p:spPr/>
        <p:txBody>
          <a:bodyPr/>
          <a:lstStyle/>
          <a:p>
            <a:r>
              <a:rPr lang="en-US" dirty="0"/>
              <a:t>Oversampling  (SMOTE results) </a:t>
            </a:r>
          </a:p>
        </p:txBody>
      </p:sp>
      <p:sp>
        <p:nvSpPr>
          <p:cNvPr id="3" name="Content Placeholder 2">
            <a:extLst>
              <a:ext uri="{FF2B5EF4-FFF2-40B4-BE49-F238E27FC236}">
                <a16:creationId xmlns:a16="http://schemas.microsoft.com/office/drawing/2014/main" id="{872B20F2-9881-9547-526A-24205B7AE326}"/>
              </a:ext>
            </a:extLst>
          </p:cNvPr>
          <p:cNvSpPr>
            <a:spLocks noGrp="1"/>
          </p:cNvSpPr>
          <p:nvPr>
            <p:ph idx="1"/>
          </p:nvPr>
        </p:nvSpPr>
        <p:spPr>
          <a:xfrm>
            <a:off x="384465" y="2206281"/>
            <a:ext cx="3522518" cy="3678303"/>
          </a:xfrm>
        </p:spPr>
        <p:txBody>
          <a:bodyPr/>
          <a:lstStyle/>
          <a:p>
            <a:r>
              <a:rPr lang="en-US" dirty="0"/>
              <a:t>After applying smote technique separately on Risk level and Credit Rating, the 2 balanced datasets were received. </a:t>
            </a:r>
          </a:p>
          <a:p>
            <a:r>
              <a:rPr lang="en-US" dirty="0"/>
              <a:t>Every class has the same number of observations as the majority class.</a:t>
            </a:r>
          </a:p>
        </p:txBody>
      </p:sp>
      <p:graphicFrame>
        <p:nvGraphicFramePr>
          <p:cNvPr id="4" name="Chart 3">
            <a:extLst>
              <a:ext uri="{FF2B5EF4-FFF2-40B4-BE49-F238E27FC236}">
                <a16:creationId xmlns:a16="http://schemas.microsoft.com/office/drawing/2014/main" id="{5E693862-869E-4A37-81DF-A7DFAA0331BF}"/>
              </a:ext>
            </a:extLst>
          </p:cNvPr>
          <p:cNvGraphicFramePr>
            <a:graphicFrameLocks noChangeAspect="1"/>
          </p:cNvGraphicFramePr>
          <p:nvPr/>
        </p:nvGraphicFramePr>
        <p:xfrm>
          <a:off x="3326004" y="2057712"/>
          <a:ext cx="5139067" cy="43543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E2B22FED-1D4B-4E17-45F2-75E94580D78C}"/>
              </a:ext>
            </a:extLst>
          </p:cNvPr>
          <p:cNvGraphicFramePr>
            <a:graphicFrameLocks noChangeAspect="1"/>
          </p:cNvGraphicFramePr>
          <p:nvPr/>
        </p:nvGraphicFramePr>
        <p:xfrm>
          <a:off x="7551684" y="1926495"/>
          <a:ext cx="4640316" cy="448558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04618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CCCF-8D4D-9034-E930-74667F3903AE}"/>
              </a:ext>
            </a:extLst>
          </p:cNvPr>
          <p:cNvSpPr>
            <a:spLocks noGrp="1"/>
          </p:cNvSpPr>
          <p:nvPr>
            <p:ph type="title"/>
          </p:nvPr>
        </p:nvSpPr>
        <p:spPr/>
        <p:txBody>
          <a:bodyPr/>
          <a:lstStyle/>
          <a:p>
            <a:r>
              <a:rPr lang="en-US" dirty="0"/>
              <a:t>Oversampling  (ML evaluation) </a:t>
            </a:r>
          </a:p>
        </p:txBody>
      </p:sp>
      <p:sp>
        <p:nvSpPr>
          <p:cNvPr id="3" name="Content Placeholder 2">
            <a:extLst>
              <a:ext uri="{FF2B5EF4-FFF2-40B4-BE49-F238E27FC236}">
                <a16:creationId xmlns:a16="http://schemas.microsoft.com/office/drawing/2014/main" id="{9ACAFB68-85B1-6E5E-1CA6-724B8EE8CEAA}"/>
              </a:ext>
            </a:extLst>
          </p:cNvPr>
          <p:cNvSpPr>
            <a:spLocks noGrp="1"/>
          </p:cNvSpPr>
          <p:nvPr>
            <p:ph idx="1"/>
          </p:nvPr>
        </p:nvSpPr>
        <p:spPr>
          <a:xfrm>
            <a:off x="433137" y="2130398"/>
            <a:ext cx="3753852" cy="4839935"/>
          </a:xfrm>
        </p:spPr>
        <p:txBody>
          <a:bodyPr>
            <a:normAutofit/>
          </a:bodyPr>
          <a:lstStyle/>
          <a:p>
            <a:r>
              <a:rPr lang="en-US" dirty="0"/>
              <a:t>Trained and tested 5 models using oversampling datasets, 11 predictors and the same hyperparameters from Grid Search</a:t>
            </a:r>
          </a:p>
          <a:p>
            <a:r>
              <a:rPr lang="en-US" u="sng" dirty="0"/>
              <a:t>Risk level Macro F1 difference:</a:t>
            </a:r>
          </a:p>
          <a:p>
            <a:pPr marL="324000" lvl="1" indent="0">
              <a:buNone/>
            </a:pPr>
            <a:r>
              <a:rPr lang="en-US" sz="1800" dirty="0"/>
              <a:t>LDA (-0.01), LR (+0.09), RF (+0.14), KNN (+0.22), GB (+0.22)      </a:t>
            </a:r>
          </a:p>
          <a:p>
            <a:r>
              <a:rPr lang="en-US" u="sng" dirty="0"/>
              <a:t>Rating Macro F1 difference:</a:t>
            </a:r>
          </a:p>
          <a:p>
            <a:pPr marL="324000" lvl="1" indent="0">
              <a:buNone/>
            </a:pPr>
            <a:r>
              <a:rPr lang="en-US" sz="1800" dirty="0"/>
              <a:t>LDA (+0.10), LR (+0.16), RF (+0.29),  KNN (+0.29), GB (+0.30)    </a:t>
            </a:r>
          </a:p>
          <a:p>
            <a:r>
              <a:rPr lang="en-US" u="sng" dirty="0"/>
              <a:t>Overall: </a:t>
            </a:r>
            <a:r>
              <a:rPr lang="en-US" dirty="0"/>
              <a:t>Macro F1 score significantly increased for all ML models.</a:t>
            </a:r>
          </a:p>
          <a:p>
            <a:endParaRPr lang="en-US" dirty="0"/>
          </a:p>
        </p:txBody>
      </p:sp>
      <p:pic>
        <p:nvPicPr>
          <p:cNvPr id="9" name="Picture 8">
            <a:extLst>
              <a:ext uri="{FF2B5EF4-FFF2-40B4-BE49-F238E27FC236}">
                <a16:creationId xmlns:a16="http://schemas.microsoft.com/office/drawing/2014/main" id="{C391D59F-BC08-9796-5769-541B11BC3370}"/>
              </a:ext>
            </a:extLst>
          </p:cNvPr>
          <p:cNvPicPr>
            <a:picLocks noChangeAspect="1"/>
          </p:cNvPicPr>
          <p:nvPr/>
        </p:nvPicPr>
        <p:blipFill>
          <a:blip r:embed="rId2"/>
          <a:stretch>
            <a:fillRect/>
          </a:stretch>
        </p:blipFill>
        <p:spPr>
          <a:xfrm>
            <a:off x="4061861" y="2170674"/>
            <a:ext cx="3825766" cy="3985170"/>
          </a:xfrm>
          <a:prstGeom prst="rect">
            <a:avLst/>
          </a:prstGeom>
        </p:spPr>
      </p:pic>
      <p:pic>
        <p:nvPicPr>
          <p:cNvPr id="16" name="Picture 15">
            <a:extLst>
              <a:ext uri="{FF2B5EF4-FFF2-40B4-BE49-F238E27FC236}">
                <a16:creationId xmlns:a16="http://schemas.microsoft.com/office/drawing/2014/main" id="{ECA8B948-C8B4-8361-7D56-BB85B5BF4CD1}"/>
              </a:ext>
            </a:extLst>
          </p:cNvPr>
          <p:cNvPicPr>
            <a:picLocks noChangeAspect="1"/>
          </p:cNvPicPr>
          <p:nvPr/>
        </p:nvPicPr>
        <p:blipFill>
          <a:blip r:embed="rId3"/>
          <a:stretch>
            <a:fillRect/>
          </a:stretch>
        </p:blipFill>
        <p:spPr>
          <a:xfrm>
            <a:off x="7815714" y="2170674"/>
            <a:ext cx="3943149" cy="3985170"/>
          </a:xfrm>
          <a:prstGeom prst="rect">
            <a:avLst/>
          </a:prstGeom>
        </p:spPr>
      </p:pic>
    </p:spTree>
    <p:extLst>
      <p:ext uri="{BB962C8B-B14F-4D97-AF65-F5344CB8AC3E}">
        <p14:creationId xmlns:p14="http://schemas.microsoft.com/office/powerpoint/2010/main" val="15507245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20DA-C01E-8BFE-973C-69F5703929F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3DBE833-8BEB-F05E-C119-E38FCAED05EB}"/>
              </a:ext>
            </a:extLst>
          </p:cNvPr>
          <p:cNvSpPr>
            <a:spLocks noGrp="1"/>
          </p:cNvSpPr>
          <p:nvPr>
            <p:ph idx="1"/>
          </p:nvPr>
        </p:nvSpPr>
        <p:spPr>
          <a:xfrm>
            <a:off x="423512" y="1852551"/>
            <a:ext cx="6911260" cy="5005449"/>
          </a:xfrm>
        </p:spPr>
        <p:txBody>
          <a:bodyPr>
            <a:normAutofit/>
          </a:bodyPr>
          <a:lstStyle/>
          <a:p>
            <a:endParaRPr lang="en-US" sz="1900" dirty="0"/>
          </a:p>
          <a:p>
            <a:r>
              <a:rPr lang="en-US" sz="1900" u="sng" dirty="0"/>
              <a:t>The highest achieved F1 Score is 0.81 (KNN for balanced rating dataset).</a:t>
            </a:r>
          </a:p>
          <a:p>
            <a:r>
              <a:rPr lang="en-US" sz="1900" dirty="0"/>
              <a:t>The top 3 models after Parameter Tunning and Feature Selection are KNN, RF, GB for classifying Risk level and Credit Rating. </a:t>
            </a:r>
          </a:p>
          <a:p>
            <a:r>
              <a:rPr lang="en-US" sz="1900" dirty="0"/>
              <a:t>Reduced number of features from 26 to 11 using Backward elimination:</a:t>
            </a:r>
          </a:p>
          <a:p>
            <a:pPr lvl="1"/>
            <a:r>
              <a:rPr lang="en-US" sz="1700" dirty="0"/>
              <a:t>'Sector’, '</a:t>
            </a:r>
            <a:r>
              <a:rPr lang="en-US" sz="1700" dirty="0" err="1"/>
              <a:t>currentRatio</a:t>
            </a:r>
            <a:r>
              <a:rPr lang="en-US" sz="1700" dirty="0"/>
              <a:t>’, '</a:t>
            </a:r>
            <a:r>
              <a:rPr lang="en-US" sz="1700" dirty="0" err="1"/>
              <a:t>grossProfitMargin</a:t>
            </a:r>
            <a:r>
              <a:rPr lang="en-US" sz="1700" dirty="0"/>
              <a:t>’, '</a:t>
            </a:r>
            <a:r>
              <a:rPr lang="en-US" sz="1700" dirty="0" err="1"/>
              <a:t>returnOnCapitalEmployed</a:t>
            </a:r>
            <a:r>
              <a:rPr lang="en-US" sz="1700" dirty="0"/>
              <a:t>’, '</a:t>
            </a:r>
            <a:r>
              <a:rPr lang="en-US" sz="1700" dirty="0" err="1"/>
              <a:t>assetTurnover</a:t>
            </a:r>
            <a:r>
              <a:rPr lang="en-US" sz="1700" dirty="0"/>
              <a:t>’, '</a:t>
            </a:r>
            <a:r>
              <a:rPr lang="en-US" sz="1700" dirty="0" err="1"/>
              <a:t>fixedAssetTurnover</a:t>
            </a:r>
            <a:r>
              <a:rPr lang="en-US" sz="1700" dirty="0"/>
              <a:t>', '</a:t>
            </a:r>
            <a:r>
              <a:rPr lang="en-US" sz="1700" dirty="0" err="1"/>
              <a:t>debtEquityRatio</a:t>
            </a:r>
            <a:r>
              <a:rPr lang="en-US" sz="1700" dirty="0"/>
              <a:t>', '</a:t>
            </a:r>
            <a:r>
              <a:rPr lang="en-US" sz="1700" dirty="0" err="1"/>
              <a:t>debtRatio</a:t>
            </a:r>
            <a:r>
              <a:rPr lang="en-US" sz="1700" dirty="0"/>
              <a:t>’, '</a:t>
            </a:r>
            <a:r>
              <a:rPr lang="en-US" sz="1700" dirty="0" err="1"/>
              <a:t>enterpriseValueMultiple</a:t>
            </a:r>
            <a:r>
              <a:rPr lang="en-US" sz="1700" dirty="0"/>
              <a:t>’, '</a:t>
            </a:r>
            <a:r>
              <a:rPr lang="en-US" sz="1700" dirty="0" err="1"/>
              <a:t>operatingCashFlowPerShare</a:t>
            </a:r>
            <a:r>
              <a:rPr lang="en-US" sz="1700" dirty="0"/>
              <a:t>’, '</a:t>
            </a:r>
            <a:r>
              <a:rPr lang="en-US" sz="1700" dirty="0" err="1"/>
              <a:t>operatingCashFlowSalesRatio</a:t>
            </a:r>
            <a:r>
              <a:rPr lang="en-US" sz="1700" dirty="0"/>
              <a:t>’</a:t>
            </a:r>
          </a:p>
          <a:p>
            <a:r>
              <a:rPr lang="en-US" sz="1900" dirty="0"/>
              <a:t>Oversampling significantly improved Macro average F1 Score of models.</a:t>
            </a:r>
          </a:p>
          <a:p>
            <a:endParaRPr lang="en-US" dirty="0"/>
          </a:p>
        </p:txBody>
      </p:sp>
      <p:pic>
        <p:nvPicPr>
          <p:cNvPr id="5" name="Picture 4">
            <a:extLst>
              <a:ext uri="{FF2B5EF4-FFF2-40B4-BE49-F238E27FC236}">
                <a16:creationId xmlns:a16="http://schemas.microsoft.com/office/drawing/2014/main" id="{976F2C4D-EAE5-D5CA-65E5-E598E8F49A51}"/>
              </a:ext>
            </a:extLst>
          </p:cNvPr>
          <p:cNvPicPr>
            <a:picLocks noChangeAspect="1"/>
          </p:cNvPicPr>
          <p:nvPr/>
        </p:nvPicPr>
        <p:blipFill>
          <a:blip r:embed="rId3"/>
          <a:stretch>
            <a:fillRect/>
          </a:stretch>
        </p:blipFill>
        <p:spPr>
          <a:xfrm>
            <a:off x="6733032" y="2328032"/>
            <a:ext cx="5035456" cy="4087646"/>
          </a:xfrm>
          <a:prstGeom prst="rect">
            <a:avLst/>
          </a:prstGeom>
        </p:spPr>
      </p:pic>
    </p:spTree>
    <p:extLst>
      <p:ext uri="{BB962C8B-B14F-4D97-AF65-F5344CB8AC3E}">
        <p14:creationId xmlns:p14="http://schemas.microsoft.com/office/powerpoint/2010/main" val="2275011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E67D-760E-3690-ADB8-3F6BAC4990BF}"/>
              </a:ext>
            </a:extLst>
          </p:cNvPr>
          <p:cNvSpPr>
            <a:spLocks noGrp="1"/>
          </p:cNvSpPr>
          <p:nvPr>
            <p:ph type="title"/>
          </p:nvPr>
        </p:nvSpPr>
        <p:spPr/>
        <p:txBody>
          <a:bodyPr/>
          <a:lstStyle/>
          <a:p>
            <a:r>
              <a:rPr lang="en-US" dirty="0"/>
              <a:t>Importance</a:t>
            </a:r>
          </a:p>
        </p:txBody>
      </p:sp>
      <p:sp>
        <p:nvSpPr>
          <p:cNvPr id="3" name="Content Placeholder 2">
            <a:extLst>
              <a:ext uri="{FF2B5EF4-FFF2-40B4-BE49-F238E27FC236}">
                <a16:creationId xmlns:a16="http://schemas.microsoft.com/office/drawing/2014/main" id="{8FC22948-311D-86AB-6016-AE69D54C12C3}"/>
              </a:ext>
            </a:extLst>
          </p:cNvPr>
          <p:cNvSpPr>
            <a:spLocks noGrp="1"/>
          </p:cNvSpPr>
          <p:nvPr>
            <p:ph idx="1"/>
          </p:nvPr>
        </p:nvSpPr>
        <p:spPr>
          <a:xfrm>
            <a:off x="581192" y="2180496"/>
            <a:ext cx="11029615" cy="3833029"/>
          </a:xfrm>
        </p:spPr>
        <p:txBody>
          <a:bodyPr/>
          <a:lstStyle/>
          <a:p>
            <a:r>
              <a:rPr lang="en-US" dirty="0"/>
              <a:t>Investors decide to buy the corporate bonds based on company’s credit rating. </a:t>
            </a:r>
          </a:p>
          <a:p>
            <a:r>
              <a:rPr lang="en-US" dirty="0"/>
              <a:t>High credit rating </a:t>
            </a:r>
            <a:r>
              <a:rPr lang="en-US" dirty="0">
                <a:sym typeface="Wingdings" pitchFamily="2" charset="2"/>
              </a:rPr>
              <a:t> company with high probability will repay its debt</a:t>
            </a:r>
          </a:p>
          <a:p>
            <a:r>
              <a:rPr lang="en-US" dirty="0">
                <a:sym typeface="Wingdings" pitchFamily="2" charset="2"/>
              </a:rPr>
              <a:t>Low credit rating  company can struggle with paying back its debt</a:t>
            </a:r>
            <a:endParaRPr lang="en-US" dirty="0">
              <a:latin typeface="Gill Sant "/>
              <a:cs typeface="Gill Sant "/>
              <a:sym typeface="Wingdings" pitchFamily="2" charset="2"/>
            </a:endParaRPr>
          </a:p>
          <a:p>
            <a:r>
              <a:rPr lang="en-US" dirty="0">
                <a:sym typeface="Wingdings" pitchFamily="2" charset="2"/>
              </a:rPr>
              <a:t>Lower credit rating  higher risk level, so investors expect higher </a:t>
            </a:r>
            <a:r>
              <a:rPr lang="en-US" dirty="0"/>
              <a:t> interest rate of bonds to compensate for the risk of the investment</a:t>
            </a:r>
          </a:p>
          <a:p>
            <a:r>
              <a:rPr lang="en-US" dirty="0"/>
              <a:t>The credit rating is typically reviewed and restated quarterly based on financial statements by 3 main credit rating agencies (Moody’s, Standard &amp; Poor’s, and Fitch). The process can be automated by implementing effective ML model based on financial indicators from financial statements to assign credit rating.  Investors will be able to alter their investment strategies based on predicted credit rating. </a:t>
            </a:r>
          </a:p>
        </p:txBody>
      </p:sp>
    </p:spTree>
    <p:extLst>
      <p:ext uri="{BB962C8B-B14F-4D97-AF65-F5344CB8AC3E}">
        <p14:creationId xmlns:p14="http://schemas.microsoft.com/office/powerpoint/2010/main" val="1280094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D253F-0BD9-50DD-CE5F-AFF4DA9F2786}"/>
              </a:ext>
            </a:extLst>
          </p:cNvPr>
          <p:cNvSpPr>
            <a:spLocks noGrp="1"/>
          </p:cNvSpPr>
          <p:nvPr>
            <p:ph type="title"/>
          </p:nvPr>
        </p:nvSpPr>
        <p:spPr/>
        <p:txBody>
          <a:bodyPr/>
          <a:lstStyle/>
          <a:p>
            <a:r>
              <a:rPr lang="en-US" dirty="0"/>
              <a:t>FUTURE ENHANCEMENTS</a:t>
            </a:r>
          </a:p>
        </p:txBody>
      </p:sp>
      <p:sp>
        <p:nvSpPr>
          <p:cNvPr id="3" name="Content Placeholder 2">
            <a:extLst>
              <a:ext uri="{FF2B5EF4-FFF2-40B4-BE49-F238E27FC236}">
                <a16:creationId xmlns:a16="http://schemas.microsoft.com/office/drawing/2014/main" id="{ACF4A79F-43BD-5F13-FA64-3E5D78ADC27D}"/>
              </a:ext>
            </a:extLst>
          </p:cNvPr>
          <p:cNvSpPr>
            <a:spLocks noGrp="1"/>
          </p:cNvSpPr>
          <p:nvPr>
            <p:ph idx="1"/>
          </p:nvPr>
        </p:nvSpPr>
        <p:spPr>
          <a:xfrm>
            <a:off x="423253" y="2401832"/>
            <a:ext cx="11345493" cy="4140008"/>
          </a:xfrm>
        </p:spPr>
        <p:txBody>
          <a:bodyPr>
            <a:normAutofit/>
          </a:bodyPr>
          <a:lstStyle/>
          <a:p>
            <a:r>
              <a:rPr lang="en-US" sz="2000" dirty="0"/>
              <a:t>Choose top 3 models and create an ensemble method by using Majority Voting/Stacking method.</a:t>
            </a:r>
          </a:p>
          <a:p>
            <a:r>
              <a:rPr lang="en-US" sz="2000" dirty="0"/>
              <a:t>Choose only specific time period (for example, Credit Rating and corresponding financial indicators from 2017-2024).</a:t>
            </a:r>
          </a:p>
          <a:p>
            <a:r>
              <a:rPr lang="en-US" sz="2000" dirty="0"/>
              <a:t>Choose only corporate companies which were rated consistently over the specific time period (for example, has annual credit rating).</a:t>
            </a:r>
          </a:p>
          <a:p>
            <a:r>
              <a:rPr lang="en-US" sz="2000" dirty="0"/>
              <a:t>Have the same number or nearly equal number of observations in each rating class.</a:t>
            </a:r>
          </a:p>
          <a:p>
            <a:r>
              <a:rPr lang="en-US" sz="2000" dirty="0"/>
              <a:t>Perform feature selection for each model separately using Accuracy as the evaluation metric as dataset is balanced.</a:t>
            </a:r>
          </a:p>
          <a:p>
            <a:endParaRPr lang="en-US" sz="1600" dirty="0"/>
          </a:p>
          <a:p>
            <a:endParaRPr lang="en-US" sz="1600" dirty="0"/>
          </a:p>
        </p:txBody>
      </p:sp>
    </p:spTree>
    <p:extLst>
      <p:ext uri="{BB962C8B-B14F-4D97-AF65-F5344CB8AC3E}">
        <p14:creationId xmlns:p14="http://schemas.microsoft.com/office/powerpoint/2010/main" val="1362466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B9010-7E56-05DD-BA39-B81ECE4A13BF}"/>
              </a:ext>
            </a:extLst>
          </p:cNvPr>
          <p:cNvSpPr>
            <a:spLocks noGrp="1"/>
          </p:cNvSpPr>
          <p:nvPr>
            <p:ph type="title"/>
          </p:nvPr>
        </p:nvSpPr>
        <p:spPr/>
        <p:txBody>
          <a:bodyPr/>
          <a:lstStyle/>
          <a:p>
            <a:r>
              <a:rPr lang="en-US" dirty="0"/>
              <a:t>Appendix 1: Machine Learning models (LR)</a:t>
            </a:r>
          </a:p>
        </p:txBody>
      </p:sp>
      <p:sp>
        <p:nvSpPr>
          <p:cNvPr id="3" name="Content Placeholder 2">
            <a:extLst>
              <a:ext uri="{FF2B5EF4-FFF2-40B4-BE49-F238E27FC236}">
                <a16:creationId xmlns:a16="http://schemas.microsoft.com/office/drawing/2014/main" id="{C7B10E6A-98D2-4120-F1ED-D6CA5AA2E267}"/>
              </a:ext>
            </a:extLst>
          </p:cNvPr>
          <p:cNvSpPr>
            <a:spLocks noGrp="1"/>
          </p:cNvSpPr>
          <p:nvPr>
            <p:ph idx="1"/>
          </p:nvPr>
        </p:nvSpPr>
        <p:spPr>
          <a:xfrm>
            <a:off x="581192" y="2180496"/>
            <a:ext cx="11029615" cy="4134960"/>
          </a:xfrm>
        </p:spPr>
        <p:txBody>
          <a:bodyPr>
            <a:normAutofit/>
          </a:bodyPr>
          <a:lstStyle/>
          <a:p>
            <a:pPr marL="0" indent="0">
              <a:buNone/>
            </a:pPr>
            <a:r>
              <a:rPr lang="en-US" b="1" dirty="0"/>
              <a:t>1. Logistic Regression (LR)</a:t>
            </a:r>
          </a:p>
          <a:p>
            <a:pPr marL="0" indent="0">
              <a:buNone/>
            </a:pPr>
            <a:r>
              <a:rPr lang="en-US" b="1" dirty="0"/>
              <a:t>Mechanics</a:t>
            </a:r>
            <a:r>
              <a:rPr lang="en-US" dirty="0"/>
              <a:t>:</a:t>
            </a:r>
          </a:p>
          <a:p>
            <a:pPr marL="742950" lvl="1" indent="-285750"/>
            <a:r>
              <a:rPr lang="en-US" dirty="0"/>
              <a:t>Extends binary logistic regression using </a:t>
            </a:r>
            <a:r>
              <a:rPr lang="en-US" b="1" dirty="0" err="1"/>
              <a:t>softmax</a:t>
            </a:r>
            <a:r>
              <a:rPr lang="en-US" b="1" dirty="0"/>
              <a:t> regression</a:t>
            </a:r>
            <a:r>
              <a:rPr lang="en-US" dirty="0"/>
              <a:t> (generalized logistic function) to compute probabilities for multiple classes.</a:t>
            </a:r>
          </a:p>
          <a:p>
            <a:pPr marL="742950" lvl="1" indent="-285750"/>
            <a:r>
              <a:rPr lang="en-US" dirty="0"/>
              <a:t>Uses </a:t>
            </a:r>
            <a:r>
              <a:rPr lang="en-US" b="1" dirty="0"/>
              <a:t>cross-entropy loss</a:t>
            </a:r>
            <a:r>
              <a:rPr lang="en-US" dirty="0"/>
              <a:t> and optimization techniques (e.g., gradient descent).</a:t>
            </a:r>
          </a:p>
          <a:p>
            <a:pPr marL="742950" lvl="1" indent="-285750"/>
            <a:r>
              <a:rPr lang="en-US" dirty="0"/>
              <a:t>Assigns a sample to the class with the highest probability.</a:t>
            </a:r>
          </a:p>
          <a:p>
            <a:pPr marL="0" indent="0">
              <a:buNone/>
            </a:pPr>
            <a:r>
              <a:rPr lang="en-US" b="1" dirty="0"/>
              <a:t>Assumptions / Notes </a:t>
            </a:r>
            <a:r>
              <a:rPr lang="en-US" dirty="0"/>
              <a:t>:</a:t>
            </a:r>
          </a:p>
          <a:p>
            <a:pPr marL="742950" lvl="1" indent="-285750"/>
            <a:r>
              <a:rPr lang="en-US" b="1" dirty="0"/>
              <a:t>Linearity</a:t>
            </a:r>
            <a:r>
              <a:rPr lang="en-US" dirty="0"/>
              <a:t>: The relationship between predictors and log-odds is </a:t>
            </a:r>
            <a:r>
              <a:rPr lang="en-US" b="1" dirty="0"/>
              <a:t>linear</a:t>
            </a:r>
            <a:r>
              <a:rPr lang="en-US" dirty="0"/>
              <a:t>.</a:t>
            </a:r>
          </a:p>
          <a:p>
            <a:pPr marL="742950" lvl="1" indent="-285750"/>
            <a:r>
              <a:rPr lang="en-US" b="1" dirty="0"/>
              <a:t>Independence of features</a:t>
            </a:r>
            <a:r>
              <a:rPr lang="en-US" dirty="0"/>
              <a:t>: No multicollinearity.</a:t>
            </a:r>
          </a:p>
          <a:p>
            <a:pPr marL="742950" lvl="1" indent="-285750"/>
            <a:r>
              <a:rPr lang="en-US" b="1" dirty="0"/>
              <a:t>No extreme outliers</a:t>
            </a:r>
            <a:r>
              <a:rPr lang="en-US" dirty="0"/>
              <a:t>: Since they can distort coefficient estimates.</a:t>
            </a:r>
          </a:p>
          <a:p>
            <a:endParaRPr lang="en-US" dirty="0"/>
          </a:p>
        </p:txBody>
      </p:sp>
    </p:spTree>
    <p:extLst>
      <p:ext uri="{BB962C8B-B14F-4D97-AF65-F5344CB8AC3E}">
        <p14:creationId xmlns:p14="http://schemas.microsoft.com/office/powerpoint/2010/main" val="2230836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4829-FB2F-8D75-B073-245627BD1991}"/>
              </a:ext>
            </a:extLst>
          </p:cNvPr>
          <p:cNvSpPr>
            <a:spLocks noGrp="1"/>
          </p:cNvSpPr>
          <p:nvPr>
            <p:ph type="title"/>
          </p:nvPr>
        </p:nvSpPr>
        <p:spPr/>
        <p:txBody>
          <a:bodyPr/>
          <a:lstStyle/>
          <a:p>
            <a:r>
              <a:rPr lang="en-US" dirty="0"/>
              <a:t>Appendix 2: Machine Learning models (LDA)</a:t>
            </a:r>
          </a:p>
        </p:txBody>
      </p:sp>
      <p:sp>
        <p:nvSpPr>
          <p:cNvPr id="3" name="Content Placeholder 2">
            <a:extLst>
              <a:ext uri="{FF2B5EF4-FFF2-40B4-BE49-F238E27FC236}">
                <a16:creationId xmlns:a16="http://schemas.microsoft.com/office/drawing/2014/main" id="{F09C1D5C-5212-6FD9-0AE1-2F5E5F68582E}"/>
              </a:ext>
            </a:extLst>
          </p:cNvPr>
          <p:cNvSpPr>
            <a:spLocks noGrp="1"/>
          </p:cNvSpPr>
          <p:nvPr>
            <p:ph idx="1"/>
          </p:nvPr>
        </p:nvSpPr>
        <p:spPr>
          <a:xfrm>
            <a:off x="581192" y="2180496"/>
            <a:ext cx="11029615" cy="4159344"/>
          </a:xfrm>
        </p:spPr>
        <p:txBody>
          <a:bodyPr/>
          <a:lstStyle/>
          <a:p>
            <a:pPr marL="0" indent="0">
              <a:buNone/>
            </a:pPr>
            <a:r>
              <a:rPr lang="en-US" b="1" dirty="0"/>
              <a:t>2. Linear Discriminant Analysis (LDA)</a:t>
            </a:r>
          </a:p>
          <a:p>
            <a:pPr marL="0" indent="0">
              <a:buNone/>
            </a:pPr>
            <a:r>
              <a:rPr lang="en-US" b="1" dirty="0"/>
              <a:t>Mechanics</a:t>
            </a:r>
            <a:r>
              <a:rPr lang="en-US" dirty="0"/>
              <a:t>:</a:t>
            </a:r>
          </a:p>
          <a:p>
            <a:pPr marL="742950" lvl="1" indent="-285750"/>
            <a:r>
              <a:rPr lang="en-US" dirty="0"/>
              <a:t>Computes the </a:t>
            </a:r>
            <a:r>
              <a:rPr lang="en-US" b="1" dirty="0"/>
              <a:t>mean vector</a:t>
            </a:r>
            <a:r>
              <a:rPr lang="en-US" dirty="0"/>
              <a:t> and </a:t>
            </a:r>
            <a:r>
              <a:rPr lang="en-US" b="1" dirty="0"/>
              <a:t>covariance matrix</a:t>
            </a:r>
            <a:r>
              <a:rPr lang="en-US" dirty="0"/>
              <a:t> for each class.</a:t>
            </a:r>
          </a:p>
          <a:p>
            <a:pPr marL="742950" lvl="1" indent="-285750"/>
            <a:r>
              <a:rPr lang="en-US" dirty="0"/>
              <a:t>Projects data onto a new space that maximizes class separation using multiple discriminant axes.</a:t>
            </a:r>
          </a:p>
          <a:p>
            <a:pPr marL="742950" lvl="1" indent="-285750"/>
            <a:r>
              <a:rPr lang="en-US" dirty="0"/>
              <a:t>Uses </a:t>
            </a:r>
            <a:r>
              <a:rPr lang="en-US" b="1" dirty="0"/>
              <a:t>Bayes’ theorem</a:t>
            </a:r>
            <a:r>
              <a:rPr lang="en-US" dirty="0"/>
              <a:t> to assign a new sample to the most probable class.</a:t>
            </a:r>
          </a:p>
          <a:p>
            <a:pPr marL="0" indent="0">
              <a:buNone/>
            </a:pPr>
            <a:r>
              <a:rPr lang="en-US" b="1" dirty="0"/>
              <a:t>Assumptions / Notes</a:t>
            </a:r>
            <a:r>
              <a:rPr lang="en-US" dirty="0"/>
              <a:t>:</a:t>
            </a:r>
          </a:p>
          <a:p>
            <a:pPr marL="742950" lvl="1" indent="-285750"/>
            <a:r>
              <a:rPr lang="en-US" b="1" dirty="0"/>
              <a:t>Normal distribution</a:t>
            </a:r>
            <a:r>
              <a:rPr lang="en-US" dirty="0"/>
              <a:t>: Features within each class follow a Gaussian distribution.</a:t>
            </a:r>
          </a:p>
          <a:p>
            <a:pPr marL="742950" lvl="1" indent="-285750"/>
            <a:r>
              <a:rPr lang="en-US" b="1" dirty="0"/>
              <a:t>Equal covariance matrices</a:t>
            </a:r>
            <a:r>
              <a:rPr lang="en-US" dirty="0"/>
              <a:t>: The variance structure is the same across all classes.</a:t>
            </a:r>
          </a:p>
          <a:p>
            <a:pPr marL="742950" lvl="1" indent="-285750"/>
            <a:r>
              <a:rPr lang="en-US" b="1" dirty="0"/>
              <a:t>Independence</a:t>
            </a:r>
            <a:r>
              <a:rPr lang="en-US" dirty="0"/>
              <a:t>: Features should not be highly correlated.</a:t>
            </a:r>
          </a:p>
          <a:p>
            <a:endParaRPr lang="en-US" dirty="0"/>
          </a:p>
        </p:txBody>
      </p:sp>
    </p:spTree>
    <p:extLst>
      <p:ext uri="{BB962C8B-B14F-4D97-AF65-F5344CB8AC3E}">
        <p14:creationId xmlns:p14="http://schemas.microsoft.com/office/powerpoint/2010/main" val="5083711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12ABA-26D7-5029-245C-2FA3BD78E4A4}"/>
              </a:ext>
            </a:extLst>
          </p:cNvPr>
          <p:cNvSpPr>
            <a:spLocks noGrp="1"/>
          </p:cNvSpPr>
          <p:nvPr>
            <p:ph type="title"/>
          </p:nvPr>
        </p:nvSpPr>
        <p:spPr/>
        <p:txBody>
          <a:bodyPr/>
          <a:lstStyle/>
          <a:p>
            <a:r>
              <a:rPr lang="en-US" dirty="0"/>
              <a:t>Appendix 3: Machine Learning models (KNN)</a:t>
            </a:r>
          </a:p>
        </p:txBody>
      </p:sp>
      <p:sp>
        <p:nvSpPr>
          <p:cNvPr id="3" name="Content Placeholder 2">
            <a:extLst>
              <a:ext uri="{FF2B5EF4-FFF2-40B4-BE49-F238E27FC236}">
                <a16:creationId xmlns:a16="http://schemas.microsoft.com/office/drawing/2014/main" id="{7661FD5F-9331-55FD-460F-584C6458F765}"/>
              </a:ext>
            </a:extLst>
          </p:cNvPr>
          <p:cNvSpPr>
            <a:spLocks noGrp="1"/>
          </p:cNvSpPr>
          <p:nvPr>
            <p:ph idx="1"/>
          </p:nvPr>
        </p:nvSpPr>
        <p:spPr>
          <a:xfrm>
            <a:off x="581192" y="2180496"/>
            <a:ext cx="11029615" cy="3975348"/>
          </a:xfrm>
        </p:spPr>
        <p:txBody>
          <a:bodyPr/>
          <a:lstStyle/>
          <a:p>
            <a:pPr marL="0" indent="0">
              <a:buNone/>
            </a:pPr>
            <a:r>
              <a:rPr lang="en-US" b="1" dirty="0"/>
              <a:t>3. K-Nearest Neighbors (KNN)</a:t>
            </a:r>
          </a:p>
          <a:p>
            <a:pPr marL="0" indent="0">
              <a:buNone/>
            </a:pPr>
            <a:r>
              <a:rPr lang="en-US" b="1" dirty="0"/>
              <a:t>Mechanics</a:t>
            </a:r>
            <a:r>
              <a:rPr lang="en-US" dirty="0"/>
              <a:t>:</a:t>
            </a:r>
          </a:p>
          <a:p>
            <a:pPr marL="742950" lvl="1" indent="-285750"/>
            <a:r>
              <a:rPr lang="en-US" dirty="0"/>
              <a:t>Stores all training data and makes predictions based on the majority vote of the </a:t>
            </a:r>
            <a:r>
              <a:rPr lang="en-US" b="1" dirty="0"/>
              <a:t>k</a:t>
            </a:r>
            <a:r>
              <a:rPr lang="en-US" dirty="0"/>
              <a:t> closest points (neighbors).</a:t>
            </a:r>
          </a:p>
          <a:p>
            <a:pPr marL="742950" lvl="1" indent="-285750"/>
            <a:r>
              <a:rPr lang="en-US" dirty="0"/>
              <a:t>Uses distance metrics like </a:t>
            </a:r>
            <a:r>
              <a:rPr lang="en-US" b="1" dirty="0"/>
              <a:t>Euclidean distance</a:t>
            </a:r>
            <a:r>
              <a:rPr lang="en-US" dirty="0"/>
              <a:t> to measure similarity.</a:t>
            </a:r>
          </a:p>
          <a:p>
            <a:pPr marL="0" indent="0">
              <a:buNone/>
            </a:pPr>
            <a:r>
              <a:rPr lang="en-US" b="1" dirty="0"/>
              <a:t>Assumptions / Notes </a:t>
            </a:r>
            <a:r>
              <a:rPr lang="en-US" dirty="0"/>
              <a:t>:</a:t>
            </a:r>
          </a:p>
          <a:p>
            <a:pPr marL="742950" lvl="1" indent="-285750"/>
            <a:r>
              <a:rPr lang="en-US" b="1" dirty="0"/>
              <a:t>Local structure matters</a:t>
            </a:r>
            <a:r>
              <a:rPr lang="en-US" dirty="0"/>
              <a:t>: Nearby points should have the same class.</a:t>
            </a:r>
          </a:p>
          <a:p>
            <a:pPr marL="742950" lvl="1" indent="-285750"/>
            <a:r>
              <a:rPr lang="en-US" b="1" dirty="0"/>
              <a:t>All features contribute equally</a:t>
            </a:r>
            <a:r>
              <a:rPr lang="en-US" dirty="0"/>
              <a:t>: Requires proper feature scaling (e.g., Min-Max or Standardization).</a:t>
            </a:r>
          </a:p>
          <a:p>
            <a:pPr marL="742950" lvl="1" indent="-285750"/>
            <a:r>
              <a:rPr lang="en-US" b="1" dirty="0"/>
              <a:t>Curse of dimensionality</a:t>
            </a:r>
            <a:r>
              <a:rPr lang="en-US" dirty="0"/>
              <a:t>: High-dimensional data can make distance-based measures less meaningful.</a:t>
            </a:r>
          </a:p>
          <a:p>
            <a:endParaRPr lang="en-US" dirty="0"/>
          </a:p>
        </p:txBody>
      </p:sp>
    </p:spTree>
    <p:extLst>
      <p:ext uri="{BB962C8B-B14F-4D97-AF65-F5344CB8AC3E}">
        <p14:creationId xmlns:p14="http://schemas.microsoft.com/office/powerpoint/2010/main" val="1839379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4606-1F57-8BC0-2AF4-250279AEA7FE}"/>
              </a:ext>
            </a:extLst>
          </p:cNvPr>
          <p:cNvSpPr>
            <a:spLocks noGrp="1"/>
          </p:cNvSpPr>
          <p:nvPr>
            <p:ph type="title"/>
          </p:nvPr>
        </p:nvSpPr>
        <p:spPr/>
        <p:txBody>
          <a:bodyPr/>
          <a:lstStyle/>
          <a:p>
            <a:r>
              <a:rPr lang="en-US" dirty="0"/>
              <a:t>Appendix 4: Machine Learning models (RF)</a:t>
            </a:r>
          </a:p>
        </p:txBody>
      </p:sp>
      <p:sp>
        <p:nvSpPr>
          <p:cNvPr id="3" name="Content Placeholder 2">
            <a:extLst>
              <a:ext uri="{FF2B5EF4-FFF2-40B4-BE49-F238E27FC236}">
                <a16:creationId xmlns:a16="http://schemas.microsoft.com/office/drawing/2014/main" id="{BE39F28B-85EB-3D43-E860-86D4CC128592}"/>
              </a:ext>
            </a:extLst>
          </p:cNvPr>
          <p:cNvSpPr>
            <a:spLocks noGrp="1"/>
          </p:cNvSpPr>
          <p:nvPr>
            <p:ph idx="1"/>
          </p:nvPr>
        </p:nvSpPr>
        <p:spPr>
          <a:xfrm>
            <a:off x="581192" y="2180496"/>
            <a:ext cx="11029615" cy="3975348"/>
          </a:xfrm>
        </p:spPr>
        <p:txBody>
          <a:bodyPr/>
          <a:lstStyle/>
          <a:p>
            <a:pPr marL="0" indent="0">
              <a:buNone/>
            </a:pPr>
            <a:r>
              <a:rPr lang="en-US" b="1" dirty="0"/>
              <a:t>4. Random Forest (RF)</a:t>
            </a:r>
          </a:p>
          <a:p>
            <a:pPr marL="0" indent="0">
              <a:buNone/>
            </a:pPr>
            <a:r>
              <a:rPr lang="en-US" b="1" dirty="0"/>
              <a:t>Mechanics</a:t>
            </a:r>
            <a:r>
              <a:rPr lang="en-US" dirty="0"/>
              <a:t>:</a:t>
            </a:r>
          </a:p>
          <a:p>
            <a:pPr marL="742950" lvl="1" indent="-285750"/>
            <a:r>
              <a:rPr lang="en-US" dirty="0"/>
              <a:t>Creates multiple decision trees using </a:t>
            </a:r>
            <a:r>
              <a:rPr lang="en-US" b="1" dirty="0"/>
              <a:t>bootstrap sampling</a:t>
            </a:r>
            <a:r>
              <a:rPr lang="en-US" dirty="0"/>
              <a:t> (random subsets of data) and </a:t>
            </a:r>
            <a:r>
              <a:rPr lang="en-US" b="1" dirty="0"/>
              <a:t>random feature selection</a:t>
            </a:r>
            <a:r>
              <a:rPr lang="en-US" dirty="0"/>
              <a:t>.</a:t>
            </a:r>
          </a:p>
          <a:p>
            <a:pPr marL="742950" lvl="1" indent="-285750"/>
            <a:r>
              <a:rPr lang="en-US" dirty="0"/>
              <a:t>Aggregates predictions from all trees using majority voting (classification) or averaging (regression).</a:t>
            </a:r>
          </a:p>
          <a:p>
            <a:pPr marL="742950" lvl="1" indent="-285750"/>
            <a:r>
              <a:rPr lang="en-US" dirty="0"/>
              <a:t>Reduces overfitting compared to single decision trees.</a:t>
            </a:r>
          </a:p>
          <a:p>
            <a:pPr marL="0" indent="0">
              <a:buNone/>
            </a:pPr>
            <a:r>
              <a:rPr lang="en-US" b="1" dirty="0"/>
              <a:t>Assumptions/Notes</a:t>
            </a:r>
            <a:r>
              <a:rPr lang="en-US" dirty="0"/>
              <a:t>:</a:t>
            </a:r>
          </a:p>
          <a:p>
            <a:pPr marL="742950" lvl="1" indent="-285750"/>
            <a:r>
              <a:rPr lang="en-US" dirty="0"/>
              <a:t>Works well without strong assumptions about data distribution.</a:t>
            </a:r>
          </a:p>
          <a:p>
            <a:pPr marL="742950" lvl="1" indent="-285750"/>
            <a:r>
              <a:rPr lang="en-US" dirty="0"/>
              <a:t>Trees should be deep enough to capture patterns but not too deep to avoid overfitting.</a:t>
            </a:r>
          </a:p>
          <a:p>
            <a:pPr marL="742950" lvl="1" indent="-285750"/>
            <a:r>
              <a:rPr lang="en-US" dirty="0"/>
              <a:t>More trees generally improve stability but increase computation time.</a:t>
            </a:r>
          </a:p>
          <a:p>
            <a:endParaRPr lang="en-US" dirty="0"/>
          </a:p>
        </p:txBody>
      </p:sp>
    </p:spTree>
    <p:extLst>
      <p:ext uri="{BB962C8B-B14F-4D97-AF65-F5344CB8AC3E}">
        <p14:creationId xmlns:p14="http://schemas.microsoft.com/office/powerpoint/2010/main" val="3083584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8F60A-7133-1EE8-417A-8BEB5E3B3733}"/>
              </a:ext>
            </a:extLst>
          </p:cNvPr>
          <p:cNvSpPr>
            <a:spLocks noGrp="1"/>
          </p:cNvSpPr>
          <p:nvPr>
            <p:ph type="title"/>
          </p:nvPr>
        </p:nvSpPr>
        <p:spPr/>
        <p:txBody>
          <a:bodyPr/>
          <a:lstStyle/>
          <a:p>
            <a:r>
              <a:rPr lang="en-US" dirty="0"/>
              <a:t>Appendix 5: Machine Learning models (GB)</a:t>
            </a:r>
          </a:p>
        </p:txBody>
      </p:sp>
      <p:sp>
        <p:nvSpPr>
          <p:cNvPr id="3" name="Content Placeholder 2">
            <a:extLst>
              <a:ext uri="{FF2B5EF4-FFF2-40B4-BE49-F238E27FC236}">
                <a16:creationId xmlns:a16="http://schemas.microsoft.com/office/drawing/2014/main" id="{2372A4BF-079F-849D-E3E1-8FAE994E4FDE}"/>
              </a:ext>
            </a:extLst>
          </p:cNvPr>
          <p:cNvSpPr>
            <a:spLocks noGrp="1"/>
          </p:cNvSpPr>
          <p:nvPr>
            <p:ph idx="1"/>
          </p:nvPr>
        </p:nvSpPr>
        <p:spPr>
          <a:xfrm>
            <a:off x="581192" y="1962912"/>
            <a:ext cx="11029615" cy="4192932"/>
          </a:xfrm>
        </p:spPr>
        <p:txBody>
          <a:bodyPr>
            <a:normAutofit/>
          </a:bodyPr>
          <a:lstStyle/>
          <a:p>
            <a:pPr marL="0" indent="0">
              <a:buNone/>
            </a:pPr>
            <a:r>
              <a:rPr lang="en-US" b="1" dirty="0"/>
              <a:t>5. Gradient Boosting (GB)</a:t>
            </a:r>
          </a:p>
          <a:p>
            <a:pPr marL="0" indent="0">
              <a:buNone/>
            </a:pPr>
            <a:r>
              <a:rPr lang="en-US" b="1" dirty="0"/>
              <a:t>Mechanics</a:t>
            </a:r>
            <a:r>
              <a:rPr lang="en-US" dirty="0"/>
              <a:t>:</a:t>
            </a:r>
          </a:p>
          <a:p>
            <a:pPr marL="742950" lvl="1" indent="-285750"/>
            <a:r>
              <a:rPr lang="en-US" dirty="0"/>
              <a:t>Builds decision trees sequentially, where each new tree is trained on the residual errors of the previous trees.</a:t>
            </a:r>
          </a:p>
          <a:p>
            <a:pPr marL="742950" lvl="1" indent="-285750"/>
            <a:r>
              <a:rPr lang="en-US" dirty="0"/>
              <a:t>Uses a weighted sum of trees to make predictions.</a:t>
            </a:r>
          </a:p>
          <a:p>
            <a:pPr marL="742950" lvl="1" indent="-285750"/>
            <a:r>
              <a:rPr lang="en-US" dirty="0"/>
              <a:t>Boosting reduces bias by adding models iteratively and adjusting their importance using gradient descent.</a:t>
            </a:r>
          </a:p>
          <a:p>
            <a:pPr marL="742950" lvl="1" indent="-285750"/>
            <a:r>
              <a:rPr lang="en-US" dirty="0"/>
              <a:t>Regularization techniques (shrinkage, subsampling, tree depth limits) help prevent overfitting.</a:t>
            </a:r>
          </a:p>
          <a:p>
            <a:pPr marL="0" indent="0">
              <a:buNone/>
            </a:pPr>
            <a:r>
              <a:rPr lang="en-US" b="1" dirty="0"/>
              <a:t>Assumptions / Notes</a:t>
            </a:r>
            <a:r>
              <a:rPr lang="en-US" dirty="0"/>
              <a:t>:</a:t>
            </a:r>
          </a:p>
          <a:p>
            <a:pPr marL="742950" lvl="1" indent="-285750"/>
            <a:r>
              <a:rPr lang="en-US" dirty="0"/>
              <a:t>No strict assumptions about feature distribution or linearity.</a:t>
            </a:r>
          </a:p>
          <a:p>
            <a:pPr marL="742950" lvl="1" indent="-285750"/>
            <a:r>
              <a:rPr lang="en-US" dirty="0"/>
              <a:t>Sensitive to </a:t>
            </a:r>
            <a:r>
              <a:rPr lang="en-US" b="1" dirty="0"/>
              <a:t>hyperparameter tuning</a:t>
            </a:r>
            <a:r>
              <a:rPr lang="en-US" dirty="0"/>
              <a:t> (learning rate, number of trees, tree depth).</a:t>
            </a:r>
          </a:p>
          <a:p>
            <a:pPr marL="742950" lvl="1" indent="-285750"/>
            <a:r>
              <a:rPr lang="en-US" dirty="0"/>
              <a:t>Can overfit if too many trees are added without regularization.</a:t>
            </a:r>
          </a:p>
          <a:p>
            <a:endParaRPr lang="en-US" dirty="0"/>
          </a:p>
        </p:txBody>
      </p:sp>
    </p:spTree>
    <p:extLst>
      <p:ext uri="{BB962C8B-B14F-4D97-AF65-F5344CB8AC3E}">
        <p14:creationId xmlns:p14="http://schemas.microsoft.com/office/powerpoint/2010/main" val="14037631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EFB38-5782-92C8-749B-04A77AF4FC21}"/>
              </a:ext>
            </a:extLst>
          </p:cNvPr>
          <p:cNvSpPr>
            <a:spLocks noGrp="1"/>
          </p:cNvSpPr>
          <p:nvPr>
            <p:ph type="title"/>
          </p:nvPr>
        </p:nvSpPr>
        <p:spPr/>
        <p:txBody>
          <a:bodyPr/>
          <a:lstStyle/>
          <a:p>
            <a:r>
              <a:rPr lang="en-US" dirty="0"/>
              <a:t>Appendix 6: Feature Selection (ANOVA F TEST + multicollinearity)</a:t>
            </a:r>
          </a:p>
        </p:txBody>
      </p:sp>
      <p:sp>
        <p:nvSpPr>
          <p:cNvPr id="3" name="Content Placeholder 2">
            <a:extLst>
              <a:ext uri="{FF2B5EF4-FFF2-40B4-BE49-F238E27FC236}">
                <a16:creationId xmlns:a16="http://schemas.microsoft.com/office/drawing/2014/main" id="{B80EF019-28C4-26B2-BC3F-D77B6E7B55FF}"/>
              </a:ext>
            </a:extLst>
          </p:cNvPr>
          <p:cNvSpPr>
            <a:spLocks noGrp="1"/>
          </p:cNvSpPr>
          <p:nvPr>
            <p:ph idx="1"/>
          </p:nvPr>
        </p:nvSpPr>
        <p:spPr>
          <a:xfrm>
            <a:off x="397844" y="1987990"/>
            <a:ext cx="5992565" cy="3678303"/>
          </a:xfrm>
        </p:spPr>
        <p:txBody>
          <a:bodyPr>
            <a:normAutofit/>
          </a:bodyPr>
          <a:lstStyle/>
          <a:p>
            <a:r>
              <a:rPr lang="en-US" dirty="0"/>
              <a:t>Correlation matrix for 16 predictors from ANOVA F Test </a:t>
            </a:r>
          </a:p>
          <a:p>
            <a:pPr lvl="1"/>
            <a:r>
              <a:rPr lang="en-US" dirty="0"/>
              <a:t>Severe Multicollinearity</a:t>
            </a:r>
          </a:p>
          <a:p>
            <a:pPr lvl="1"/>
            <a:r>
              <a:rPr lang="en-US" dirty="0" err="1"/>
              <a:t>preTaxProfitMargin</a:t>
            </a:r>
            <a:r>
              <a:rPr lang="en-US" dirty="0"/>
              <a:t> &amp;</a:t>
            </a:r>
            <a:r>
              <a:rPr lang="en-US" dirty="0" err="1"/>
              <a:t>ebitPerRevenue</a:t>
            </a:r>
            <a:r>
              <a:rPr lang="en-US" dirty="0"/>
              <a:t> – 0.98</a:t>
            </a:r>
          </a:p>
          <a:p>
            <a:pPr lvl="1"/>
            <a:r>
              <a:rPr lang="en-US" dirty="0" err="1"/>
              <a:t>ReturnOnAssets</a:t>
            </a:r>
            <a:r>
              <a:rPr lang="en-US" dirty="0"/>
              <a:t> &amp; </a:t>
            </a:r>
            <a:r>
              <a:rPr lang="en-US" dirty="0" err="1"/>
              <a:t>ReturnOnCapitalEmployed</a:t>
            </a:r>
            <a:r>
              <a:rPr lang="en-US" dirty="0"/>
              <a:t> – 0.89</a:t>
            </a:r>
          </a:p>
          <a:p>
            <a:pPr lvl="1"/>
            <a:r>
              <a:rPr lang="en-US" dirty="0" err="1"/>
              <a:t>preTaxProfitMargin</a:t>
            </a:r>
            <a:r>
              <a:rPr lang="en-US" dirty="0"/>
              <a:t> &amp; </a:t>
            </a:r>
            <a:r>
              <a:rPr lang="en-US" dirty="0" err="1"/>
              <a:t>operatingProfitMargin</a:t>
            </a:r>
            <a:r>
              <a:rPr lang="en-US" dirty="0"/>
              <a:t> – 0.9</a:t>
            </a:r>
          </a:p>
          <a:p>
            <a:pPr lvl="1"/>
            <a:r>
              <a:rPr lang="en-US" dirty="0" err="1"/>
              <a:t>preTaxProfitMargin&amp;NetProfitMargin</a:t>
            </a:r>
            <a:r>
              <a:rPr lang="en-US" dirty="0"/>
              <a:t> – 0.9</a:t>
            </a:r>
          </a:p>
        </p:txBody>
      </p:sp>
      <p:pic>
        <p:nvPicPr>
          <p:cNvPr id="4" name="Content Placeholder 8">
            <a:extLst>
              <a:ext uri="{FF2B5EF4-FFF2-40B4-BE49-F238E27FC236}">
                <a16:creationId xmlns:a16="http://schemas.microsoft.com/office/drawing/2014/main" id="{953A2089-FDBC-F179-7B21-83E23D074911}"/>
              </a:ext>
            </a:extLst>
          </p:cNvPr>
          <p:cNvPicPr>
            <a:picLocks noChangeAspect="1"/>
          </p:cNvPicPr>
          <p:nvPr/>
        </p:nvPicPr>
        <p:blipFill>
          <a:blip r:embed="rId2"/>
          <a:stretch>
            <a:fillRect/>
          </a:stretch>
        </p:blipFill>
        <p:spPr>
          <a:xfrm>
            <a:off x="5801591" y="1800796"/>
            <a:ext cx="5992565" cy="5057204"/>
          </a:xfrm>
          <a:prstGeom prst="rect">
            <a:avLst/>
          </a:prstGeom>
        </p:spPr>
      </p:pic>
    </p:spTree>
    <p:extLst>
      <p:ext uri="{BB962C8B-B14F-4D97-AF65-F5344CB8AC3E}">
        <p14:creationId xmlns:p14="http://schemas.microsoft.com/office/powerpoint/2010/main" val="32213333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4BE8F-51CF-00C2-77A0-88CADDD9B843}"/>
              </a:ext>
            </a:extLst>
          </p:cNvPr>
          <p:cNvSpPr>
            <a:spLocks noGrp="1"/>
          </p:cNvSpPr>
          <p:nvPr>
            <p:ph type="title"/>
          </p:nvPr>
        </p:nvSpPr>
        <p:spPr/>
        <p:txBody>
          <a:bodyPr/>
          <a:lstStyle/>
          <a:p>
            <a:r>
              <a:rPr lang="en-US" dirty="0"/>
              <a:t>Appendix 7: Feature Selection (ANOVA F TEST + multicollinearity)</a:t>
            </a:r>
          </a:p>
        </p:txBody>
      </p:sp>
      <p:sp>
        <p:nvSpPr>
          <p:cNvPr id="3" name="Content Placeholder 2">
            <a:extLst>
              <a:ext uri="{FF2B5EF4-FFF2-40B4-BE49-F238E27FC236}">
                <a16:creationId xmlns:a16="http://schemas.microsoft.com/office/drawing/2014/main" id="{10364E3D-050C-C0CD-397F-E5F5164C8558}"/>
              </a:ext>
            </a:extLst>
          </p:cNvPr>
          <p:cNvSpPr>
            <a:spLocks noGrp="1"/>
          </p:cNvSpPr>
          <p:nvPr>
            <p:ph idx="1"/>
          </p:nvPr>
        </p:nvSpPr>
        <p:spPr>
          <a:xfrm>
            <a:off x="581192" y="2180496"/>
            <a:ext cx="5831483" cy="3678303"/>
          </a:xfrm>
        </p:spPr>
        <p:txBody>
          <a:bodyPr/>
          <a:lstStyle/>
          <a:p>
            <a:r>
              <a:rPr lang="en-US" dirty="0"/>
              <a:t>VIF for 16 predictors from ANOVA F Test. </a:t>
            </a:r>
          </a:p>
          <a:p>
            <a:r>
              <a:rPr lang="en-US" dirty="0"/>
              <a:t>Severe Multicollinearity</a:t>
            </a:r>
          </a:p>
          <a:p>
            <a:r>
              <a:rPr lang="en-US" sz="1800" dirty="0" err="1"/>
              <a:t>preTaxProfitMargin</a:t>
            </a:r>
            <a:r>
              <a:rPr lang="en-US" sz="1800" dirty="0"/>
              <a:t> and </a:t>
            </a:r>
            <a:r>
              <a:rPr lang="en-US" sz="1800" dirty="0" err="1"/>
              <a:t>ebitPerRevenue</a:t>
            </a:r>
            <a:r>
              <a:rPr lang="en-US" sz="1800" dirty="0"/>
              <a:t> (VIF = 37.1) </a:t>
            </a:r>
          </a:p>
          <a:p>
            <a:pPr marL="324000" lvl="1" indent="0">
              <a:buNone/>
            </a:pPr>
            <a:r>
              <a:rPr lang="en-US" dirty="0"/>
              <a:t>- severe multicollinearity (VIF&gt;16)</a:t>
            </a:r>
          </a:p>
          <a:p>
            <a:endParaRPr lang="en-US" dirty="0"/>
          </a:p>
        </p:txBody>
      </p:sp>
      <p:pic>
        <p:nvPicPr>
          <p:cNvPr id="4" name="Content Placeholder 4">
            <a:extLst>
              <a:ext uri="{FF2B5EF4-FFF2-40B4-BE49-F238E27FC236}">
                <a16:creationId xmlns:a16="http://schemas.microsoft.com/office/drawing/2014/main" id="{2A5A059B-1522-6C6C-EE80-B07D56E1DD70}"/>
              </a:ext>
            </a:extLst>
          </p:cNvPr>
          <p:cNvPicPr>
            <a:picLocks noChangeAspect="1"/>
          </p:cNvPicPr>
          <p:nvPr/>
        </p:nvPicPr>
        <p:blipFill rotWithShape="1">
          <a:blip r:embed="rId2"/>
          <a:srcRect t="21448" r="12961" b="19090"/>
          <a:stretch/>
        </p:blipFill>
        <p:spPr>
          <a:xfrm>
            <a:off x="7042068" y="2180496"/>
            <a:ext cx="3918857" cy="4019201"/>
          </a:xfrm>
          <a:prstGeom prst="rect">
            <a:avLst/>
          </a:prstGeom>
        </p:spPr>
      </p:pic>
    </p:spTree>
    <p:extLst>
      <p:ext uri="{BB962C8B-B14F-4D97-AF65-F5344CB8AC3E}">
        <p14:creationId xmlns:p14="http://schemas.microsoft.com/office/powerpoint/2010/main" val="41898362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4C5F1-11EE-FACD-A5E3-D204097DF6E8}"/>
              </a:ext>
            </a:extLst>
          </p:cNvPr>
          <p:cNvSpPr>
            <a:spLocks noGrp="1"/>
          </p:cNvSpPr>
          <p:nvPr>
            <p:ph type="title"/>
          </p:nvPr>
        </p:nvSpPr>
        <p:spPr/>
        <p:txBody>
          <a:bodyPr/>
          <a:lstStyle/>
          <a:p>
            <a:r>
              <a:rPr lang="en-US" dirty="0"/>
              <a:t>Appendix 8: Multicollinearity (ANOVA F Test optimal subset)</a:t>
            </a:r>
          </a:p>
        </p:txBody>
      </p:sp>
      <p:pic>
        <p:nvPicPr>
          <p:cNvPr id="4" name="Content Placeholder 3">
            <a:extLst>
              <a:ext uri="{FF2B5EF4-FFF2-40B4-BE49-F238E27FC236}">
                <a16:creationId xmlns:a16="http://schemas.microsoft.com/office/drawing/2014/main" id="{868FA7DE-41AC-E821-FC45-3BF5C26B2C98}"/>
              </a:ext>
            </a:extLst>
          </p:cNvPr>
          <p:cNvPicPr>
            <a:picLocks noGrp="1" noChangeAspect="1"/>
          </p:cNvPicPr>
          <p:nvPr>
            <p:ph idx="1"/>
          </p:nvPr>
        </p:nvPicPr>
        <p:blipFill rotWithShape="1">
          <a:blip r:embed="rId2"/>
          <a:srcRect t="17866" r="12603" b="17926"/>
          <a:stretch/>
        </p:blipFill>
        <p:spPr>
          <a:xfrm>
            <a:off x="810309" y="1983179"/>
            <a:ext cx="4094200" cy="4295816"/>
          </a:xfrm>
          <a:prstGeom prst="rect">
            <a:avLst/>
          </a:prstGeom>
        </p:spPr>
      </p:pic>
      <p:pic>
        <p:nvPicPr>
          <p:cNvPr id="5" name="Picture 4">
            <a:extLst>
              <a:ext uri="{FF2B5EF4-FFF2-40B4-BE49-F238E27FC236}">
                <a16:creationId xmlns:a16="http://schemas.microsoft.com/office/drawing/2014/main" id="{08A65EF1-6985-0BA6-E85F-F25E1CEB00D9}"/>
              </a:ext>
            </a:extLst>
          </p:cNvPr>
          <p:cNvPicPr>
            <a:picLocks noChangeAspect="1"/>
          </p:cNvPicPr>
          <p:nvPr/>
        </p:nvPicPr>
        <p:blipFill>
          <a:blip r:embed="rId3"/>
          <a:stretch>
            <a:fillRect/>
          </a:stretch>
        </p:blipFill>
        <p:spPr>
          <a:xfrm>
            <a:off x="5776739" y="2045605"/>
            <a:ext cx="5742326" cy="4295817"/>
          </a:xfrm>
          <a:prstGeom prst="rect">
            <a:avLst/>
          </a:prstGeom>
        </p:spPr>
      </p:pic>
      <p:sp>
        <p:nvSpPr>
          <p:cNvPr id="6" name="TextBox 5">
            <a:extLst>
              <a:ext uri="{FF2B5EF4-FFF2-40B4-BE49-F238E27FC236}">
                <a16:creationId xmlns:a16="http://schemas.microsoft.com/office/drawing/2014/main" id="{1106E66D-D77B-B68B-787F-C9C2F57E7F16}"/>
              </a:ext>
            </a:extLst>
          </p:cNvPr>
          <p:cNvSpPr txBox="1"/>
          <p:nvPr/>
        </p:nvSpPr>
        <p:spPr>
          <a:xfrm>
            <a:off x="810309" y="6094329"/>
            <a:ext cx="3995389" cy="276999"/>
          </a:xfrm>
          <a:prstGeom prst="rect">
            <a:avLst/>
          </a:prstGeom>
          <a:noFill/>
        </p:spPr>
        <p:txBody>
          <a:bodyPr wrap="none" rtlCol="0">
            <a:spAutoFit/>
          </a:bodyPr>
          <a:lstStyle/>
          <a:p>
            <a:r>
              <a:rPr lang="en-US" sz="1200" dirty="0"/>
              <a:t>Fig1: VIF for optimal subset of predictors from ANOVA F Test</a:t>
            </a:r>
          </a:p>
        </p:txBody>
      </p:sp>
      <p:sp>
        <p:nvSpPr>
          <p:cNvPr id="7" name="TextBox 6">
            <a:extLst>
              <a:ext uri="{FF2B5EF4-FFF2-40B4-BE49-F238E27FC236}">
                <a16:creationId xmlns:a16="http://schemas.microsoft.com/office/drawing/2014/main" id="{C02BD7E1-C557-390F-93B6-FAAB6ECE77C5}"/>
              </a:ext>
            </a:extLst>
          </p:cNvPr>
          <p:cNvSpPr txBox="1"/>
          <p:nvPr/>
        </p:nvSpPr>
        <p:spPr>
          <a:xfrm>
            <a:off x="6773254" y="6301739"/>
            <a:ext cx="4608438" cy="738664"/>
          </a:xfrm>
          <a:prstGeom prst="rect">
            <a:avLst/>
          </a:prstGeom>
          <a:noFill/>
        </p:spPr>
        <p:txBody>
          <a:bodyPr wrap="square" rtlCol="0">
            <a:spAutoFit/>
          </a:bodyPr>
          <a:lstStyle/>
          <a:p>
            <a:r>
              <a:rPr lang="en-US" sz="1200" dirty="0"/>
              <a:t>Fig2:  Correlation matrix for optimal subset of predictors</a:t>
            </a:r>
          </a:p>
          <a:p>
            <a:r>
              <a:rPr lang="en-US" sz="1200" dirty="0"/>
              <a:t> from ANOVA F Test</a:t>
            </a:r>
          </a:p>
          <a:p>
            <a:endParaRPr lang="en-US" dirty="0"/>
          </a:p>
        </p:txBody>
      </p:sp>
    </p:spTree>
    <p:extLst>
      <p:ext uri="{BB962C8B-B14F-4D97-AF65-F5344CB8AC3E}">
        <p14:creationId xmlns:p14="http://schemas.microsoft.com/office/powerpoint/2010/main" val="795978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4D10-05A8-F687-0DAA-CB0F852ED537}"/>
              </a:ext>
            </a:extLst>
          </p:cNvPr>
          <p:cNvSpPr>
            <a:spLocks noGrp="1"/>
          </p:cNvSpPr>
          <p:nvPr>
            <p:ph type="title"/>
          </p:nvPr>
        </p:nvSpPr>
        <p:spPr/>
        <p:txBody>
          <a:bodyPr/>
          <a:lstStyle/>
          <a:p>
            <a:r>
              <a:rPr lang="en-US" dirty="0"/>
              <a:t>Appendix 9: Backward Elimination</a:t>
            </a:r>
          </a:p>
        </p:txBody>
      </p:sp>
      <p:sp>
        <p:nvSpPr>
          <p:cNvPr id="17" name="Content Placeholder 16">
            <a:extLst>
              <a:ext uri="{FF2B5EF4-FFF2-40B4-BE49-F238E27FC236}">
                <a16:creationId xmlns:a16="http://schemas.microsoft.com/office/drawing/2014/main" id="{A7182B87-1801-0C5F-1535-9B96FB6C905E}"/>
              </a:ext>
            </a:extLst>
          </p:cNvPr>
          <p:cNvSpPr>
            <a:spLocks noGrp="1"/>
          </p:cNvSpPr>
          <p:nvPr>
            <p:ph idx="1"/>
          </p:nvPr>
        </p:nvSpPr>
        <p:spPr>
          <a:xfrm>
            <a:off x="355600" y="1929159"/>
            <a:ext cx="7106796" cy="4817081"/>
          </a:xfrm>
        </p:spPr>
        <p:txBody>
          <a:bodyPr>
            <a:normAutofit/>
          </a:bodyPr>
          <a:lstStyle/>
          <a:p>
            <a:pPr>
              <a:buFont typeface="Wingdings" pitchFamily="2" charset="2"/>
              <a:buChar char="§"/>
            </a:pPr>
            <a:r>
              <a:rPr lang="en-US" dirty="0"/>
              <a:t>It starts with all features (26 predictors) and removes the least important ones until macro-averaged F1 – score stops improving. </a:t>
            </a:r>
          </a:p>
          <a:p>
            <a:pPr>
              <a:buFont typeface="Wingdings" pitchFamily="2" charset="2"/>
              <a:buChar char="§"/>
            </a:pPr>
            <a:r>
              <a:rPr lang="en-US" b="1" dirty="0"/>
              <a:t>For each subset of features</a:t>
            </a:r>
            <a:r>
              <a:rPr lang="en-US" dirty="0"/>
              <a:t>, the model is evaluated using 5-fold cross-validation.</a:t>
            </a:r>
          </a:p>
          <a:p>
            <a:pPr>
              <a:buFont typeface="Wingdings" pitchFamily="2" charset="2"/>
              <a:buChar char="§"/>
            </a:pPr>
            <a:r>
              <a:rPr lang="en-US" dirty="0"/>
              <a:t>Cross-validation (CV) is a technique used to </a:t>
            </a:r>
            <a:r>
              <a:rPr lang="en-US" b="1" dirty="0"/>
              <a:t>evaluate the performance</a:t>
            </a:r>
            <a:r>
              <a:rPr lang="en-US" dirty="0"/>
              <a:t> of a model by splitting the dataset into multiple parts (folds) and testing it on different subsets.</a:t>
            </a:r>
          </a:p>
          <a:p>
            <a:pPr>
              <a:buFont typeface="Wingdings" pitchFamily="2" charset="2"/>
              <a:buChar char="§"/>
            </a:pPr>
            <a:r>
              <a:rPr lang="en-US" dirty="0"/>
              <a:t>In </a:t>
            </a:r>
            <a:r>
              <a:rPr lang="en-US" b="1" dirty="0"/>
              <a:t>5-fold cross-validation</a:t>
            </a:r>
            <a:r>
              <a:rPr lang="en-US" dirty="0"/>
              <a:t>, the dataset is divided into </a:t>
            </a:r>
            <a:r>
              <a:rPr lang="en-US" b="1" dirty="0"/>
              <a:t>5 equal parts</a:t>
            </a:r>
            <a:r>
              <a:rPr lang="en-US" dirty="0"/>
              <a:t> (folds).</a:t>
            </a:r>
          </a:p>
          <a:p>
            <a:pPr>
              <a:buFont typeface="Wingdings" pitchFamily="2" charset="2"/>
              <a:buChar char="§"/>
            </a:pPr>
            <a:r>
              <a:rPr lang="en-US" dirty="0"/>
              <a:t>The model is trained on </a:t>
            </a:r>
            <a:r>
              <a:rPr lang="en-US" b="1" dirty="0"/>
              <a:t>4 folds</a:t>
            </a:r>
            <a:r>
              <a:rPr lang="en-US" dirty="0"/>
              <a:t> and tested on the </a:t>
            </a:r>
            <a:r>
              <a:rPr lang="en-US" b="1" dirty="0"/>
              <a:t>remaining fold</a:t>
            </a:r>
            <a:r>
              <a:rPr lang="en-US" dirty="0"/>
              <a:t>.</a:t>
            </a:r>
          </a:p>
          <a:p>
            <a:pPr>
              <a:buFont typeface="Wingdings" pitchFamily="2" charset="2"/>
              <a:buChar char="§"/>
            </a:pPr>
            <a:r>
              <a:rPr lang="en-US" dirty="0"/>
              <a:t>This process repeats </a:t>
            </a:r>
            <a:r>
              <a:rPr lang="en-US" b="1" dirty="0"/>
              <a:t>5 times</a:t>
            </a:r>
            <a:r>
              <a:rPr lang="en-US" dirty="0"/>
              <a:t>, with each fold used as the test set once.</a:t>
            </a:r>
          </a:p>
          <a:p>
            <a:pPr>
              <a:buFont typeface="Wingdings" pitchFamily="2" charset="2"/>
              <a:buChar char="§"/>
            </a:pPr>
            <a:r>
              <a:rPr lang="en-US" dirty="0"/>
              <a:t>The final model performance is averaged over all </a:t>
            </a:r>
            <a:r>
              <a:rPr lang="en-US" b="1" dirty="0"/>
              <a:t>5 iterations</a:t>
            </a:r>
            <a:r>
              <a:rPr lang="en-US" dirty="0"/>
              <a:t> to reduce randomness.</a:t>
            </a:r>
          </a:p>
        </p:txBody>
      </p:sp>
      <p:pic>
        <p:nvPicPr>
          <p:cNvPr id="4098" name="Picture 2" descr="Cross Validation. Cross-validation is a technique for… | by om pramod |  Medium">
            <a:extLst>
              <a:ext uri="{FF2B5EF4-FFF2-40B4-BE49-F238E27FC236}">
                <a16:creationId xmlns:a16="http://schemas.microsoft.com/office/drawing/2014/main" id="{1B911C00-29BE-AAC2-CE0D-0455D900F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2396" y="2213517"/>
            <a:ext cx="4729604" cy="3785840"/>
          </a:xfrm>
          <a:prstGeom prst="rect">
            <a:avLst/>
          </a:prstGeom>
          <a:noFill/>
          <a:extLst>
            <a:ext uri="{909E8E84-426E-40dd-AFC4-6F175D3DCCD1}">
              <a14:hiddenFill xmlns:a14="http://schemas.microsoft.com/office/drawing/2010/main" xmlns="">
                <a:solidFill>
                  <a:srgbClr val="FFFFFF"/>
                </a:solidFill>
              </a14:hiddenFill>
            </a:ext>
          </a:extLst>
        </p:spPr>
      </p:pic>
      <p:sp>
        <p:nvSpPr>
          <p:cNvPr id="18" name="TextBox 17">
            <a:extLst>
              <a:ext uri="{FF2B5EF4-FFF2-40B4-BE49-F238E27FC236}">
                <a16:creationId xmlns:a16="http://schemas.microsoft.com/office/drawing/2014/main" id="{0A6A5BB9-717E-90D8-3285-0BFFE131A697}"/>
              </a:ext>
            </a:extLst>
          </p:cNvPr>
          <p:cNvSpPr txBox="1"/>
          <p:nvPr/>
        </p:nvSpPr>
        <p:spPr>
          <a:xfrm>
            <a:off x="8463776" y="5914379"/>
            <a:ext cx="1687321" cy="369332"/>
          </a:xfrm>
          <a:prstGeom prst="rect">
            <a:avLst/>
          </a:prstGeom>
          <a:noFill/>
        </p:spPr>
        <p:txBody>
          <a:bodyPr wrap="none" rtlCol="0">
            <a:spAutoFit/>
          </a:bodyPr>
          <a:lstStyle/>
          <a:p>
            <a:r>
              <a:rPr lang="en-US" dirty="0"/>
              <a:t>Cross validation</a:t>
            </a:r>
          </a:p>
        </p:txBody>
      </p:sp>
    </p:spTree>
    <p:extLst>
      <p:ext uri="{BB962C8B-B14F-4D97-AF65-F5344CB8AC3E}">
        <p14:creationId xmlns:p14="http://schemas.microsoft.com/office/powerpoint/2010/main" val="2849141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C85DF-FCD0-DC59-2DA5-819030C905E1}"/>
              </a:ext>
            </a:extLst>
          </p:cNvPr>
          <p:cNvSpPr>
            <a:spLocks noGrp="1"/>
          </p:cNvSpPr>
          <p:nvPr>
            <p:ph type="title"/>
          </p:nvPr>
        </p:nvSpPr>
        <p:spPr/>
        <p:txBody>
          <a:bodyPr/>
          <a:lstStyle/>
          <a:p>
            <a:r>
              <a:rPr lang="en-US" dirty="0"/>
              <a:t>Appendix 10: Parameter Tuning</a:t>
            </a:r>
          </a:p>
        </p:txBody>
      </p:sp>
      <p:sp>
        <p:nvSpPr>
          <p:cNvPr id="3" name="Content Placeholder 2">
            <a:extLst>
              <a:ext uri="{FF2B5EF4-FFF2-40B4-BE49-F238E27FC236}">
                <a16:creationId xmlns:a16="http://schemas.microsoft.com/office/drawing/2014/main" id="{ADA304A2-E011-48A5-EA46-FBA59E785932}"/>
              </a:ext>
            </a:extLst>
          </p:cNvPr>
          <p:cNvSpPr>
            <a:spLocks noGrp="1"/>
          </p:cNvSpPr>
          <p:nvPr>
            <p:ph idx="1"/>
          </p:nvPr>
        </p:nvSpPr>
        <p:spPr>
          <a:xfrm>
            <a:off x="379062" y="2190122"/>
            <a:ext cx="11029615" cy="3678303"/>
          </a:xfrm>
        </p:spPr>
        <p:txBody>
          <a:bodyPr/>
          <a:lstStyle/>
          <a:p>
            <a:r>
              <a:rPr lang="en-US" dirty="0"/>
              <a:t>Gradient Boosting:  “</a:t>
            </a:r>
            <a:r>
              <a:rPr lang="en-US" dirty="0" err="1"/>
              <a:t>n_estimators</a:t>
            </a:r>
            <a:r>
              <a:rPr lang="en-US" dirty="0"/>
              <a:t>": [100, 200,300, 400, 500],  "</a:t>
            </a:r>
            <a:r>
              <a:rPr lang="en-US" dirty="0" err="1"/>
              <a:t>learning_rate</a:t>
            </a:r>
            <a:r>
              <a:rPr lang="en-US" dirty="0"/>
              <a:t>": [0.01, 0.05, 0.1, 0.2, 0.3], "</a:t>
            </a:r>
            <a:r>
              <a:rPr lang="en-US" dirty="0" err="1"/>
              <a:t>max_depth</a:t>
            </a:r>
            <a:r>
              <a:rPr lang="en-US" dirty="0"/>
              <a:t>": [3, 4, 5, 6, 7, 8, 9]</a:t>
            </a:r>
          </a:p>
          <a:p>
            <a:r>
              <a:rPr lang="en-US" dirty="0"/>
              <a:t>Random Forest:  “</a:t>
            </a:r>
            <a:r>
              <a:rPr lang="en-US" dirty="0" err="1"/>
              <a:t>n_estimators</a:t>
            </a:r>
            <a:r>
              <a:rPr lang="en-US" dirty="0"/>
              <a:t>”:  [100, 200, 300],  </a:t>
            </a:r>
            <a:r>
              <a:rPr lang="en-US" dirty="0" err="1"/>
              <a:t>max_depth</a:t>
            </a:r>
            <a:r>
              <a:rPr lang="en-US" dirty="0"/>
              <a:t>": [None, 10, 20], "</a:t>
            </a:r>
            <a:r>
              <a:rPr lang="en-US" dirty="0" err="1"/>
              <a:t>min_samples_split</a:t>
            </a:r>
            <a:r>
              <a:rPr lang="en-US" dirty="0"/>
              <a:t>": [2,5,10]</a:t>
            </a:r>
          </a:p>
          <a:p>
            <a:r>
              <a:rPr lang="en-US" dirty="0"/>
              <a:t>Linear Discriminant Analysis:  "solver": ["</a:t>
            </a:r>
            <a:r>
              <a:rPr lang="en-US" dirty="0" err="1"/>
              <a:t>svd</a:t>
            </a:r>
            <a:r>
              <a:rPr lang="en-US" dirty="0"/>
              <a:t>", "</a:t>
            </a:r>
            <a:r>
              <a:rPr lang="en-US" dirty="0" err="1"/>
              <a:t>lsqr</a:t>
            </a:r>
            <a:r>
              <a:rPr lang="en-US" dirty="0"/>
              <a:t>"]</a:t>
            </a:r>
          </a:p>
          <a:p>
            <a:r>
              <a:rPr lang="en-US" dirty="0"/>
              <a:t>Logistic Regression:  C: [0.1, 1, 10]</a:t>
            </a:r>
          </a:p>
          <a:p>
            <a:r>
              <a:rPr lang="en-US" dirty="0"/>
              <a:t>KNN:  "</a:t>
            </a:r>
            <a:r>
              <a:rPr lang="en-US" dirty="0" err="1"/>
              <a:t>n_neighbors</a:t>
            </a:r>
            <a:r>
              <a:rPr lang="en-US" dirty="0"/>
              <a:t>": 1-20</a:t>
            </a:r>
          </a:p>
          <a:p>
            <a:endParaRPr lang="en-US" dirty="0"/>
          </a:p>
        </p:txBody>
      </p:sp>
    </p:spTree>
    <p:extLst>
      <p:ext uri="{BB962C8B-B14F-4D97-AF65-F5344CB8AC3E}">
        <p14:creationId xmlns:p14="http://schemas.microsoft.com/office/powerpoint/2010/main" val="23498345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200A-CB6C-D1B2-8D92-6E65789D0EA1}"/>
              </a:ext>
            </a:extLst>
          </p:cNvPr>
          <p:cNvSpPr>
            <a:spLocks noGrp="1"/>
          </p:cNvSpPr>
          <p:nvPr>
            <p:ph type="title"/>
          </p:nvPr>
        </p:nvSpPr>
        <p:spPr/>
        <p:txBody>
          <a:bodyPr/>
          <a:lstStyle/>
          <a:p>
            <a:r>
              <a:rPr lang="en-US" dirty="0"/>
              <a:t>Appendix 11: Parameter Tuning (Definition)</a:t>
            </a:r>
          </a:p>
        </p:txBody>
      </p:sp>
      <p:sp>
        <p:nvSpPr>
          <p:cNvPr id="3" name="Content Placeholder 2">
            <a:extLst>
              <a:ext uri="{FF2B5EF4-FFF2-40B4-BE49-F238E27FC236}">
                <a16:creationId xmlns:a16="http://schemas.microsoft.com/office/drawing/2014/main" id="{BECE0E73-1564-5DA8-481D-D9EDF8AD2C34}"/>
              </a:ext>
            </a:extLst>
          </p:cNvPr>
          <p:cNvSpPr>
            <a:spLocks noGrp="1"/>
          </p:cNvSpPr>
          <p:nvPr>
            <p:ph idx="1"/>
          </p:nvPr>
        </p:nvSpPr>
        <p:spPr>
          <a:xfrm>
            <a:off x="415637" y="2004344"/>
            <a:ext cx="11862816" cy="5061473"/>
          </a:xfrm>
        </p:spPr>
        <p:txBody>
          <a:bodyPr>
            <a:normAutofit/>
          </a:bodyPr>
          <a:lstStyle/>
          <a:p>
            <a:pPr marL="0" indent="0">
              <a:buNone/>
            </a:pPr>
            <a:r>
              <a:rPr lang="en-US" sz="1200" b="1" dirty="0"/>
              <a:t>Gradient Boosting</a:t>
            </a:r>
          </a:p>
          <a:p>
            <a:r>
              <a:rPr lang="en-US" sz="1200" b="1" dirty="0" err="1"/>
              <a:t>n_estimators</a:t>
            </a:r>
            <a:r>
              <a:rPr lang="en-US" sz="1200" dirty="0"/>
              <a:t>: The number of boosting stages (trees). More trees can improve accuracy but increase training time.</a:t>
            </a:r>
          </a:p>
          <a:p>
            <a:r>
              <a:rPr lang="en-US" sz="1200" b="1" dirty="0" err="1"/>
              <a:t>learning_rate</a:t>
            </a:r>
            <a:r>
              <a:rPr lang="en-US" sz="1200" dirty="0"/>
              <a:t>: Controls how much each tree contributes to the final model. A lower value requires more trees to achieve good performance.</a:t>
            </a:r>
          </a:p>
          <a:p>
            <a:r>
              <a:rPr lang="en-US" sz="1200" b="1" dirty="0" err="1"/>
              <a:t>max_depth</a:t>
            </a:r>
            <a:r>
              <a:rPr lang="en-US" sz="1200" dirty="0"/>
              <a:t>: The maximum depth of each tree. Deeper trees capture more patterns but may lead to overfitting.</a:t>
            </a:r>
          </a:p>
          <a:p>
            <a:pPr marL="0" indent="0">
              <a:buNone/>
            </a:pPr>
            <a:r>
              <a:rPr lang="en-US" sz="1200" b="1" dirty="0"/>
              <a:t>Random Forest</a:t>
            </a:r>
          </a:p>
          <a:p>
            <a:r>
              <a:rPr lang="en-US" sz="1200" b="1" dirty="0" err="1"/>
              <a:t>n_estimators</a:t>
            </a:r>
            <a:r>
              <a:rPr lang="en-US" sz="1200" dirty="0"/>
              <a:t>: The number of trees in the forest. More trees improve stability but increase computation time.</a:t>
            </a:r>
          </a:p>
          <a:p>
            <a:r>
              <a:rPr lang="en-US" sz="1200" b="1" dirty="0" err="1"/>
              <a:t>max_depth</a:t>
            </a:r>
            <a:r>
              <a:rPr lang="en-US" sz="1200" dirty="0"/>
              <a:t>: The maximum depth of the trees. If None, nodes expand until all leaves are pure or contain fewer than </a:t>
            </a:r>
            <a:r>
              <a:rPr lang="en-US" sz="1200" dirty="0" err="1"/>
              <a:t>min_samples_split</a:t>
            </a:r>
            <a:r>
              <a:rPr lang="en-US" sz="1200" dirty="0"/>
              <a:t> samples.</a:t>
            </a:r>
          </a:p>
          <a:p>
            <a:r>
              <a:rPr lang="en-US" sz="1200" b="1" dirty="0" err="1"/>
              <a:t>min_samples_split</a:t>
            </a:r>
            <a:r>
              <a:rPr lang="en-US" sz="1200" dirty="0"/>
              <a:t>: The minimum number of samples required to split an internal node. Higher values prevent overfitting.</a:t>
            </a:r>
          </a:p>
          <a:p>
            <a:pPr marL="0" indent="0">
              <a:buNone/>
            </a:pPr>
            <a:r>
              <a:rPr lang="en-US" sz="1200" b="1" dirty="0"/>
              <a:t>Linear Discriminant Analysis (LDA)</a:t>
            </a:r>
          </a:p>
          <a:p>
            <a:r>
              <a:rPr lang="en-US" sz="1200" b="1" dirty="0"/>
              <a:t>solver</a:t>
            </a:r>
            <a:r>
              <a:rPr lang="en-US" sz="1200" dirty="0"/>
              <a:t>: The algorithm used to compute the LDA transformation.</a:t>
            </a:r>
          </a:p>
          <a:p>
            <a:pPr marL="800100" lvl="1" indent="-342900"/>
            <a:r>
              <a:rPr lang="en-US" sz="1200" dirty="0"/>
              <a:t>"</a:t>
            </a:r>
            <a:r>
              <a:rPr lang="en-US" sz="1200" dirty="0" err="1"/>
              <a:t>svd</a:t>
            </a:r>
            <a:r>
              <a:rPr lang="en-US" sz="1200" dirty="0"/>
              <a:t>": Does not compute the covariance matrix (useful for large datasets).</a:t>
            </a:r>
          </a:p>
          <a:p>
            <a:pPr marL="800100" lvl="1" indent="-342900"/>
            <a:r>
              <a:rPr lang="en-US" sz="1200" dirty="0"/>
              <a:t>"</a:t>
            </a:r>
            <a:r>
              <a:rPr lang="en-US" sz="1200" dirty="0" err="1"/>
              <a:t>lsqr</a:t>
            </a:r>
            <a:r>
              <a:rPr lang="en-US" sz="1200" dirty="0"/>
              <a:t>": Uses least squares estimation, suitable for well-conditioned problems.</a:t>
            </a:r>
          </a:p>
          <a:p>
            <a:pPr marL="0" indent="0">
              <a:buNone/>
            </a:pPr>
            <a:r>
              <a:rPr lang="en-US" sz="1200" b="1" dirty="0"/>
              <a:t>Logistic Regression</a:t>
            </a:r>
          </a:p>
          <a:p>
            <a:r>
              <a:rPr lang="en-US" sz="1200" b="1" dirty="0"/>
              <a:t>C</a:t>
            </a:r>
            <a:r>
              <a:rPr lang="en-US" sz="1200" dirty="0"/>
              <a:t>: Inverse of regularization strength. Smaller values add stronger regularization (preventing overfitting), while larger values allow more flexibility.</a:t>
            </a:r>
          </a:p>
          <a:p>
            <a:pPr marL="0" indent="0">
              <a:buNone/>
            </a:pPr>
            <a:r>
              <a:rPr lang="en-US" sz="1200" b="1" dirty="0"/>
              <a:t>K-Nearest Neighbors (KNN)</a:t>
            </a:r>
          </a:p>
          <a:p>
            <a:r>
              <a:rPr lang="en-US" sz="1200" b="1" dirty="0" err="1"/>
              <a:t>n_neighbors</a:t>
            </a:r>
            <a:r>
              <a:rPr lang="en-US" sz="1200" dirty="0"/>
              <a:t>: The number of nearest neighbors used for classification. Smaller values increase sensitivity to local variations, while larger values provide smoother decision boundaries.</a:t>
            </a:r>
          </a:p>
          <a:p>
            <a:endParaRPr lang="en-US" sz="1200" dirty="0"/>
          </a:p>
        </p:txBody>
      </p:sp>
    </p:spTree>
    <p:extLst>
      <p:ext uri="{BB962C8B-B14F-4D97-AF65-F5344CB8AC3E}">
        <p14:creationId xmlns:p14="http://schemas.microsoft.com/office/powerpoint/2010/main" val="14488836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DD0B0-9EE3-5481-C64C-D42CC9DEA1C8}"/>
              </a:ext>
            </a:extLst>
          </p:cNvPr>
          <p:cNvSpPr>
            <a:spLocks noGrp="1"/>
          </p:cNvSpPr>
          <p:nvPr>
            <p:ph type="title"/>
          </p:nvPr>
        </p:nvSpPr>
        <p:spPr/>
        <p:txBody>
          <a:bodyPr/>
          <a:lstStyle/>
          <a:p>
            <a:r>
              <a:rPr lang="en-US" dirty="0"/>
              <a:t>Appendix 12: Parameter Tuning (Best Parameters)</a:t>
            </a:r>
          </a:p>
        </p:txBody>
      </p:sp>
      <p:graphicFrame>
        <p:nvGraphicFramePr>
          <p:cNvPr id="4" name="Content Placeholder 3">
            <a:extLst>
              <a:ext uri="{FF2B5EF4-FFF2-40B4-BE49-F238E27FC236}">
                <a16:creationId xmlns:a16="http://schemas.microsoft.com/office/drawing/2014/main" id="{274921F4-CE37-F883-7EE9-50B0E19D7317}"/>
              </a:ext>
            </a:extLst>
          </p:cNvPr>
          <p:cNvGraphicFramePr>
            <a:graphicFrameLocks noGrp="1"/>
          </p:cNvGraphicFramePr>
          <p:nvPr>
            <p:ph idx="1"/>
            <p:extLst>
              <p:ext uri="{D42A27DB-BD31-4B8C-83A1-F6EECF244321}">
                <p14:modId xmlns:p14="http://schemas.microsoft.com/office/powerpoint/2010/main" val="1275728357"/>
              </p:ext>
            </p:extLst>
          </p:nvPr>
        </p:nvGraphicFramePr>
        <p:xfrm>
          <a:off x="581192" y="2452039"/>
          <a:ext cx="4938409" cy="2892132"/>
        </p:xfrm>
        <a:graphic>
          <a:graphicData uri="http://schemas.openxmlformats.org/drawingml/2006/table">
            <a:tbl>
              <a:tblPr firstRow="1" firstCol="1" bandRow="1">
                <a:tableStyleId>{5C22544A-7EE6-4342-B048-85BDC9FD1C3A}</a:tableStyleId>
              </a:tblPr>
              <a:tblGrid>
                <a:gridCol w="2190988">
                  <a:extLst>
                    <a:ext uri="{9D8B030D-6E8A-4147-A177-3AD203B41FA5}">
                      <a16:colId xmlns:a16="http://schemas.microsoft.com/office/drawing/2014/main" val="3341587841"/>
                    </a:ext>
                  </a:extLst>
                </a:gridCol>
                <a:gridCol w="2747421">
                  <a:extLst>
                    <a:ext uri="{9D8B030D-6E8A-4147-A177-3AD203B41FA5}">
                      <a16:colId xmlns:a16="http://schemas.microsoft.com/office/drawing/2014/main" val="1251572250"/>
                    </a:ext>
                  </a:extLst>
                </a:gridCol>
              </a:tblGrid>
              <a:tr h="321348">
                <a:tc>
                  <a:txBody>
                    <a:bodyPr/>
                    <a:lstStyle/>
                    <a:p>
                      <a:pPr marL="0" marR="0" algn="ctr">
                        <a:spcBef>
                          <a:spcPts val="0"/>
                        </a:spcBef>
                        <a:spcAft>
                          <a:spcPts val="0"/>
                        </a:spcAft>
                        <a:tabLst>
                          <a:tab pos="1205230" algn="l"/>
                        </a:tabLst>
                      </a:pPr>
                      <a:r>
                        <a:rPr lang="en-US" sz="1200" kern="100">
                          <a:effectLst/>
                        </a:rPr>
                        <a:t>Model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dirty="0">
                          <a:effectLst/>
                        </a:rPr>
                        <a:t>Best Hyperparameters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5671589"/>
                  </a:ext>
                </a:extLst>
              </a:tr>
              <a:tr h="642696">
                <a:tc>
                  <a:txBody>
                    <a:bodyPr/>
                    <a:lstStyle/>
                    <a:p>
                      <a:pPr marL="0" marR="0" algn="ctr">
                        <a:spcBef>
                          <a:spcPts val="0"/>
                        </a:spcBef>
                        <a:spcAft>
                          <a:spcPts val="0"/>
                        </a:spcAft>
                        <a:tabLst>
                          <a:tab pos="1205230" algn="l"/>
                        </a:tabLst>
                      </a:pPr>
                      <a:r>
                        <a:rPr lang="en-US" sz="1200" kern="100">
                          <a:effectLst/>
                        </a:rPr>
                        <a:t>Gradient Boosting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a:effectLst/>
                        </a:rPr>
                        <a:t>"n_estimators": 300, 'learning_rate': 0.1, "max_depth": 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829953"/>
                  </a:ext>
                </a:extLst>
              </a:tr>
              <a:tr h="642696">
                <a:tc>
                  <a:txBody>
                    <a:bodyPr/>
                    <a:lstStyle/>
                    <a:p>
                      <a:pPr marL="0" marR="0" algn="ctr">
                        <a:spcBef>
                          <a:spcPts val="0"/>
                        </a:spcBef>
                        <a:spcAft>
                          <a:spcPts val="0"/>
                        </a:spcAft>
                        <a:tabLst>
                          <a:tab pos="1205230" algn="l"/>
                        </a:tabLst>
                      </a:pPr>
                      <a:r>
                        <a:rPr lang="en-US" sz="1200" kern="100" dirty="0">
                          <a:effectLst/>
                        </a:rPr>
                        <a:t>Random Forest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dirty="0" err="1">
                          <a:effectLst/>
                        </a:rPr>
                        <a:t>n_estimators</a:t>
                      </a:r>
                      <a:r>
                        <a:rPr lang="en-US" sz="1200" kern="100" dirty="0">
                          <a:effectLst/>
                        </a:rPr>
                        <a:t>": 100,  "</a:t>
                      </a:r>
                      <a:r>
                        <a:rPr lang="en-US" sz="1200" kern="100" dirty="0" err="1">
                          <a:effectLst/>
                        </a:rPr>
                        <a:t>max_depth</a:t>
                      </a:r>
                      <a:r>
                        <a:rPr lang="en-US" sz="1200" kern="100" dirty="0">
                          <a:effectLst/>
                        </a:rPr>
                        <a:t>": 20, '</a:t>
                      </a:r>
                      <a:r>
                        <a:rPr lang="en-US" sz="1200" kern="100" dirty="0" err="1">
                          <a:effectLst/>
                        </a:rPr>
                        <a:t>min_samples_split</a:t>
                      </a:r>
                      <a:r>
                        <a:rPr lang="en-US" sz="1200" kern="100" dirty="0">
                          <a:effectLst/>
                        </a:rPr>
                        <a:t>': 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4719001"/>
                  </a:ext>
                </a:extLst>
              </a:tr>
              <a:tr h="642696">
                <a:tc>
                  <a:txBody>
                    <a:bodyPr/>
                    <a:lstStyle/>
                    <a:p>
                      <a:pPr marL="0" marR="0" algn="ctr">
                        <a:spcBef>
                          <a:spcPts val="0"/>
                        </a:spcBef>
                        <a:spcAft>
                          <a:spcPts val="0"/>
                        </a:spcAft>
                        <a:tabLst>
                          <a:tab pos="1205230" algn="l"/>
                        </a:tabLst>
                      </a:pPr>
                      <a:r>
                        <a:rPr lang="en-US" sz="1200" kern="100">
                          <a:effectLst/>
                        </a:rPr>
                        <a:t>Linear Discriminant Analysis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a:effectLst/>
                        </a:rPr>
                        <a:t>"solver": "svd"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4208959"/>
                  </a:ext>
                </a:extLst>
              </a:tr>
              <a:tr h="321348">
                <a:tc>
                  <a:txBody>
                    <a:bodyPr/>
                    <a:lstStyle/>
                    <a:p>
                      <a:pPr marL="0" marR="0" algn="ctr">
                        <a:spcBef>
                          <a:spcPts val="0"/>
                        </a:spcBef>
                        <a:spcAft>
                          <a:spcPts val="0"/>
                        </a:spcAft>
                        <a:tabLst>
                          <a:tab pos="1205230" algn="l"/>
                        </a:tabLst>
                      </a:pPr>
                      <a:r>
                        <a:rPr lang="en-US" sz="1200" kern="100">
                          <a:effectLst/>
                        </a:rPr>
                        <a:t>Logistic Regression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a:effectLst/>
                        </a:rPr>
                        <a:t>'C': 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2342274"/>
                  </a:ext>
                </a:extLst>
              </a:tr>
              <a:tr h="321348">
                <a:tc>
                  <a:txBody>
                    <a:bodyPr/>
                    <a:lstStyle/>
                    <a:p>
                      <a:pPr marL="0" marR="0" algn="ctr">
                        <a:spcBef>
                          <a:spcPts val="0"/>
                        </a:spcBef>
                        <a:spcAft>
                          <a:spcPts val="0"/>
                        </a:spcAft>
                        <a:tabLst>
                          <a:tab pos="1205230" algn="l"/>
                        </a:tabLst>
                      </a:pPr>
                      <a:r>
                        <a:rPr lang="en-US" sz="1200" kern="100">
                          <a:effectLst/>
                        </a:rPr>
                        <a:t>K-Nearest Neighbors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dirty="0">
                          <a:effectLst/>
                        </a:rPr>
                        <a:t>"</a:t>
                      </a:r>
                      <a:r>
                        <a:rPr lang="en-US" sz="1200" kern="100" dirty="0" err="1">
                          <a:effectLst/>
                        </a:rPr>
                        <a:t>n_neighbors</a:t>
                      </a:r>
                      <a:r>
                        <a:rPr lang="en-US" sz="1200" kern="100" dirty="0">
                          <a:effectLst/>
                        </a:rPr>
                        <a:t>": 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1664991"/>
                  </a:ext>
                </a:extLst>
              </a:tr>
            </a:tbl>
          </a:graphicData>
        </a:graphic>
      </p:graphicFrame>
      <p:sp>
        <p:nvSpPr>
          <p:cNvPr id="5" name="Rectangle 1">
            <a:extLst>
              <a:ext uri="{FF2B5EF4-FFF2-40B4-BE49-F238E27FC236}">
                <a16:creationId xmlns:a16="http://schemas.microsoft.com/office/drawing/2014/main" id="{ED68EF2A-D620-F946-A73E-044114454080}"/>
              </a:ext>
            </a:extLst>
          </p:cNvPr>
          <p:cNvSpPr>
            <a:spLocks noChangeArrowheads="1"/>
          </p:cNvSpPr>
          <p:nvPr/>
        </p:nvSpPr>
        <p:spPr bwMode="auto">
          <a:xfrm>
            <a:off x="-2908571" y="-398834"/>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1" u="none" strike="noStrike" cap="none" normalizeH="0" baseline="0">
                <a:ln>
                  <a:noFill/>
                </a:ln>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Table 1: Best hyperparameters for risk level ML models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9270753-0764-9E96-3015-C795F9DFA90E}"/>
              </a:ext>
            </a:extLst>
          </p:cNvPr>
          <p:cNvSpPr txBox="1"/>
          <p:nvPr/>
        </p:nvSpPr>
        <p:spPr>
          <a:xfrm>
            <a:off x="6619611" y="5477246"/>
            <a:ext cx="4606688" cy="307777"/>
          </a:xfrm>
          <a:prstGeom prst="rect">
            <a:avLst/>
          </a:prstGeom>
          <a:noFill/>
        </p:spPr>
        <p:txBody>
          <a:bodyPr wrap="square" rtlCol="0">
            <a:spAutoFit/>
          </a:bodyPr>
          <a:lstStyle/>
          <a:p>
            <a:r>
              <a:rPr lang="en-US" sz="1400" dirty="0">
                <a:effectLst/>
                <a:latin typeface="Calibri" panose="020F0502020204030204" pitchFamily="34" charset="0"/>
                <a:ea typeface="Calibri" panose="020F0502020204030204" pitchFamily="34" charset="0"/>
                <a:cs typeface="Times New Roman" panose="02020603050405020304" pitchFamily="18" charset="0"/>
              </a:rPr>
              <a:t>Table 2: Best hyperparameters for rating ML models</a:t>
            </a:r>
            <a:r>
              <a:rPr lang="en-US" sz="1400" dirty="0">
                <a:effectLst/>
              </a:rPr>
              <a:t> </a:t>
            </a:r>
            <a:endParaRPr lang="en-US" sz="1400" dirty="0"/>
          </a:p>
        </p:txBody>
      </p:sp>
      <p:graphicFrame>
        <p:nvGraphicFramePr>
          <p:cNvPr id="7" name="Table 6">
            <a:extLst>
              <a:ext uri="{FF2B5EF4-FFF2-40B4-BE49-F238E27FC236}">
                <a16:creationId xmlns:a16="http://schemas.microsoft.com/office/drawing/2014/main" id="{7B5BAB83-93FC-3738-ACA2-AB0E3C74D811}"/>
              </a:ext>
            </a:extLst>
          </p:cNvPr>
          <p:cNvGraphicFramePr>
            <a:graphicFrameLocks noGrp="1"/>
          </p:cNvGraphicFramePr>
          <p:nvPr>
            <p:extLst>
              <p:ext uri="{D42A27DB-BD31-4B8C-83A1-F6EECF244321}">
                <p14:modId xmlns:p14="http://schemas.microsoft.com/office/powerpoint/2010/main" val="3274075829"/>
              </p:ext>
            </p:extLst>
          </p:nvPr>
        </p:nvGraphicFramePr>
        <p:xfrm>
          <a:off x="6167223" y="2452039"/>
          <a:ext cx="5241454" cy="2892132"/>
        </p:xfrm>
        <a:graphic>
          <a:graphicData uri="http://schemas.openxmlformats.org/drawingml/2006/table">
            <a:tbl>
              <a:tblPr firstRow="1" firstCol="1" bandRow="1">
                <a:tableStyleId>{5C22544A-7EE6-4342-B048-85BDC9FD1C3A}</a:tableStyleId>
              </a:tblPr>
              <a:tblGrid>
                <a:gridCol w="2511072">
                  <a:extLst>
                    <a:ext uri="{9D8B030D-6E8A-4147-A177-3AD203B41FA5}">
                      <a16:colId xmlns:a16="http://schemas.microsoft.com/office/drawing/2014/main" val="3777119489"/>
                    </a:ext>
                  </a:extLst>
                </a:gridCol>
                <a:gridCol w="2730382">
                  <a:extLst>
                    <a:ext uri="{9D8B030D-6E8A-4147-A177-3AD203B41FA5}">
                      <a16:colId xmlns:a16="http://schemas.microsoft.com/office/drawing/2014/main" val="3577176188"/>
                    </a:ext>
                  </a:extLst>
                </a:gridCol>
              </a:tblGrid>
              <a:tr h="321347">
                <a:tc>
                  <a:txBody>
                    <a:bodyPr/>
                    <a:lstStyle/>
                    <a:p>
                      <a:pPr marL="0" marR="0" algn="ctr">
                        <a:spcBef>
                          <a:spcPts val="0"/>
                        </a:spcBef>
                        <a:spcAft>
                          <a:spcPts val="0"/>
                        </a:spcAft>
                        <a:tabLst>
                          <a:tab pos="1205230" algn="l"/>
                        </a:tabLst>
                      </a:pPr>
                      <a:r>
                        <a:rPr lang="en-US" sz="1200" kern="100">
                          <a:effectLst/>
                        </a:rPr>
                        <a:t>Model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dirty="0">
                          <a:effectLst/>
                        </a:rPr>
                        <a:t>Best Hyperparameters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045164"/>
                  </a:ext>
                </a:extLst>
              </a:tr>
              <a:tr h="642697">
                <a:tc>
                  <a:txBody>
                    <a:bodyPr/>
                    <a:lstStyle/>
                    <a:p>
                      <a:pPr marL="0" marR="0" algn="ctr">
                        <a:spcBef>
                          <a:spcPts val="0"/>
                        </a:spcBef>
                        <a:spcAft>
                          <a:spcPts val="0"/>
                        </a:spcAft>
                        <a:tabLst>
                          <a:tab pos="1205230" algn="l"/>
                        </a:tabLst>
                      </a:pPr>
                      <a:r>
                        <a:rPr lang="en-US" sz="1200" kern="100" dirty="0">
                          <a:effectLst/>
                        </a:rPr>
                        <a:t>Gradient Boosting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a:effectLst/>
                        </a:rPr>
                        <a:t>"n_estimators": 100, 'learning_rate': 0.1, "max_depth": 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044383"/>
                  </a:ext>
                </a:extLst>
              </a:tr>
              <a:tr h="642697">
                <a:tc>
                  <a:txBody>
                    <a:bodyPr/>
                    <a:lstStyle/>
                    <a:p>
                      <a:pPr marL="0" marR="0" algn="ctr">
                        <a:spcBef>
                          <a:spcPts val="0"/>
                        </a:spcBef>
                        <a:spcAft>
                          <a:spcPts val="0"/>
                        </a:spcAft>
                        <a:tabLst>
                          <a:tab pos="1205230" algn="l"/>
                        </a:tabLst>
                      </a:pPr>
                      <a:r>
                        <a:rPr lang="en-US" sz="1200" kern="100">
                          <a:effectLst/>
                        </a:rPr>
                        <a:t>Random Forest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dirty="0" err="1">
                          <a:effectLst/>
                        </a:rPr>
                        <a:t>n_estimators</a:t>
                      </a:r>
                      <a:r>
                        <a:rPr lang="en-US" sz="1200" kern="100" dirty="0">
                          <a:effectLst/>
                        </a:rPr>
                        <a:t>": 200,  "</a:t>
                      </a:r>
                      <a:r>
                        <a:rPr lang="en-US" sz="1200" kern="100" dirty="0" err="1">
                          <a:effectLst/>
                        </a:rPr>
                        <a:t>max_depth</a:t>
                      </a:r>
                      <a:r>
                        <a:rPr lang="en-US" sz="1200" kern="100" dirty="0">
                          <a:effectLst/>
                        </a:rPr>
                        <a:t>": None, '</a:t>
                      </a:r>
                      <a:r>
                        <a:rPr lang="en-US" sz="1200" kern="100" dirty="0" err="1">
                          <a:effectLst/>
                        </a:rPr>
                        <a:t>min_samples_split</a:t>
                      </a:r>
                      <a:r>
                        <a:rPr lang="en-US" sz="1200" kern="100" dirty="0">
                          <a:effectLst/>
                        </a:rPr>
                        <a:t>': 2</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3220054"/>
                  </a:ext>
                </a:extLst>
              </a:tr>
              <a:tr h="642697">
                <a:tc>
                  <a:txBody>
                    <a:bodyPr/>
                    <a:lstStyle/>
                    <a:p>
                      <a:pPr marL="0" marR="0" algn="ctr">
                        <a:spcBef>
                          <a:spcPts val="0"/>
                        </a:spcBef>
                        <a:spcAft>
                          <a:spcPts val="0"/>
                        </a:spcAft>
                        <a:tabLst>
                          <a:tab pos="1205230" algn="l"/>
                        </a:tabLst>
                      </a:pPr>
                      <a:r>
                        <a:rPr lang="en-US" sz="1200" kern="100">
                          <a:effectLst/>
                        </a:rPr>
                        <a:t>Linear Discriminant Analysis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a:effectLst/>
                        </a:rPr>
                        <a:t>"solver": "lsqr"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5920744"/>
                  </a:ext>
                </a:extLst>
              </a:tr>
              <a:tr h="321347">
                <a:tc>
                  <a:txBody>
                    <a:bodyPr/>
                    <a:lstStyle/>
                    <a:p>
                      <a:pPr marL="0" marR="0" algn="ctr">
                        <a:spcBef>
                          <a:spcPts val="0"/>
                        </a:spcBef>
                        <a:spcAft>
                          <a:spcPts val="0"/>
                        </a:spcAft>
                        <a:tabLst>
                          <a:tab pos="1205230" algn="l"/>
                        </a:tabLst>
                      </a:pPr>
                      <a:r>
                        <a:rPr lang="en-US" sz="1200" kern="100">
                          <a:effectLst/>
                        </a:rPr>
                        <a:t>Logistic Regression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a:effectLst/>
                        </a:rPr>
                        <a:t>'C': 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7517275"/>
                  </a:ext>
                </a:extLst>
              </a:tr>
              <a:tr h="321347">
                <a:tc>
                  <a:txBody>
                    <a:bodyPr/>
                    <a:lstStyle/>
                    <a:p>
                      <a:pPr marL="0" marR="0" algn="ctr">
                        <a:spcBef>
                          <a:spcPts val="0"/>
                        </a:spcBef>
                        <a:spcAft>
                          <a:spcPts val="0"/>
                        </a:spcAft>
                        <a:tabLst>
                          <a:tab pos="1205230" algn="l"/>
                        </a:tabLst>
                      </a:pPr>
                      <a:r>
                        <a:rPr lang="en-US" sz="1200" kern="100">
                          <a:effectLst/>
                        </a:rPr>
                        <a:t>K-Nearest Neighbors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tabLst>
                          <a:tab pos="1205230" algn="l"/>
                        </a:tabLst>
                      </a:pPr>
                      <a:r>
                        <a:rPr lang="en-US" sz="1200" kern="100" dirty="0">
                          <a:effectLst/>
                        </a:rPr>
                        <a:t>"</a:t>
                      </a:r>
                      <a:r>
                        <a:rPr lang="en-US" sz="1200" kern="100" dirty="0" err="1">
                          <a:effectLst/>
                        </a:rPr>
                        <a:t>n_neighbors</a:t>
                      </a:r>
                      <a:r>
                        <a:rPr lang="en-US" sz="1200" kern="100" dirty="0">
                          <a:effectLst/>
                        </a:rPr>
                        <a:t>": 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18296585"/>
                  </a:ext>
                </a:extLst>
              </a:tr>
            </a:tbl>
          </a:graphicData>
        </a:graphic>
      </p:graphicFrame>
      <p:sp>
        <p:nvSpPr>
          <p:cNvPr id="8" name="TextBox 7">
            <a:extLst>
              <a:ext uri="{FF2B5EF4-FFF2-40B4-BE49-F238E27FC236}">
                <a16:creationId xmlns:a16="http://schemas.microsoft.com/office/drawing/2014/main" id="{83EC8407-DEC2-0563-8438-6BFBEE7FBA99}"/>
              </a:ext>
            </a:extLst>
          </p:cNvPr>
          <p:cNvSpPr txBox="1"/>
          <p:nvPr/>
        </p:nvSpPr>
        <p:spPr>
          <a:xfrm>
            <a:off x="884085" y="5477246"/>
            <a:ext cx="4606688" cy="307777"/>
          </a:xfrm>
          <a:prstGeom prst="rect">
            <a:avLst/>
          </a:prstGeom>
          <a:noFill/>
        </p:spPr>
        <p:txBody>
          <a:bodyPr wrap="square" rtlCol="0">
            <a:spAutoFit/>
          </a:bodyPr>
          <a:lstStyle/>
          <a:p>
            <a:r>
              <a:rPr lang="en-US" sz="1400" dirty="0">
                <a:effectLst/>
                <a:latin typeface="Calibri" panose="020F0502020204030204" pitchFamily="34" charset="0"/>
                <a:ea typeface="Calibri" panose="020F0502020204030204" pitchFamily="34" charset="0"/>
                <a:cs typeface="Times New Roman" panose="02020603050405020304" pitchFamily="18" charset="0"/>
              </a:rPr>
              <a:t>Table 1: Best hyperparameters for risk level ML models</a:t>
            </a:r>
            <a:r>
              <a:rPr lang="en-US" sz="1400" dirty="0">
                <a:effectLst/>
              </a:rPr>
              <a:t> </a:t>
            </a:r>
            <a:endParaRPr lang="en-US" sz="1400" dirty="0"/>
          </a:p>
        </p:txBody>
      </p:sp>
    </p:spTree>
    <p:extLst>
      <p:ext uri="{BB962C8B-B14F-4D97-AF65-F5344CB8AC3E}">
        <p14:creationId xmlns:p14="http://schemas.microsoft.com/office/powerpoint/2010/main" val="13562113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9C1A0-1BDA-9E3B-3992-4F824EBE329D}"/>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2ECE639E-9E57-7F98-B368-6C951329A180}"/>
              </a:ext>
            </a:extLst>
          </p:cNvPr>
          <p:cNvSpPr>
            <a:spLocks noGrp="1"/>
          </p:cNvSpPr>
          <p:nvPr>
            <p:ph idx="1"/>
          </p:nvPr>
        </p:nvSpPr>
        <p:spPr>
          <a:xfrm>
            <a:off x="472025" y="2201278"/>
            <a:ext cx="11903548" cy="3678303"/>
          </a:xfrm>
        </p:spPr>
        <p:txBody>
          <a:bodyPr/>
          <a:lstStyle/>
          <a:p>
            <a:r>
              <a:rPr lang="en-US" dirty="0"/>
              <a:t>1. </a:t>
            </a:r>
            <a:r>
              <a:rPr lang="en-US" sz="1800" b="0" i="1" dirty="0">
                <a:solidFill>
                  <a:srgbClr val="3C4043"/>
                </a:solidFill>
                <a:effectLst/>
                <a:latin typeface="inherit"/>
                <a:hlinkClick r:id="rId2"/>
              </a:rPr>
              <a:t>https://www.kaggle.com/datasets/agewerc/corporate-credit-rating/data</a:t>
            </a:r>
            <a:endParaRPr lang="en-US" sz="1800" b="0" i="1" dirty="0">
              <a:solidFill>
                <a:srgbClr val="3C4043"/>
              </a:solidFill>
              <a:effectLst/>
              <a:latin typeface="inherit"/>
            </a:endParaRPr>
          </a:p>
          <a:p>
            <a:r>
              <a:rPr lang="en-US" i="1" dirty="0">
                <a:solidFill>
                  <a:srgbClr val="3C4043"/>
                </a:solidFill>
                <a:latin typeface="inherit"/>
              </a:rPr>
              <a:t>2. </a:t>
            </a:r>
            <a:r>
              <a:rPr lang="en-US" i="1" dirty="0">
                <a:solidFill>
                  <a:srgbClr val="3C4043"/>
                </a:solidFill>
                <a:latin typeface="inherit"/>
                <a:hlinkClick r:id="rId3"/>
              </a:rPr>
              <a:t>https://www.investopedia.com/terms/c/creditrating.asp</a:t>
            </a:r>
            <a:endParaRPr lang="en-US" i="1" dirty="0">
              <a:solidFill>
                <a:srgbClr val="3C4043"/>
              </a:solidFill>
              <a:latin typeface="inherit"/>
            </a:endParaRPr>
          </a:p>
          <a:p>
            <a:r>
              <a:rPr lang="en-US" i="1" dirty="0">
                <a:solidFill>
                  <a:srgbClr val="3C4043"/>
                </a:solidFill>
                <a:latin typeface="inherit"/>
              </a:rPr>
              <a:t>3. </a:t>
            </a:r>
            <a:r>
              <a:rPr lang="en-US" i="1" dirty="0">
                <a:solidFill>
                  <a:srgbClr val="3C4043"/>
                </a:solidFill>
                <a:latin typeface="inherit"/>
                <a:hlinkClick r:id="rId4"/>
              </a:rPr>
              <a:t>https://www.investopedia.com/terms/c/corporate-credit-rating.asp</a:t>
            </a:r>
            <a:endParaRPr lang="en-US" i="1" dirty="0">
              <a:solidFill>
                <a:srgbClr val="3C4043"/>
              </a:solidFill>
              <a:latin typeface="inherit"/>
            </a:endParaRPr>
          </a:p>
          <a:p>
            <a:r>
              <a:rPr lang="en-US" i="1" dirty="0">
                <a:solidFill>
                  <a:srgbClr val="3C4043"/>
                </a:solidFill>
                <a:latin typeface="inherit"/>
              </a:rPr>
              <a:t>4</a:t>
            </a:r>
            <a:r>
              <a:rPr lang="en-US" dirty="0"/>
              <a:t>. </a:t>
            </a:r>
            <a:r>
              <a:rPr lang="en-US" dirty="0">
                <a:hlinkClick r:id="rId5"/>
              </a:rPr>
              <a:t>https://www.investopedia.com/ask/answers/102814/how-long-are-credit-ratings-valid.asp</a:t>
            </a:r>
            <a:endParaRPr lang="en-US" dirty="0"/>
          </a:p>
          <a:p>
            <a:r>
              <a:rPr lang="en-US" dirty="0"/>
              <a:t>5. </a:t>
            </a:r>
            <a:r>
              <a:rPr lang="en-US" dirty="0">
                <a:hlinkClick r:id="rId6"/>
              </a:rPr>
              <a:t>https://www.researchgate.net/publication/331386740_Credit_Rating_Forecasting_Using_Machine_Learning_Techniques</a:t>
            </a:r>
            <a:endParaRPr lang="en-US" dirty="0"/>
          </a:p>
          <a:p>
            <a:endParaRPr lang="en-US" dirty="0"/>
          </a:p>
          <a:p>
            <a:endParaRPr lang="en-US" dirty="0"/>
          </a:p>
        </p:txBody>
      </p:sp>
    </p:spTree>
    <p:extLst>
      <p:ext uri="{BB962C8B-B14F-4D97-AF65-F5344CB8AC3E}">
        <p14:creationId xmlns:p14="http://schemas.microsoft.com/office/powerpoint/2010/main" val="379730034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{D0EA2907-9796-AE4F-801B-E4800573E65B}tf10001123</Template>
  <TotalTime>5109</TotalTime>
  <Words>4313</Words>
  <Application>Microsoft Macintosh PowerPoint</Application>
  <PresentationFormat>Widescreen</PresentationFormat>
  <Paragraphs>750</Paragraphs>
  <Slides>58</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Arial</vt:lpstr>
      <vt:lpstr>Calibri</vt:lpstr>
      <vt:lpstr>Cambria Math</vt:lpstr>
      <vt:lpstr>Gill Sans MT</vt:lpstr>
      <vt:lpstr>Gill Sant </vt:lpstr>
      <vt:lpstr>inherit</vt:lpstr>
      <vt:lpstr>Inter</vt:lpstr>
      <vt:lpstr>Wingdings</vt:lpstr>
      <vt:lpstr>Wingdings 2</vt:lpstr>
      <vt:lpstr>zeitung</vt:lpstr>
      <vt:lpstr>Dividend</vt:lpstr>
      <vt:lpstr>Predicting Corporate Credit Rating</vt:lpstr>
      <vt:lpstr>Agenda</vt:lpstr>
      <vt:lpstr>Executive Summary</vt:lpstr>
      <vt:lpstr>Dataset </vt:lpstr>
      <vt:lpstr>MODEL DEVELOPMENT PROCESS</vt:lpstr>
      <vt:lpstr>Exploratory DATA Analysis (Sector,  Agency name AND  Company name)</vt:lpstr>
      <vt:lpstr>Exploratory DATA Analysis (Rating)</vt:lpstr>
      <vt:lpstr>Exploratory DATA Analysis (date)</vt:lpstr>
      <vt:lpstr>Exploratory DATA Analysis (time dependency)</vt:lpstr>
      <vt:lpstr>Exploratory DATA Analysis (time dependency)</vt:lpstr>
      <vt:lpstr>Exploratory DATA Analysis (Encoding)</vt:lpstr>
      <vt:lpstr>Exploratory DATA Analysis (Conclusion)</vt:lpstr>
      <vt:lpstr>Distribution of 25 financial indicators and outlier analysis</vt:lpstr>
      <vt:lpstr>Distribution of 25 financial indicators and outlier analysis</vt:lpstr>
      <vt:lpstr>Distribution of 25 financial indicators and outlier analysis</vt:lpstr>
      <vt:lpstr>Distribution of 25 financial indicators and outlier analysis</vt:lpstr>
      <vt:lpstr>Distribution of 25 financial indicators and outlier analysis</vt:lpstr>
      <vt:lpstr>Distribution of 25 financial indicators and outlier analysis</vt:lpstr>
      <vt:lpstr>Distribution of 25 financial indicators and outlier analysis</vt:lpstr>
      <vt:lpstr>Proper Metric and ML algorithms</vt:lpstr>
      <vt:lpstr>Proper Metric and ML algorithms Accuracy -&gt; Not relevant</vt:lpstr>
      <vt:lpstr>Proper Metric and ML algorithms Accuracy -&gt; not relevant</vt:lpstr>
      <vt:lpstr>Proper Metric and ML algorithms Macro F1 SCORE</vt:lpstr>
      <vt:lpstr>Proper Metric and ML algorithms Macro F1 SCORE</vt:lpstr>
      <vt:lpstr>Standardization of predictors</vt:lpstr>
      <vt:lpstr>Standardization of predictors</vt:lpstr>
      <vt:lpstr>Standardization of predictors</vt:lpstr>
      <vt:lpstr>Multicollinearity</vt:lpstr>
      <vt:lpstr>Multicollinearity</vt:lpstr>
      <vt:lpstr>Feature Selection (ANOVA F test)</vt:lpstr>
      <vt:lpstr>Feature Selection (ANOVA F test)</vt:lpstr>
      <vt:lpstr>Feature Selection (ANOVA F test)</vt:lpstr>
      <vt:lpstr>Feature Selection (ANOVA F TEST + multicollinearity)</vt:lpstr>
      <vt:lpstr>Feature Selection (ANOVA F TEST + multicollinearity)</vt:lpstr>
      <vt:lpstr>Feature Selection (Backward elimination)</vt:lpstr>
      <vt:lpstr>Feature Selection (Backward elimination)</vt:lpstr>
      <vt:lpstr>Feature Selection (Backward elimination)</vt:lpstr>
      <vt:lpstr>Parameter Tuning (performance of models)</vt:lpstr>
      <vt:lpstr>Oversampling </vt:lpstr>
      <vt:lpstr>Oversampling  (SMOTE) </vt:lpstr>
      <vt:lpstr>Oversampling  (SMOTE results) </vt:lpstr>
      <vt:lpstr>Oversampling  (ML evaluation) </vt:lpstr>
      <vt:lpstr>Conclusion</vt:lpstr>
      <vt:lpstr>Importance</vt:lpstr>
      <vt:lpstr>FUTURE ENHANCEMENTS</vt:lpstr>
      <vt:lpstr>Appendix 1: Machine Learning models (LR)</vt:lpstr>
      <vt:lpstr>Appendix 2: Machine Learning models (LDA)</vt:lpstr>
      <vt:lpstr>Appendix 3: Machine Learning models (KNN)</vt:lpstr>
      <vt:lpstr>Appendix 4: Machine Learning models (RF)</vt:lpstr>
      <vt:lpstr>Appendix 5: Machine Learning models (GB)</vt:lpstr>
      <vt:lpstr>Appendix 6: Feature Selection (ANOVA F TEST + multicollinearity)</vt:lpstr>
      <vt:lpstr>Appendix 7: Feature Selection (ANOVA F TEST + multicollinearity)</vt:lpstr>
      <vt:lpstr>Appendix 8: Multicollinearity (ANOVA F Test optimal subset)</vt:lpstr>
      <vt:lpstr>Appendix 9: Backward Elimination</vt:lpstr>
      <vt:lpstr>Appendix 10: Parameter Tuning</vt:lpstr>
      <vt:lpstr>Appendix 11: Parameter Tuning (Definition)</vt:lpstr>
      <vt:lpstr>Appendix 12: Parameter Tuning (Best Parameters)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Corporate Credit Rating</dc:title>
  <dc:creator>Microsoft Office User</dc:creator>
  <cp:lastModifiedBy>Microsoft Office User</cp:lastModifiedBy>
  <cp:revision>72</cp:revision>
  <dcterms:created xsi:type="dcterms:W3CDTF">2025-02-07T13:19:54Z</dcterms:created>
  <dcterms:modified xsi:type="dcterms:W3CDTF">2025-02-12T20:57:33Z</dcterms:modified>
</cp:coreProperties>
</file>